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86" r:id="rId26"/>
    <p:sldId id="281" r:id="rId27"/>
    <p:sldId id="282" r:id="rId28"/>
    <p:sldId id="283" r:id="rId29"/>
    <p:sldId id="287" r:id="rId30"/>
    <p:sldId id="288" r:id="rId31"/>
    <p:sldId id="289" r:id="rId32"/>
    <p:sldId id="290" r:id="rId33"/>
    <p:sldId id="291" r:id="rId34"/>
    <p:sldId id="292" r:id="rId35"/>
    <p:sldId id="293" r:id="rId36"/>
    <p:sldId id="294" r:id="rId37"/>
    <p:sldId id="295" r:id="rId38"/>
    <p:sldId id="296" r:id="rId39"/>
    <p:sldId id="297" r:id="rId40"/>
    <p:sldId id="284" r:id="rId41"/>
    <p:sldId id="285"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94660"/>
  </p:normalViewPr>
  <p:slideViewPr>
    <p:cSldViewPr snapToGrid="0">
      <p:cViewPr varScale="1">
        <p:scale>
          <a:sx n="83" d="100"/>
          <a:sy n="83" d="100"/>
        </p:scale>
        <p:origin x="40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323AE-4E1E-D74A-7536-C26C3C5EB2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BE42A0-00BF-E697-584E-28EC073992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B0A91A8-9FA8-F83E-6FD0-13D1455D7F8D}"/>
              </a:ext>
            </a:extLst>
          </p:cNvPr>
          <p:cNvSpPr>
            <a:spLocks noGrp="1"/>
          </p:cNvSpPr>
          <p:nvPr>
            <p:ph type="dt" sz="half" idx="10"/>
          </p:nvPr>
        </p:nvSpPr>
        <p:spPr/>
        <p:txBody>
          <a:bodyPr/>
          <a:lstStyle/>
          <a:p>
            <a:fld id="{22DF1865-A393-483A-A04D-4D7F9846700B}" type="datetimeFigureOut">
              <a:rPr lang="en-IN" smtClean="0"/>
              <a:pPr/>
              <a:t>06-02-2025</a:t>
            </a:fld>
            <a:endParaRPr lang="en-IN"/>
          </a:p>
        </p:txBody>
      </p:sp>
      <p:sp>
        <p:nvSpPr>
          <p:cNvPr id="5" name="Footer Placeholder 4">
            <a:extLst>
              <a:ext uri="{FF2B5EF4-FFF2-40B4-BE49-F238E27FC236}">
                <a16:creationId xmlns:a16="http://schemas.microsoft.com/office/drawing/2014/main" id="{9942350A-2A7B-26C0-4515-22AABA4CC5A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43A8D1-C156-0BDD-330B-0973A2791099}"/>
              </a:ext>
            </a:extLst>
          </p:cNvPr>
          <p:cNvSpPr>
            <a:spLocks noGrp="1"/>
          </p:cNvSpPr>
          <p:nvPr>
            <p:ph type="sldNum" sz="quarter" idx="12"/>
          </p:nvPr>
        </p:nvSpPr>
        <p:spPr/>
        <p:txBody>
          <a:bodyPr/>
          <a:lstStyle/>
          <a:p>
            <a:fld id="{15C7062A-53E3-419B-BEEB-7DD936C6FBB9}" type="slidenum">
              <a:rPr lang="en-IN" smtClean="0"/>
              <a:pPr/>
              <a:t>‹#›</a:t>
            </a:fld>
            <a:endParaRPr lang="en-IN"/>
          </a:p>
        </p:txBody>
      </p:sp>
    </p:spTree>
    <p:extLst>
      <p:ext uri="{BB962C8B-B14F-4D97-AF65-F5344CB8AC3E}">
        <p14:creationId xmlns:p14="http://schemas.microsoft.com/office/powerpoint/2010/main" val="2993191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4E64E-232D-71A4-0583-23FF20169D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100D55-EFEE-25F1-F79C-2EA5E3E1CC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7C05AC-EDC0-900F-EED6-3D4A822F980C}"/>
              </a:ext>
            </a:extLst>
          </p:cNvPr>
          <p:cNvSpPr>
            <a:spLocks noGrp="1"/>
          </p:cNvSpPr>
          <p:nvPr>
            <p:ph type="dt" sz="half" idx="10"/>
          </p:nvPr>
        </p:nvSpPr>
        <p:spPr/>
        <p:txBody>
          <a:bodyPr/>
          <a:lstStyle/>
          <a:p>
            <a:fld id="{22DF1865-A393-483A-A04D-4D7F9846700B}" type="datetimeFigureOut">
              <a:rPr lang="en-IN" smtClean="0"/>
              <a:pPr/>
              <a:t>06-02-2025</a:t>
            </a:fld>
            <a:endParaRPr lang="en-IN"/>
          </a:p>
        </p:txBody>
      </p:sp>
      <p:sp>
        <p:nvSpPr>
          <p:cNvPr id="5" name="Footer Placeholder 4">
            <a:extLst>
              <a:ext uri="{FF2B5EF4-FFF2-40B4-BE49-F238E27FC236}">
                <a16:creationId xmlns:a16="http://schemas.microsoft.com/office/drawing/2014/main" id="{7FBEE73A-0DD2-B9C2-99EC-01FC872FE3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8F577D-4446-6A97-F878-71A439F4DDCC}"/>
              </a:ext>
            </a:extLst>
          </p:cNvPr>
          <p:cNvSpPr>
            <a:spLocks noGrp="1"/>
          </p:cNvSpPr>
          <p:nvPr>
            <p:ph type="sldNum" sz="quarter" idx="12"/>
          </p:nvPr>
        </p:nvSpPr>
        <p:spPr/>
        <p:txBody>
          <a:bodyPr/>
          <a:lstStyle/>
          <a:p>
            <a:fld id="{15C7062A-53E3-419B-BEEB-7DD936C6FBB9}" type="slidenum">
              <a:rPr lang="en-IN" smtClean="0"/>
              <a:pPr/>
              <a:t>‹#›</a:t>
            </a:fld>
            <a:endParaRPr lang="en-IN"/>
          </a:p>
        </p:txBody>
      </p:sp>
    </p:spTree>
    <p:extLst>
      <p:ext uri="{BB962C8B-B14F-4D97-AF65-F5344CB8AC3E}">
        <p14:creationId xmlns:p14="http://schemas.microsoft.com/office/powerpoint/2010/main" val="3359013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DDA48-33FA-1B70-D19E-FB9DE5C0E8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7580E4-977A-3F33-96A8-FF9267AE68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36F42D-F725-BB41-CE56-237B6A276E24}"/>
              </a:ext>
            </a:extLst>
          </p:cNvPr>
          <p:cNvSpPr>
            <a:spLocks noGrp="1"/>
          </p:cNvSpPr>
          <p:nvPr>
            <p:ph type="dt" sz="half" idx="10"/>
          </p:nvPr>
        </p:nvSpPr>
        <p:spPr/>
        <p:txBody>
          <a:bodyPr/>
          <a:lstStyle/>
          <a:p>
            <a:fld id="{22DF1865-A393-483A-A04D-4D7F9846700B}" type="datetimeFigureOut">
              <a:rPr lang="en-IN" smtClean="0"/>
              <a:pPr/>
              <a:t>06-02-2025</a:t>
            </a:fld>
            <a:endParaRPr lang="en-IN"/>
          </a:p>
        </p:txBody>
      </p:sp>
      <p:sp>
        <p:nvSpPr>
          <p:cNvPr id="5" name="Footer Placeholder 4">
            <a:extLst>
              <a:ext uri="{FF2B5EF4-FFF2-40B4-BE49-F238E27FC236}">
                <a16:creationId xmlns:a16="http://schemas.microsoft.com/office/drawing/2014/main" id="{29D4B0B3-7599-CFCC-388E-E613BE6073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EF8D0E-87C1-4D7C-659D-7091B78230BD}"/>
              </a:ext>
            </a:extLst>
          </p:cNvPr>
          <p:cNvSpPr>
            <a:spLocks noGrp="1"/>
          </p:cNvSpPr>
          <p:nvPr>
            <p:ph type="sldNum" sz="quarter" idx="12"/>
          </p:nvPr>
        </p:nvSpPr>
        <p:spPr/>
        <p:txBody>
          <a:bodyPr/>
          <a:lstStyle/>
          <a:p>
            <a:fld id="{15C7062A-53E3-419B-BEEB-7DD936C6FBB9}" type="slidenum">
              <a:rPr lang="en-IN" smtClean="0"/>
              <a:pPr/>
              <a:t>‹#›</a:t>
            </a:fld>
            <a:endParaRPr lang="en-IN"/>
          </a:p>
        </p:txBody>
      </p:sp>
    </p:spTree>
    <p:extLst>
      <p:ext uri="{BB962C8B-B14F-4D97-AF65-F5344CB8AC3E}">
        <p14:creationId xmlns:p14="http://schemas.microsoft.com/office/powerpoint/2010/main" val="3818291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D9E2-366F-648A-3A2E-A7AAF6104F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4C62E3-4786-FCB4-87F5-B3205FC233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0B16964-7E21-D8F7-EB5E-4FE334BB66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5A15A0A-261C-370A-CF5B-3D6F3E275B87}"/>
              </a:ext>
            </a:extLst>
          </p:cNvPr>
          <p:cNvSpPr>
            <a:spLocks noGrp="1"/>
          </p:cNvSpPr>
          <p:nvPr>
            <p:ph type="dt" sz="half" idx="10"/>
          </p:nvPr>
        </p:nvSpPr>
        <p:spPr/>
        <p:txBody>
          <a:bodyPr/>
          <a:lstStyle/>
          <a:p>
            <a:fld id="{22DF1865-A393-483A-A04D-4D7F9846700B}" type="datetimeFigureOut">
              <a:rPr lang="en-IN" smtClean="0"/>
              <a:pPr/>
              <a:t>06-02-2025</a:t>
            </a:fld>
            <a:endParaRPr lang="en-IN"/>
          </a:p>
        </p:txBody>
      </p:sp>
      <p:sp>
        <p:nvSpPr>
          <p:cNvPr id="6" name="Footer Placeholder 5">
            <a:extLst>
              <a:ext uri="{FF2B5EF4-FFF2-40B4-BE49-F238E27FC236}">
                <a16:creationId xmlns:a16="http://schemas.microsoft.com/office/drawing/2014/main" id="{2B776912-C2EF-DB26-E80E-FB3D98CF03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9D69A2-6CD2-D1A9-8645-CDC4D78B1465}"/>
              </a:ext>
            </a:extLst>
          </p:cNvPr>
          <p:cNvSpPr>
            <a:spLocks noGrp="1"/>
          </p:cNvSpPr>
          <p:nvPr>
            <p:ph type="sldNum" sz="quarter" idx="12"/>
          </p:nvPr>
        </p:nvSpPr>
        <p:spPr/>
        <p:txBody>
          <a:bodyPr/>
          <a:lstStyle/>
          <a:p>
            <a:fld id="{15C7062A-53E3-419B-BEEB-7DD936C6FBB9}" type="slidenum">
              <a:rPr lang="en-IN" smtClean="0"/>
              <a:pPr/>
              <a:t>‹#›</a:t>
            </a:fld>
            <a:endParaRPr lang="en-IN"/>
          </a:p>
        </p:txBody>
      </p:sp>
    </p:spTree>
    <p:extLst>
      <p:ext uri="{BB962C8B-B14F-4D97-AF65-F5344CB8AC3E}">
        <p14:creationId xmlns:p14="http://schemas.microsoft.com/office/powerpoint/2010/main" val="794616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0D9F8-0F04-D7D8-8F99-5BE8AF02E3C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A3DE9F-CBB4-8B53-60C9-8FC28813715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DB2339-B3B5-9767-6A51-EB1BCF6D72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81BB35-6283-CB1D-AADB-6DF0347547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023DD0-8ADA-AA35-454A-8AB0CFC959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7D5F9CE-F1A0-9273-7DEE-FAF45AC104F8}"/>
              </a:ext>
            </a:extLst>
          </p:cNvPr>
          <p:cNvSpPr>
            <a:spLocks noGrp="1"/>
          </p:cNvSpPr>
          <p:nvPr>
            <p:ph type="dt" sz="half" idx="10"/>
          </p:nvPr>
        </p:nvSpPr>
        <p:spPr/>
        <p:txBody>
          <a:bodyPr/>
          <a:lstStyle/>
          <a:p>
            <a:fld id="{22DF1865-A393-483A-A04D-4D7F9846700B}" type="datetimeFigureOut">
              <a:rPr lang="en-IN" smtClean="0"/>
              <a:pPr/>
              <a:t>06-02-2025</a:t>
            </a:fld>
            <a:endParaRPr lang="en-IN"/>
          </a:p>
        </p:txBody>
      </p:sp>
      <p:sp>
        <p:nvSpPr>
          <p:cNvPr id="8" name="Footer Placeholder 7">
            <a:extLst>
              <a:ext uri="{FF2B5EF4-FFF2-40B4-BE49-F238E27FC236}">
                <a16:creationId xmlns:a16="http://schemas.microsoft.com/office/drawing/2014/main" id="{AC322DA1-0EC6-2ABE-BD37-161889BFA83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8A462E2-618D-BC0F-4B14-987041D53F80}"/>
              </a:ext>
            </a:extLst>
          </p:cNvPr>
          <p:cNvSpPr>
            <a:spLocks noGrp="1"/>
          </p:cNvSpPr>
          <p:nvPr>
            <p:ph type="sldNum" sz="quarter" idx="12"/>
          </p:nvPr>
        </p:nvSpPr>
        <p:spPr/>
        <p:txBody>
          <a:bodyPr/>
          <a:lstStyle/>
          <a:p>
            <a:fld id="{15C7062A-53E3-419B-BEEB-7DD936C6FBB9}" type="slidenum">
              <a:rPr lang="en-IN" smtClean="0"/>
              <a:pPr/>
              <a:t>‹#›</a:t>
            </a:fld>
            <a:endParaRPr lang="en-IN"/>
          </a:p>
        </p:txBody>
      </p:sp>
    </p:spTree>
    <p:extLst>
      <p:ext uri="{BB962C8B-B14F-4D97-AF65-F5344CB8AC3E}">
        <p14:creationId xmlns:p14="http://schemas.microsoft.com/office/powerpoint/2010/main" val="3998118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42198-D7F0-BEE8-1839-76AA5FC16DA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073052D-598B-79D0-7DBF-7C430CFBACCD}"/>
              </a:ext>
            </a:extLst>
          </p:cNvPr>
          <p:cNvSpPr>
            <a:spLocks noGrp="1"/>
          </p:cNvSpPr>
          <p:nvPr>
            <p:ph type="dt" sz="half" idx="10"/>
          </p:nvPr>
        </p:nvSpPr>
        <p:spPr/>
        <p:txBody>
          <a:bodyPr/>
          <a:lstStyle/>
          <a:p>
            <a:fld id="{22DF1865-A393-483A-A04D-4D7F9846700B}" type="datetimeFigureOut">
              <a:rPr lang="en-IN" smtClean="0"/>
              <a:pPr/>
              <a:t>06-02-2025</a:t>
            </a:fld>
            <a:endParaRPr lang="en-IN"/>
          </a:p>
        </p:txBody>
      </p:sp>
      <p:sp>
        <p:nvSpPr>
          <p:cNvPr id="4" name="Footer Placeholder 3">
            <a:extLst>
              <a:ext uri="{FF2B5EF4-FFF2-40B4-BE49-F238E27FC236}">
                <a16:creationId xmlns:a16="http://schemas.microsoft.com/office/drawing/2014/main" id="{24934854-26F9-DF43-46AE-C6DDCA2B3B3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81762E1-CDBC-BD22-261B-BFA7AD2FE3BC}"/>
              </a:ext>
            </a:extLst>
          </p:cNvPr>
          <p:cNvSpPr>
            <a:spLocks noGrp="1"/>
          </p:cNvSpPr>
          <p:nvPr>
            <p:ph type="sldNum" sz="quarter" idx="12"/>
          </p:nvPr>
        </p:nvSpPr>
        <p:spPr/>
        <p:txBody>
          <a:bodyPr/>
          <a:lstStyle/>
          <a:p>
            <a:fld id="{15C7062A-53E3-419B-BEEB-7DD936C6FBB9}" type="slidenum">
              <a:rPr lang="en-IN" smtClean="0"/>
              <a:pPr/>
              <a:t>‹#›</a:t>
            </a:fld>
            <a:endParaRPr lang="en-IN"/>
          </a:p>
        </p:txBody>
      </p:sp>
    </p:spTree>
    <p:extLst>
      <p:ext uri="{BB962C8B-B14F-4D97-AF65-F5344CB8AC3E}">
        <p14:creationId xmlns:p14="http://schemas.microsoft.com/office/powerpoint/2010/main" val="1960760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C26EFA-BF3E-3486-C18C-DF201ECB2834}"/>
              </a:ext>
            </a:extLst>
          </p:cNvPr>
          <p:cNvSpPr>
            <a:spLocks noGrp="1"/>
          </p:cNvSpPr>
          <p:nvPr>
            <p:ph type="dt" sz="half" idx="10"/>
          </p:nvPr>
        </p:nvSpPr>
        <p:spPr/>
        <p:txBody>
          <a:bodyPr/>
          <a:lstStyle/>
          <a:p>
            <a:fld id="{22DF1865-A393-483A-A04D-4D7F9846700B}" type="datetimeFigureOut">
              <a:rPr lang="en-IN" smtClean="0"/>
              <a:pPr/>
              <a:t>06-02-2025</a:t>
            </a:fld>
            <a:endParaRPr lang="en-IN"/>
          </a:p>
        </p:txBody>
      </p:sp>
      <p:sp>
        <p:nvSpPr>
          <p:cNvPr id="3" name="Footer Placeholder 2">
            <a:extLst>
              <a:ext uri="{FF2B5EF4-FFF2-40B4-BE49-F238E27FC236}">
                <a16:creationId xmlns:a16="http://schemas.microsoft.com/office/drawing/2014/main" id="{4104F72D-0B0E-A027-EA21-9253D76B66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F5C92D0-EA83-0B78-A4DD-A92089C62518}"/>
              </a:ext>
            </a:extLst>
          </p:cNvPr>
          <p:cNvSpPr>
            <a:spLocks noGrp="1"/>
          </p:cNvSpPr>
          <p:nvPr>
            <p:ph type="sldNum" sz="quarter" idx="12"/>
          </p:nvPr>
        </p:nvSpPr>
        <p:spPr/>
        <p:txBody>
          <a:bodyPr/>
          <a:lstStyle/>
          <a:p>
            <a:fld id="{15C7062A-53E3-419B-BEEB-7DD936C6FBB9}" type="slidenum">
              <a:rPr lang="en-IN" smtClean="0"/>
              <a:pPr/>
              <a:t>‹#›</a:t>
            </a:fld>
            <a:endParaRPr lang="en-IN"/>
          </a:p>
        </p:txBody>
      </p:sp>
    </p:spTree>
    <p:extLst>
      <p:ext uri="{BB962C8B-B14F-4D97-AF65-F5344CB8AC3E}">
        <p14:creationId xmlns:p14="http://schemas.microsoft.com/office/powerpoint/2010/main" val="119396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44A79-6961-6BED-F783-6D127560E7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E1276C5-10A5-7F3C-C113-FEB33F70B4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BF148D0-82DA-16D6-9C90-62B3A1CC93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C2959A-6238-85AE-013E-269ECB7BA7DA}"/>
              </a:ext>
            </a:extLst>
          </p:cNvPr>
          <p:cNvSpPr>
            <a:spLocks noGrp="1"/>
          </p:cNvSpPr>
          <p:nvPr>
            <p:ph type="dt" sz="half" idx="10"/>
          </p:nvPr>
        </p:nvSpPr>
        <p:spPr/>
        <p:txBody>
          <a:bodyPr/>
          <a:lstStyle/>
          <a:p>
            <a:fld id="{22DF1865-A393-483A-A04D-4D7F9846700B}" type="datetimeFigureOut">
              <a:rPr lang="en-IN" smtClean="0"/>
              <a:pPr/>
              <a:t>06-02-2025</a:t>
            </a:fld>
            <a:endParaRPr lang="en-IN"/>
          </a:p>
        </p:txBody>
      </p:sp>
      <p:sp>
        <p:nvSpPr>
          <p:cNvPr id="6" name="Footer Placeholder 5">
            <a:extLst>
              <a:ext uri="{FF2B5EF4-FFF2-40B4-BE49-F238E27FC236}">
                <a16:creationId xmlns:a16="http://schemas.microsoft.com/office/drawing/2014/main" id="{B3814E97-2566-6AD1-EDC9-4D37EDC948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34F272-589C-77E6-2ECF-CE5855826F30}"/>
              </a:ext>
            </a:extLst>
          </p:cNvPr>
          <p:cNvSpPr>
            <a:spLocks noGrp="1"/>
          </p:cNvSpPr>
          <p:nvPr>
            <p:ph type="sldNum" sz="quarter" idx="12"/>
          </p:nvPr>
        </p:nvSpPr>
        <p:spPr/>
        <p:txBody>
          <a:bodyPr/>
          <a:lstStyle/>
          <a:p>
            <a:fld id="{15C7062A-53E3-419B-BEEB-7DD936C6FBB9}" type="slidenum">
              <a:rPr lang="en-IN" smtClean="0"/>
              <a:pPr/>
              <a:t>‹#›</a:t>
            </a:fld>
            <a:endParaRPr lang="en-IN"/>
          </a:p>
        </p:txBody>
      </p:sp>
    </p:spTree>
    <p:extLst>
      <p:ext uri="{BB962C8B-B14F-4D97-AF65-F5344CB8AC3E}">
        <p14:creationId xmlns:p14="http://schemas.microsoft.com/office/powerpoint/2010/main" val="1472184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A6E94-78D0-60A7-0474-31B294D31A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093BBB-E0F9-10D3-5F64-1850151C49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896CE6A-3A88-2515-8E8F-AE93B55443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D3673-D326-F7E0-7616-AF17FC3F6FA8}"/>
              </a:ext>
            </a:extLst>
          </p:cNvPr>
          <p:cNvSpPr>
            <a:spLocks noGrp="1"/>
          </p:cNvSpPr>
          <p:nvPr>
            <p:ph type="dt" sz="half" idx="10"/>
          </p:nvPr>
        </p:nvSpPr>
        <p:spPr/>
        <p:txBody>
          <a:bodyPr/>
          <a:lstStyle/>
          <a:p>
            <a:fld id="{22DF1865-A393-483A-A04D-4D7F9846700B}" type="datetimeFigureOut">
              <a:rPr lang="en-IN" smtClean="0"/>
              <a:pPr/>
              <a:t>06-02-2025</a:t>
            </a:fld>
            <a:endParaRPr lang="en-IN"/>
          </a:p>
        </p:txBody>
      </p:sp>
      <p:sp>
        <p:nvSpPr>
          <p:cNvPr id="6" name="Footer Placeholder 5">
            <a:extLst>
              <a:ext uri="{FF2B5EF4-FFF2-40B4-BE49-F238E27FC236}">
                <a16:creationId xmlns:a16="http://schemas.microsoft.com/office/drawing/2014/main" id="{C2C7B419-1DD5-24C3-C05C-10CC46B382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4112D7-A767-4415-D560-F37881181DD6}"/>
              </a:ext>
            </a:extLst>
          </p:cNvPr>
          <p:cNvSpPr>
            <a:spLocks noGrp="1"/>
          </p:cNvSpPr>
          <p:nvPr>
            <p:ph type="sldNum" sz="quarter" idx="12"/>
          </p:nvPr>
        </p:nvSpPr>
        <p:spPr/>
        <p:txBody>
          <a:bodyPr/>
          <a:lstStyle/>
          <a:p>
            <a:fld id="{15C7062A-53E3-419B-BEEB-7DD936C6FBB9}" type="slidenum">
              <a:rPr lang="en-IN" smtClean="0"/>
              <a:pPr/>
              <a:t>‹#›</a:t>
            </a:fld>
            <a:endParaRPr lang="en-IN"/>
          </a:p>
        </p:txBody>
      </p:sp>
    </p:spTree>
    <p:extLst>
      <p:ext uri="{BB962C8B-B14F-4D97-AF65-F5344CB8AC3E}">
        <p14:creationId xmlns:p14="http://schemas.microsoft.com/office/powerpoint/2010/main" val="2466360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81689-E73B-0CAF-95FF-F2423D410C9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F21F9C-D7A8-882F-75BB-705C17E9E1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045D5E-1578-D723-D3F0-E099083B3184}"/>
              </a:ext>
            </a:extLst>
          </p:cNvPr>
          <p:cNvSpPr>
            <a:spLocks noGrp="1"/>
          </p:cNvSpPr>
          <p:nvPr>
            <p:ph type="dt" sz="half" idx="10"/>
          </p:nvPr>
        </p:nvSpPr>
        <p:spPr/>
        <p:txBody>
          <a:bodyPr/>
          <a:lstStyle/>
          <a:p>
            <a:fld id="{22DF1865-A393-483A-A04D-4D7F9846700B}" type="datetimeFigureOut">
              <a:rPr lang="en-IN" smtClean="0"/>
              <a:pPr/>
              <a:t>06-02-2025</a:t>
            </a:fld>
            <a:endParaRPr lang="en-IN"/>
          </a:p>
        </p:txBody>
      </p:sp>
      <p:sp>
        <p:nvSpPr>
          <p:cNvPr id="5" name="Footer Placeholder 4">
            <a:extLst>
              <a:ext uri="{FF2B5EF4-FFF2-40B4-BE49-F238E27FC236}">
                <a16:creationId xmlns:a16="http://schemas.microsoft.com/office/drawing/2014/main" id="{06323DA3-87A9-9EAC-0FC3-1D5CBF0D0E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D33BBF-86B7-D312-5476-2349B59E286C}"/>
              </a:ext>
            </a:extLst>
          </p:cNvPr>
          <p:cNvSpPr>
            <a:spLocks noGrp="1"/>
          </p:cNvSpPr>
          <p:nvPr>
            <p:ph type="sldNum" sz="quarter" idx="12"/>
          </p:nvPr>
        </p:nvSpPr>
        <p:spPr/>
        <p:txBody>
          <a:bodyPr/>
          <a:lstStyle/>
          <a:p>
            <a:fld id="{15C7062A-53E3-419B-BEEB-7DD936C6FBB9}" type="slidenum">
              <a:rPr lang="en-IN" smtClean="0"/>
              <a:pPr/>
              <a:t>‹#›</a:t>
            </a:fld>
            <a:endParaRPr lang="en-IN"/>
          </a:p>
        </p:txBody>
      </p:sp>
    </p:spTree>
    <p:extLst>
      <p:ext uri="{BB962C8B-B14F-4D97-AF65-F5344CB8AC3E}">
        <p14:creationId xmlns:p14="http://schemas.microsoft.com/office/powerpoint/2010/main" val="31400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D151AF-DDFD-B3CE-0739-A4484481BE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0A061E-F2D2-2CA8-4CF2-00F1431C58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05320F-8C9B-FD18-FC0C-39062F29CBF9}"/>
              </a:ext>
            </a:extLst>
          </p:cNvPr>
          <p:cNvSpPr>
            <a:spLocks noGrp="1"/>
          </p:cNvSpPr>
          <p:nvPr>
            <p:ph type="dt" sz="half" idx="10"/>
          </p:nvPr>
        </p:nvSpPr>
        <p:spPr/>
        <p:txBody>
          <a:bodyPr/>
          <a:lstStyle/>
          <a:p>
            <a:fld id="{22DF1865-A393-483A-A04D-4D7F9846700B}" type="datetimeFigureOut">
              <a:rPr lang="en-IN" smtClean="0"/>
              <a:pPr/>
              <a:t>06-02-2025</a:t>
            </a:fld>
            <a:endParaRPr lang="en-IN"/>
          </a:p>
        </p:txBody>
      </p:sp>
      <p:sp>
        <p:nvSpPr>
          <p:cNvPr id="5" name="Footer Placeholder 4">
            <a:extLst>
              <a:ext uri="{FF2B5EF4-FFF2-40B4-BE49-F238E27FC236}">
                <a16:creationId xmlns:a16="http://schemas.microsoft.com/office/drawing/2014/main" id="{719C9B1E-88CF-03BD-F32E-CD0D93473A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047BC8-845C-9DEE-2AA8-84147F9777CA}"/>
              </a:ext>
            </a:extLst>
          </p:cNvPr>
          <p:cNvSpPr>
            <a:spLocks noGrp="1"/>
          </p:cNvSpPr>
          <p:nvPr>
            <p:ph type="sldNum" sz="quarter" idx="12"/>
          </p:nvPr>
        </p:nvSpPr>
        <p:spPr/>
        <p:txBody>
          <a:bodyPr/>
          <a:lstStyle/>
          <a:p>
            <a:fld id="{15C7062A-53E3-419B-BEEB-7DD936C6FBB9}" type="slidenum">
              <a:rPr lang="en-IN" smtClean="0"/>
              <a:pPr/>
              <a:t>‹#›</a:t>
            </a:fld>
            <a:endParaRPr lang="en-IN"/>
          </a:p>
        </p:txBody>
      </p:sp>
    </p:spTree>
    <p:extLst>
      <p:ext uri="{BB962C8B-B14F-4D97-AF65-F5344CB8AC3E}">
        <p14:creationId xmlns:p14="http://schemas.microsoft.com/office/powerpoint/2010/main" val="1350508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81A62E-CBEB-2B81-693A-BB17E202B7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FE274E-1B8E-45E0-2176-CE441810BB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49DB00-138C-EE6B-6402-894CD13F05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DF1865-A393-483A-A04D-4D7F9846700B}" type="datetimeFigureOut">
              <a:rPr lang="en-IN" smtClean="0"/>
              <a:pPr/>
              <a:t>06-02-2025</a:t>
            </a:fld>
            <a:endParaRPr lang="en-IN"/>
          </a:p>
        </p:txBody>
      </p:sp>
      <p:sp>
        <p:nvSpPr>
          <p:cNvPr id="5" name="Footer Placeholder 4">
            <a:extLst>
              <a:ext uri="{FF2B5EF4-FFF2-40B4-BE49-F238E27FC236}">
                <a16:creationId xmlns:a16="http://schemas.microsoft.com/office/drawing/2014/main" id="{B78E3175-A80A-6D0A-7909-21F437BC0D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632A49B-D18B-7D01-602B-4069625A1A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C7062A-53E3-419B-BEEB-7DD936C6FBB9}" type="slidenum">
              <a:rPr lang="en-IN" smtClean="0"/>
              <a:pPr/>
              <a:t>‹#›</a:t>
            </a:fld>
            <a:endParaRPr lang="en-IN"/>
          </a:p>
        </p:txBody>
      </p:sp>
    </p:spTree>
    <p:extLst>
      <p:ext uri="{BB962C8B-B14F-4D97-AF65-F5344CB8AC3E}">
        <p14:creationId xmlns:p14="http://schemas.microsoft.com/office/powerpoint/2010/main" val="2135607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F62E4-B9A2-52E6-8BF9-254935B85FAD}"/>
              </a:ext>
            </a:extLst>
          </p:cNvPr>
          <p:cNvSpPr>
            <a:spLocks noGrp="1"/>
          </p:cNvSpPr>
          <p:nvPr>
            <p:ph type="ctrTitle"/>
          </p:nvPr>
        </p:nvSpPr>
        <p:spPr>
          <a:xfrm>
            <a:off x="1524000" y="1122363"/>
            <a:ext cx="9144000" cy="2959307"/>
          </a:xfrm>
        </p:spPr>
        <p:txBody>
          <a:bodyPr>
            <a:normAutofit/>
          </a:bodyPr>
          <a:lstStyle/>
          <a:p>
            <a:r>
              <a:rPr lang="en-US" sz="8000" dirty="0"/>
              <a:t>Unit 4</a:t>
            </a:r>
            <a:endParaRPr lang="en-IN" sz="8000" dirty="0"/>
          </a:p>
        </p:txBody>
      </p:sp>
    </p:spTree>
    <p:extLst>
      <p:ext uri="{BB962C8B-B14F-4D97-AF65-F5344CB8AC3E}">
        <p14:creationId xmlns:p14="http://schemas.microsoft.com/office/powerpoint/2010/main" val="33338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7633A-59B4-B694-3DBB-BF8EE34268E8}"/>
              </a:ext>
            </a:extLst>
          </p:cNvPr>
          <p:cNvSpPr>
            <a:spLocks noGrp="1"/>
          </p:cNvSpPr>
          <p:nvPr>
            <p:ph type="title"/>
          </p:nvPr>
        </p:nvSpPr>
        <p:spPr>
          <a:xfrm>
            <a:off x="838200" y="124179"/>
            <a:ext cx="10515600" cy="778932"/>
          </a:xfrm>
        </p:spPr>
        <p:txBody>
          <a:bodyPr/>
          <a:lstStyle/>
          <a:p>
            <a:pPr algn="ctr"/>
            <a:r>
              <a:rPr lang="en-US" b="1" dirty="0"/>
              <a:t>Architecture for Intelligent Agents</a:t>
            </a:r>
            <a:endParaRPr lang="en-IN" b="1" dirty="0"/>
          </a:p>
        </p:txBody>
      </p:sp>
      <p:sp>
        <p:nvSpPr>
          <p:cNvPr id="3" name="Content Placeholder 2">
            <a:extLst>
              <a:ext uri="{FF2B5EF4-FFF2-40B4-BE49-F238E27FC236}">
                <a16:creationId xmlns:a16="http://schemas.microsoft.com/office/drawing/2014/main" id="{26473F02-537E-A3D3-8BC0-10C6C1320C11}"/>
              </a:ext>
            </a:extLst>
          </p:cNvPr>
          <p:cNvSpPr>
            <a:spLocks noGrp="1"/>
          </p:cNvSpPr>
          <p:nvPr>
            <p:ph idx="1"/>
          </p:nvPr>
        </p:nvSpPr>
        <p:spPr>
          <a:xfrm>
            <a:off x="838200" y="903111"/>
            <a:ext cx="10515600" cy="5508978"/>
          </a:xfrm>
        </p:spPr>
        <p:txBody>
          <a:bodyPr/>
          <a:lstStyle/>
          <a:p>
            <a:r>
              <a:rPr lang="en-US" dirty="0"/>
              <a:t>Based on the goals of agent application, a variety of agent architecture exist to help. This section will introduce some of the major architecture types and applications for which they can be used.</a:t>
            </a:r>
          </a:p>
          <a:p>
            <a:pPr marL="0" indent="0">
              <a:buNone/>
            </a:pPr>
            <a:endParaRPr lang="en-IN" dirty="0"/>
          </a:p>
        </p:txBody>
      </p:sp>
      <p:pic>
        <p:nvPicPr>
          <p:cNvPr id="5" name="Picture 4" descr="A close-up of a text&#10;&#10;Description automatically generated">
            <a:extLst>
              <a:ext uri="{FF2B5EF4-FFF2-40B4-BE49-F238E27FC236}">
                <a16:creationId xmlns:a16="http://schemas.microsoft.com/office/drawing/2014/main" id="{C373FD42-AE0E-869E-A440-D059B4451B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41777" y="2676937"/>
            <a:ext cx="8551579" cy="3617845"/>
          </a:xfrm>
          <a:prstGeom prst="rect">
            <a:avLst/>
          </a:prstGeom>
        </p:spPr>
      </p:pic>
    </p:spTree>
    <p:extLst>
      <p:ext uri="{BB962C8B-B14F-4D97-AF65-F5344CB8AC3E}">
        <p14:creationId xmlns:p14="http://schemas.microsoft.com/office/powerpoint/2010/main" val="1215614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5D642859-7243-E2A9-DADC-7B72C8DDD0A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71061" y="238539"/>
            <a:ext cx="11608904" cy="6414052"/>
          </a:xfrm>
        </p:spPr>
      </p:pic>
    </p:spTree>
    <p:extLst>
      <p:ext uri="{BB962C8B-B14F-4D97-AF65-F5344CB8AC3E}">
        <p14:creationId xmlns:p14="http://schemas.microsoft.com/office/powerpoint/2010/main" val="2132773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computer&#10;&#10;Description automatically generated">
            <a:extLst>
              <a:ext uri="{FF2B5EF4-FFF2-40B4-BE49-F238E27FC236}">
                <a16:creationId xmlns:a16="http://schemas.microsoft.com/office/drawing/2014/main" id="{C88EFC99-F89C-4E1F-4776-B0E6C61C0B3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9270" y="198783"/>
            <a:ext cx="11940208" cy="6480313"/>
          </a:xfrm>
        </p:spPr>
      </p:pic>
    </p:spTree>
    <p:extLst>
      <p:ext uri="{BB962C8B-B14F-4D97-AF65-F5344CB8AC3E}">
        <p14:creationId xmlns:p14="http://schemas.microsoft.com/office/powerpoint/2010/main" val="4039722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text&#10;&#10;Description automatically generated">
            <a:extLst>
              <a:ext uri="{FF2B5EF4-FFF2-40B4-BE49-F238E27FC236}">
                <a16:creationId xmlns:a16="http://schemas.microsoft.com/office/drawing/2014/main" id="{971FAAC9-B177-E0CB-1DEC-A9D55E7215A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5530" y="225287"/>
            <a:ext cx="11860696" cy="6520070"/>
          </a:xfrm>
        </p:spPr>
      </p:pic>
    </p:spTree>
    <p:extLst>
      <p:ext uri="{BB962C8B-B14F-4D97-AF65-F5344CB8AC3E}">
        <p14:creationId xmlns:p14="http://schemas.microsoft.com/office/powerpoint/2010/main" val="2066475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4248DECF-1DE0-36C8-9E9A-C988A5CFFEF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8539" y="251791"/>
            <a:ext cx="11741426" cy="6506818"/>
          </a:xfrm>
        </p:spPr>
      </p:pic>
    </p:spTree>
    <p:extLst>
      <p:ext uri="{BB962C8B-B14F-4D97-AF65-F5344CB8AC3E}">
        <p14:creationId xmlns:p14="http://schemas.microsoft.com/office/powerpoint/2010/main" val="3472191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document&#10;&#10;Description automatically generated">
            <a:extLst>
              <a:ext uri="{FF2B5EF4-FFF2-40B4-BE49-F238E27FC236}">
                <a16:creationId xmlns:a16="http://schemas.microsoft.com/office/drawing/2014/main" id="{8C471D8D-FF0F-B42B-58CB-A440C7EE9A8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2766" y="198782"/>
            <a:ext cx="11940208" cy="6659217"/>
          </a:xfrm>
        </p:spPr>
      </p:pic>
    </p:spTree>
    <p:extLst>
      <p:ext uri="{BB962C8B-B14F-4D97-AF65-F5344CB8AC3E}">
        <p14:creationId xmlns:p14="http://schemas.microsoft.com/office/powerpoint/2010/main" val="2335613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text on a black background&#10;&#10;Description automatically generated">
            <a:extLst>
              <a:ext uri="{FF2B5EF4-FFF2-40B4-BE49-F238E27FC236}">
                <a16:creationId xmlns:a16="http://schemas.microsoft.com/office/drawing/2014/main" id="{0656A755-A0EF-8261-DCF5-FFAA2C6E5FE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9271" y="291548"/>
            <a:ext cx="11820938" cy="6453809"/>
          </a:xfrm>
        </p:spPr>
      </p:pic>
    </p:spTree>
    <p:extLst>
      <p:ext uri="{BB962C8B-B14F-4D97-AF65-F5344CB8AC3E}">
        <p14:creationId xmlns:p14="http://schemas.microsoft.com/office/powerpoint/2010/main" val="1098909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white text on a black background&#10;&#10;Description automatically generated">
            <a:extLst>
              <a:ext uri="{FF2B5EF4-FFF2-40B4-BE49-F238E27FC236}">
                <a16:creationId xmlns:a16="http://schemas.microsoft.com/office/drawing/2014/main" id="{4D410B59-A58D-E5E7-E51A-D4B0375D2D9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2278" y="477078"/>
            <a:ext cx="11767931" cy="6380922"/>
          </a:xfrm>
        </p:spPr>
      </p:pic>
    </p:spTree>
    <p:extLst>
      <p:ext uri="{BB962C8B-B14F-4D97-AF65-F5344CB8AC3E}">
        <p14:creationId xmlns:p14="http://schemas.microsoft.com/office/powerpoint/2010/main" val="2130049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B760B61D-E4D8-3236-3337-5DFD49C0D41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0622" y="203200"/>
            <a:ext cx="11909778" cy="6654800"/>
          </a:xfrm>
        </p:spPr>
      </p:pic>
    </p:spTree>
    <p:extLst>
      <p:ext uri="{BB962C8B-B14F-4D97-AF65-F5344CB8AC3E}">
        <p14:creationId xmlns:p14="http://schemas.microsoft.com/office/powerpoint/2010/main" val="1061208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071153"/>
          </a:xfrm>
        </p:spPr>
        <p:txBody>
          <a:bodyPr/>
          <a:lstStyle/>
          <a:p>
            <a:pPr algn="ctr"/>
            <a:r>
              <a:rPr lang="en-US" b="1" dirty="0"/>
              <a:t>Agent Communication</a:t>
            </a:r>
          </a:p>
        </p:txBody>
      </p:sp>
      <p:sp>
        <p:nvSpPr>
          <p:cNvPr id="3" name="Content Placeholder 2"/>
          <p:cNvSpPr>
            <a:spLocks noGrp="1"/>
          </p:cNvSpPr>
          <p:nvPr>
            <p:ph idx="1"/>
          </p:nvPr>
        </p:nvSpPr>
        <p:spPr>
          <a:xfrm>
            <a:off x="838200" y="940526"/>
            <a:ext cx="10515600" cy="5669280"/>
          </a:xfrm>
        </p:spPr>
        <p:txBody>
          <a:bodyPr/>
          <a:lstStyle/>
          <a:p>
            <a:pPr>
              <a:buNone/>
            </a:pPr>
            <a:r>
              <a:rPr lang="en-US" b="1" dirty="0"/>
              <a:t>Autonomous agents </a:t>
            </a:r>
          </a:p>
          <a:p>
            <a:r>
              <a:rPr lang="en-US" dirty="0"/>
              <a:t>An agent is a computer system capable of autonomous action in some environment in order to meet its design objectives. </a:t>
            </a:r>
          </a:p>
          <a:p>
            <a:pPr>
              <a:buNone/>
            </a:pPr>
            <a:endParaRPr lang="en-US" dirty="0"/>
          </a:p>
        </p:txBody>
      </p:sp>
      <p:pic>
        <p:nvPicPr>
          <p:cNvPr id="4" name="Picture 3" descr="1.JPG"/>
          <p:cNvPicPr>
            <a:picLocks noChangeAspect="1"/>
          </p:cNvPicPr>
          <p:nvPr/>
        </p:nvPicPr>
        <p:blipFill>
          <a:blip r:embed="rId2" cstate="print"/>
          <a:stretch>
            <a:fillRect/>
          </a:stretch>
        </p:blipFill>
        <p:spPr>
          <a:xfrm>
            <a:off x="3867150" y="2547937"/>
            <a:ext cx="4457700" cy="33172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881"/>
            <a:ext cx="10515600" cy="979713"/>
          </a:xfrm>
        </p:spPr>
        <p:txBody>
          <a:bodyPr/>
          <a:lstStyle/>
          <a:p>
            <a:pPr algn="ctr"/>
            <a:r>
              <a:rPr lang="en-US" b="1" dirty="0"/>
              <a:t>Properties of Autonomous Agents</a:t>
            </a:r>
          </a:p>
        </p:txBody>
      </p:sp>
      <p:sp>
        <p:nvSpPr>
          <p:cNvPr id="3" name="Content Placeholder 2"/>
          <p:cNvSpPr>
            <a:spLocks noGrp="1"/>
          </p:cNvSpPr>
          <p:nvPr>
            <p:ph idx="1"/>
          </p:nvPr>
        </p:nvSpPr>
        <p:spPr>
          <a:xfrm>
            <a:off x="838200" y="1123406"/>
            <a:ext cx="10515600" cy="5564777"/>
          </a:xfrm>
        </p:spPr>
        <p:txBody>
          <a:bodyPr>
            <a:normAutofit/>
          </a:bodyPr>
          <a:lstStyle/>
          <a:p>
            <a:r>
              <a:rPr lang="en-US" dirty="0" err="1"/>
              <a:t>Situatedness</a:t>
            </a:r>
            <a:r>
              <a:rPr lang="en-US" dirty="0"/>
              <a:t>: </a:t>
            </a:r>
            <a:r>
              <a:rPr lang="en-US" dirty="0" err="1"/>
              <a:t>peceiving</a:t>
            </a:r>
            <a:r>
              <a:rPr lang="en-US" dirty="0"/>
              <a:t> the environment via sensors and being able to affect the environment via effectors. </a:t>
            </a:r>
          </a:p>
          <a:p>
            <a:r>
              <a:rPr lang="en-US" dirty="0"/>
              <a:t>Autonomy: capability of action without intervention, and control over internal state. </a:t>
            </a:r>
          </a:p>
          <a:p>
            <a:r>
              <a:rPr lang="en-US" dirty="0"/>
              <a:t>Flexibility: ability to adapt and respond to various situations, tasks, or environments efficiently and effectively.</a:t>
            </a:r>
          </a:p>
          <a:p>
            <a:r>
              <a:rPr lang="en-US" dirty="0"/>
              <a:t>Responsiveness: respond in a timely fashion to change in the environment. </a:t>
            </a:r>
          </a:p>
          <a:p>
            <a:r>
              <a:rPr lang="en-US" dirty="0"/>
              <a:t>Pro-activity: actions which go beyond simple response to stimulus.</a:t>
            </a:r>
          </a:p>
          <a:p>
            <a:r>
              <a:rPr lang="en-US" dirty="0"/>
              <a:t>Sociability: ability to interact with other agents and humans for mutual benefit.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2.JPG"/>
          <p:cNvPicPr>
            <a:picLocks noGrp="1" noChangeAspect="1"/>
          </p:cNvPicPr>
          <p:nvPr>
            <p:ph idx="1"/>
          </p:nvPr>
        </p:nvPicPr>
        <p:blipFill>
          <a:blip r:embed="rId2" cstate="print"/>
          <a:stretch>
            <a:fillRect/>
          </a:stretch>
        </p:blipFill>
        <p:spPr>
          <a:xfrm>
            <a:off x="770709" y="470263"/>
            <a:ext cx="10842172" cy="6074228"/>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070"/>
            <a:ext cx="10515600" cy="862148"/>
          </a:xfrm>
        </p:spPr>
        <p:txBody>
          <a:bodyPr/>
          <a:lstStyle/>
          <a:p>
            <a:pPr algn="ctr"/>
            <a:r>
              <a:rPr lang="en-US" b="1" dirty="0"/>
              <a:t>Co-operation</a:t>
            </a:r>
          </a:p>
        </p:txBody>
      </p:sp>
      <p:sp>
        <p:nvSpPr>
          <p:cNvPr id="3" name="Content Placeholder 2"/>
          <p:cNvSpPr>
            <a:spLocks noGrp="1"/>
          </p:cNvSpPr>
          <p:nvPr>
            <p:ph idx="1"/>
          </p:nvPr>
        </p:nvSpPr>
        <p:spPr>
          <a:xfrm>
            <a:off x="838200" y="1071154"/>
            <a:ext cx="10515600" cy="5105809"/>
          </a:xfrm>
        </p:spPr>
        <p:txBody>
          <a:bodyPr/>
          <a:lstStyle/>
          <a:p>
            <a:r>
              <a:rPr lang="en-US" dirty="0"/>
              <a:t>It the practice of working in common with mutually agreed-upon goals and possibly methods, instead of working separately in competition, and in which the success of one is dependent and contingent upon the success of another. </a:t>
            </a:r>
          </a:p>
          <a:p>
            <a:r>
              <a:rPr lang="en-US" dirty="0"/>
              <a:t>– E.g. I can't play a quintet alone! </a:t>
            </a:r>
          </a:p>
          <a:p>
            <a:r>
              <a:rPr lang="en-US" dirty="0"/>
              <a:t>When agents are working together, it is important to make a distinction between Benevolent agents and Self-interested agents.</a:t>
            </a:r>
          </a:p>
          <a:p>
            <a:r>
              <a:rPr lang="en-US" dirty="0"/>
              <a:t> It does not mean that they want to cause harm to other agents or that they care only about themselves. It means that it follows its interest as represented by a utility function.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069"/>
            <a:ext cx="10515600" cy="1084217"/>
          </a:xfrm>
        </p:spPr>
        <p:txBody>
          <a:bodyPr/>
          <a:lstStyle/>
          <a:p>
            <a:pPr algn="ctr"/>
            <a:r>
              <a:rPr lang="en-US" b="1" dirty="0"/>
              <a:t>Benevolent Agents</a:t>
            </a:r>
          </a:p>
        </p:txBody>
      </p:sp>
      <p:sp>
        <p:nvSpPr>
          <p:cNvPr id="3" name="Content Placeholder 2"/>
          <p:cNvSpPr>
            <a:spLocks noGrp="1"/>
          </p:cNvSpPr>
          <p:nvPr>
            <p:ph idx="1"/>
          </p:nvPr>
        </p:nvSpPr>
        <p:spPr>
          <a:xfrm>
            <a:off x="838200" y="1123406"/>
            <a:ext cx="10515600" cy="5053557"/>
          </a:xfrm>
        </p:spPr>
        <p:txBody>
          <a:bodyPr/>
          <a:lstStyle/>
          <a:p>
            <a:r>
              <a:rPr lang="en-US" sz="3200" dirty="0"/>
              <a:t>If we “own” the whole system, or are in a cooperative environment, we can design agents that help each other whenever asked (if possible) </a:t>
            </a:r>
          </a:p>
          <a:p>
            <a:r>
              <a:rPr lang="en-US" sz="3200" dirty="0"/>
              <a:t>In this case, we can assume agents are benevolent: others best interest is their best interest  </a:t>
            </a:r>
          </a:p>
          <a:p>
            <a:r>
              <a:rPr lang="en-US" sz="3200" dirty="0"/>
              <a:t>Problem-solving in benevolent systems is called cooperative distributed problem solving (CDPS) </a:t>
            </a:r>
          </a:p>
          <a:p>
            <a:r>
              <a:rPr lang="en-US" sz="3200" dirty="0"/>
              <a:t>Benevolence simplifies the system design task enormously</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943"/>
            <a:ext cx="10515600" cy="927463"/>
          </a:xfrm>
        </p:spPr>
        <p:txBody>
          <a:bodyPr/>
          <a:lstStyle/>
          <a:p>
            <a:pPr algn="ctr"/>
            <a:r>
              <a:rPr lang="en-US" b="1" dirty="0"/>
              <a:t>Self-Interested Agents</a:t>
            </a:r>
          </a:p>
        </p:txBody>
      </p:sp>
      <p:sp>
        <p:nvSpPr>
          <p:cNvPr id="3" name="Content Placeholder 2"/>
          <p:cNvSpPr>
            <a:spLocks noGrp="1"/>
          </p:cNvSpPr>
          <p:nvPr>
            <p:ph idx="1"/>
          </p:nvPr>
        </p:nvSpPr>
        <p:spPr>
          <a:xfrm>
            <a:off x="838200" y="1175656"/>
            <a:ext cx="10515600" cy="5499463"/>
          </a:xfrm>
        </p:spPr>
        <p:txBody>
          <a:bodyPr>
            <a:normAutofit/>
          </a:bodyPr>
          <a:lstStyle/>
          <a:p>
            <a:r>
              <a:rPr lang="en-US" sz="3200" dirty="0"/>
              <a:t>If agents represent individuals or organizations, (the more general case), then we cannot make the benevolence assumption  </a:t>
            </a:r>
          </a:p>
          <a:p>
            <a:r>
              <a:rPr lang="en-US" sz="3200" dirty="0"/>
              <a:t>Agents will be assumed to act to further their own interests, possibly at expense of others </a:t>
            </a:r>
          </a:p>
          <a:p>
            <a:r>
              <a:rPr lang="en-US" sz="3200" dirty="0"/>
              <a:t>Potential for conflict. </a:t>
            </a:r>
          </a:p>
          <a:p>
            <a:r>
              <a:rPr lang="en-US" sz="3200" dirty="0"/>
              <a:t>E.g. Competitive environment (sport, war, ...)  </a:t>
            </a:r>
          </a:p>
          <a:p>
            <a:r>
              <a:rPr lang="en-US" sz="3200" dirty="0"/>
              <a:t>May complicate the design task enormously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069"/>
            <a:ext cx="10515600" cy="940525"/>
          </a:xfrm>
        </p:spPr>
        <p:txBody>
          <a:bodyPr/>
          <a:lstStyle/>
          <a:p>
            <a:pPr algn="ctr"/>
            <a:r>
              <a:rPr lang="en-US" b="1" dirty="0"/>
              <a:t>Speech Act</a:t>
            </a:r>
          </a:p>
        </p:txBody>
      </p:sp>
      <p:sp>
        <p:nvSpPr>
          <p:cNvPr id="3" name="Content Placeholder 2"/>
          <p:cNvSpPr>
            <a:spLocks noGrp="1"/>
          </p:cNvSpPr>
          <p:nvPr>
            <p:ph idx="1"/>
          </p:nvPr>
        </p:nvSpPr>
        <p:spPr>
          <a:xfrm>
            <a:off x="838200" y="1175657"/>
            <a:ext cx="10515600" cy="5368834"/>
          </a:xfrm>
        </p:spPr>
        <p:txBody>
          <a:bodyPr>
            <a:normAutofit/>
          </a:bodyPr>
          <a:lstStyle/>
          <a:p>
            <a:r>
              <a:rPr lang="en-US" sz="3200" dirty="0"/>
              <a:t>Most treatments of communication in (multi-) agent systems borrow their inspiration from </a:t>
            </a:r>
            <a:r>
              <a:rPr lang="en-US" sz="3200" i="1" dirty="0">
                <a:solidFill>
                  <a:srgbClr val="003399"/>
                </a:solidFill>
              </a:rPr>
              <a:t>speech act theory</a:t>
            </a:r>
          </a:p>
          <a:p>
            <a:r>
              <a:rPr lang="en-US" sz="3200" dirty="0"/>
              <a:t>Speech act theories are </a:t>
            </a:r>
            <a:r>
              <a:rPr lang="en-US" sz="3200" i="1" dirty="0">
                <a:solidFill>
                  <a:srgbClr val="003399"/>
                </a:solidFill>
              </a:rPr>
              <a:t>pragmatic</a:t>
            </a:r>
            <a:r>
              <a:rPr lang="en-US" sz="3200" i="1" dirty="0"/>
              <a:t> </a:t>
            </a:r>
            <a:r>
              <a:rPr lang="en-US" sz="3200" dirty="0"/>
              <a:t>theories of language, i.e., theories of language use: they attempt to account for how language is used by people every day to achieve their goals and intentions</a:t>
            </a:r>
          </a:p>
          <a:p>
            <a:r>
              <a:rPr lang="en-US" sz="3200" dirty="0"/>
              <a:t>The origin of speech act theories are usually traced to Austin’s 1962 book, </a:t>
            </a:r>
            <a:r>
              <a:rPr lang="en-US" sz="3200" i="1" dirty="0"/>
              <a:t>How to Do Things with Words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069"/>
            <a:ext cx="10515600" cy="966651"/>
          </a:xfrm>
        </p:spPr>
        <p:txBody>
          <a:bodyPr/>
          <a:lstStyle/>
          <a:p>
            <a:pPr algn="ctr"/>
            <a:r>
              <a:rPr lang="en-US" b="1" dirty="0"/>
              <a:t>Different Aspects of Speech Act</a:t>
            </a:r>
          </a:p>
        </p:txBody>
      </p:sp>
      <p:sp>
        <p:nvSpPr>
          <p:cNvPr id="3" name="Content Placeholder 2"/>
          <p:cNvSpPr>
            <a:spLocks noGrp="1"/>
          </p:cNvSpPr>
          <p:nvPr>
            <p:ph idx="1"/>
          </p:nvPr>
        </p:nvSpPr>
        <p:spPr>
          <a:xfrm>
            <a:off x="838200" y="1110343"/>
            <a:ext cx="10515600" cy="5066620"/>
          </a:xfrm>
        </p:spPr>
        <p:txBody>
          <a:bodyPr>
            <a:normAutofit/>
          </a:bodyPr>
          <a:lstStyle/>
          <a:p>
            <a:r>
              <a:rPr lang="en-US" sz="3200" i="1" dirty="0" err="1">
                <a:solidFill>
                  <a:srgbClr val="003399"/>
                </a:solidFill>
              </a:rPr>
              <a:t>Locutionary</a:t>
            </a:r>
            <a:r>
              <a:rPr lang="en-US" sz="3200" i="1" dirty="0">
                <a:solidFill>
                  <a:srgbClr val="003399"/>
                </a:solidFill>
              </a:rPr>
              <a:t> act:</a:t>
            </a:r>
            <a:r>
              <a:rPr lang="en-US" sz="3200" dirty="0"/>
              <a:t> The simple speech act of generating sounds that are linked together by grammatical conventions so as to say something meaningful.</a:t>
            </a:r>
          </a:p>
          <a:p>
            <a:r>
              <a:rPr lang="en-US" sz="3200" i="1" dirty="0">
                <a:solidFill>
                  <a:srgbClr val="003399"/>
                </a:solidFill>
              </a:rPr>
              <a:t>Illocutionary act:</a:t>
            </a:r>
            <a:r>
              <a:rPr lang="en-US" sz="3200" dirty="0"/>
              <a:t> The speech act of doing something else – offering advice or taking a vow.</a:t>
            </a:r>
          </a:p>
          <a:p>
            <a:r>
              <a:rPr lang="en-US" sz="3200" i="1" dirty="0" err="1">
                <a:solidFill>
                  <a:srgbClr val="003399"/>
                </a:solidFill>
              </a:rPr>
              <a:t>Perlocutionary</a:t>
            </a:r>
            <a:r>
              <a:rPr lang="en-US" sz="3200" i="1" dirty="0">
                <a:solidFill>
                  <a:srgbClr val="003399"/>
                </a:solidFill>
              </a:rPr>
              <a:t> act:</a:t>
            </a:r>
            <a:r>
              <a:rPr lang="en-US" sz="3200" dirty="0"/>
              <a:t> The speech act of having an effect on those who hear a meaningful utterance.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0446"/>
            <a:ext cx="10515600" cy="5876517"/>
          </a:xfrm>
        </p:spPr>
        <p:txBody>
          <a:bodyPr/>
          <a:lstStyle/>
          <a:p>
            <a:r>
              <a:rPr lang="en-US" dirty="0"/>
              <a:t>In general, a speech act can be seen to have two components:</a:t>
            </a:r>
          </a:p>
          <a:p>
            <a:pPr lvl="1"/>
            <a:r>
              <a:rPr lang="en-US" dirty="0"/>
              <a:t>a </a:t>
            </a:r>
            <a:r>
              <a:rPr lang="en-US" i="1" dirty="0" err="1">
                <a:solidFill>
                  <a:srgbClr val="003399"/>
                </a:solidFill>
              </a:rPr>
              <a:t>performative</a:t>
            </a:r>
            <a:r>
              <a:rPr lang="en-US" i="1" dirty="0">
                <a:solidFill>
                  <a:srgbClr val="003399"/>
                </a:solidFill>
              </a:rPr>
              <a:t> verb:</a:t>
            </a:r>
            <a:br>
              <a:rPr lang="en-US" dirty="0"/>
            </a:br>
            <a:r>
              <a:rPr lang="en-US" dirty="0"/>
              <a:t>(e.g., request, inform, promise, … )</a:t>
            </a:r>
          </a:p>
          <a:p>
            <a:pPr lvl="1"/>
            <a:r>
              <a:rPr lang="en-US" i="1" dirty="0">
                <a:solidFill>
                  <a:srgbClr val="003399"/>
                </a:solidFill>
              </a:rPr>
              <a:t>propositional content:</a:t>
            </a:r>
            <a:br>
              <a:rPr lang="en-US" i="1" dirty="0"/>
            </a:br>
            <a:r>
              <a:rPr lang="en-US" dirty="0"/>
              <a:t>(e.g., “the door is closed”)</a:t>
            </a:r>
          </a:p>
          <a:p>
            <a:pPr lvl="1">
              <a:buNone/>
            </a:pPr>
            <a:r>
              <a:rPr lang="en-US" b="1" dirty="0"/>
              <a:t>Examples:</a:t>
            </a:r>
          </a:p>
          <a:p>
            <a:pPr lvl="1"/>
            <a:r>
              <a:rPr lang="en-US" dirty="0" err="1"/>
              <a:t>performative</a:t>
            </a:r>
            <a:r>
              <a:rPr lang="en-US" dirty="0"/>
              <a:t> = request</a:t>
            </a:r>
            <a:br>
              <a:rPr lang="en-US" dirty="0"/>
            </a:br>
            <a:r>
              <a:rPr lang="en-US" dirty="0"/>
              <a:t>content = “the door is closed”</a:t>
            </a:r>
            <a:br>
              <a:rPr lang="en-US" dirty="0"/>
            </a:br>
            <a:r>
              <a:rPr lang="en-US" dirty="0"/>
              <a:t>speech act = “please close the door”</a:t>
            </a:r>
          </a:p>
          <a:p>
            <a:pPr lvl="1"/>
            <a:r>
              <a:rPr lang="en-US" dirty="0" err="1"/>
              <a:t>performative</a:t>
            </a:r>
            <a:r>
              <a:rPr lang="en-US" dirty="0"/>
              <a:t> = inform</a:t>
            </a:r>
            <a:br>
              <a:rPr lang="en-US" dirty="0"/>
            </a:br>
            <a:r>
              <a:rPr lang="en-US" dirty="0"/>
              <a:t>content = “the door is closed”</a:t>
            </a:r>
            <a:br>
              <a:rPr lang="en-US" dirty="0"/>
            </a:br>
            <a:r>
              <a:rPr lang="en-US" dirty="0"/>
              <a:t>speech act = “the door is closed!”</a:t>
            </a:r>
          </a:p>
          <a:p>
            <a:pPr lvl="1"/>
            <a:r>
              <a:rPr lang="en-US" dirty="0" err="1"/>
              <a:t>performative</a:t>
            </a:r>
            <a:r>
              <a:rPr lang="en-US" dirty="0"/>
              <a:t> = inquire</a:t>
            </a:r>
            <a:br>
              <a:rPr lang="en-US" dirty="0"/>
            </a:br>
            <a:r>
              <a:rPr lang="en-US" dirty="0"/>
              <a:t>content = “the door is closed”</a:t>
            </a:r>
            <a:br>
              <a:rPr lang="en-US" dirty="0"/>
            </a:br>
            <a:r>
              <a:rPr lang="en-US" dirty="0"/>
              <a:t>speech act = “is the door closed?”</a:t>
            </a:r>
          </a:p>
          <a:p>
            <a:pPr lvl="1">
              <a:buNone/>
            </a:pPr>
            <a:endParaRPr lang="en-US" dirty="0"/>
          </a:p>
          <a:p>
            <a:pPr lvl="1"/>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9006"/>
            <a:ext cx="10515600" cy="1058091"/>
          </a:xfrm>
        </p:spPr>
        <p:txBody>
          <a:bodyPr>
            <a:normAutofit/>
          </a:bodyPr>
          <a:lstStyle/>
          <a:p>
            <a:r>
              <a:rPr lang="en-US" b="1" dirty="0"/>
              <a:t>Agent Communication Languages</a:t>
            </a:r>
          </a:p>
        </p:txBody>
      </p:sp>
      <p:sp>
        <p:nvSpPr>
          <p:cNvPr id="3" name="Content Placeholder 2"/>
          <p:cNvSpPr>
            <a:spLocks noGrp="1"/>
          </p:cNvSpPr>
          <p:nvPr>
            <p:ph idx="1"/>
          </p:nvPr>
        </p:nvSpPr>
        <p:spPr>
          <a:xfrm>
            <a:off x="838200" y="1188720"/>
            <a:ext cx="10515600" cy="5316583"/>
          </a:xfrm>
        </p:spPr>
        <p:txBody>
          <a:bodyPr/>
          <a:lstStyle/>
          <a:p>
            <a:r>
              <a:rPr lang="en-US" sz="3200" dirty="0"/>
              <a:t>We now consider </a:t>
            </a:r>
            <a:r>
              <a:rPr lang="en-US" sz="3200" i="1" dirty="0"/>
              <a:t>agent communication languages </a:t>
            </a:r>
            <a:r>
              <a:rPr lang="en-US" sz="3200" dirty="0"/>
              <a:t>(ACLs) — standard formats for the exchange of messages</a:t>
            </a:r>
          </a:p>
          <a:p>
            <a:r>
              <a:rPr lang="en-US" sz="3200" dirty="0"/>
              <a:t>The best known ACL is KQML, developed by the ARPA knowledge sharing initiative</a:t>
            </a:r>
            <a:br>
              <a:rPr lang="en-US" sz="3200" dirty="0"/>
            </a:br>
            <a:r>
              <a:rPr lang="en-US" sz="3200" dirty="0"/>
              <a:t>KQML is comprised of two parts:</a:t>
            </a:r>
          </a:p>
          <a:p>
            <a:pPr lvl="1"/>
            <a:r>
              <a:rPr lang="en-US" sz="3200" dirty="0"/>
              <a:t>the knowledge query and manipulation language (KQML)</a:t>
            </a:r>
          </a:p>
          <a:p>
            <a:pPr lvl="1"/>
            <a:r>
              <a:rPr lang="en-US" sz="3200" dirty="0"/>
              <a:t>the knowledge interchange format (KIF)</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US" altLang="en-US"/>
              <a:t>8-</a:t>
            </a:r>
            <a:fld id="{A4D10378-C1ED-453B-AEBA-87B0EFDF9521}" type="slidenum">
              <a:rPr lang="en-US" altLang="en-US"/>
              <a:pPr>
                <a:defRPr/>
              </a:pPr>
              <a:t>21</a:t>
            </a:fld>
            <a:endParaRPr lang="en-US" altLang="en-US"/>
          </a:p>
        </p:txBody>
      </p:sp>
      <p:sp>
        <p:nvSpPr>
          <p:cNvPr id="16387" name="Rectangle 2"/>
          <p:cNvSpPr>
            <a:spLocks noGrp="1" noChangeArrowheads="1"/>
          </p:cNvSpPr>
          <p:nvPr>
            <p:ph type="title"/>
          </p:nvPr>
        </p:nvSpPr>
        <p:spPr/>
        <p:txBody>
          <a:bodyPr/>
          <a:lstStyle/>
          <a:p>
            <a:pPr algn="ctr" eaLnBrk="1" hangingPunct="1"/>
            <a:r>
              <a:rPr lang="en-US" b="1" dirty="0"/>
              <a:t>KQML and KIF</a:t>
            </a:r>
          </a:p>
        </p:txBody>
      </p:sp>
      <p:sp>
        <p:nvSpPr>
          <p:cNvPr id="16388" name="Rectangle 3"/>
          <p:cNvSpPr>
            <a:spLocks noGrp="1" noChangeArrowheads="1"/>
          </p:cNvSpPr>
          <p:nvPr>
            <p:ph type="body" idx="1"/>
          </p:nvPr>
        </p:nvSpPr>
        <p:spPr>
          <a:xfrm>
            <a:off x="406400" y="1724297"/>
            <a:ext cx="11582400" cy="4330429"/>
          </a:xfrm>
        </p:spPr>
        <p:txBody>
          <a:bodyPr/>
          <a:lstStyle/>
          <a:p>
            <a:pPr eaLnBrk="1" hangingPunct="1"/>
            <a:r>
              <a:rPr lang="en-US" sz="3200" dirty="0"/>
              <a:t>KQML is an ‘outer’ language, that defines various acceptable ‘communicative verbs’, or </a:t>
            </a:r>
            <a:r>
              <a:rPr lang="en-US" sz="3200" i="1" dirty="0" err="1">
                <a:solidFill>
                  <a:srgbClr val="003399"/>
                </a:solidFill>
              </a:rPr>
              <a:t>performatives</a:t>
            </a:r>
            <a:br>
              <a:rPr lang="en-US" sz="3200" dirty="0"/>
            </a:br>
            <a:r>
              <a:rPr lang="en-US" sz="3200" dirty="0"/>
              <a:t>Example </a:t>
            </a:r>
            <a:r>
              <a:rPr lang="en-US" sz="3200" dirty="0" err="1"/>
              <a:t>performatives</a:t>
            </a:r>
            <a:r>
              <a:rPr lang="en-US" sz="3200" dirty="0"/>
              <a:t>:</a:t>
            </a:r>
          </a:p>
          <a:p>
            <a:pPr lvl="1" eaLnBrk="1" hangingPunct="1"/>
            <a:r>
              <a:rPr lang="en-US" sz="2800" dirty="0">
                <a:latin typeface="Courier New" pitchFamily="49" charset="0"/>
                <a:cs typeface="Courier New" pitchFamily="49" charset="0"/>
              </a:rPr>
              <a:t>ask-if </a:t>
            </a:r>
            <a:r>
              <a:rPr lang="en-US" sz="2800" dirty="0"/>
              <a:t>(‘is it true that. . . ’)</a:t>
            </a:r>
          </a:p>
          <a:p>
            <a:pPr lvl="1" eaLnBrk="1" hangingPunct="1"/>
            <a:r>
              <a:rPr lang="en-US" sz="2800" dirty="0">
                <a:latin typeface="Courier New" pitchFamily="49" charset="0"/>
                <a:cs typeface="Courier New" pitchFamily="49" charset="0"/>
              </a:rPr>
              <a:t>perform </a:t>
            </a:r>
            <a:r>
              <a:rPr lang="en-US" sz="2800" dirty="0"/>
              <a:t>(‘please perform the following action. . . ’)</a:t>
            </a:r>
          </a:p>
          <a:p>
            <a:pPr lvl="1" eaLnBrk="1" hangingPunct="1"/>
            <a:r>
              <a:rPr lang="en-US" sz="2800" dirty="0">
                <a:latin typeface="Courier New" pitchFamily="49" charset="0"/>
                <a:cs typeface="Courier New" pitchFamily="49" charset="0"/>
              </a:rPr>
              <a:t>tell</a:t>
            </a:r>
            <a:r>
              <a:rPr lang="en-US" sz="2800" dirty="0"/>
              <a:t> (‘it is true that. . . ’)</a:t>
            </a:r>
          </a:p>
          <a:p>
            <a:pPr lvl="1" eaLnBrk="1" hangingPunct="1"/>
            <a:r>
              <a:rPr lang="en-US" sz="2800" dirty="0">
                <a:latin typeface="Courier New" pitchFamily="49" charset="0"/>
                <a:cs typeface="Courier New" pitchFamily="49" charset="0"/>
              </a:rPr>
              <a:t>reply</a:t>
            </a:r>
            <a:r>
              <a:rPr lang="en-US" sz="2800" dirty="0"/>
              <a:t> (‘the answer is . . . ’)</a:t>
            </a:r>
          </a:p>
          <a:p>
            <a:pPr eaLnBrk="1" hangingPunct="1"/>
            <a:r>
              <a:rPr lang="en-US" sz="3200" dirty="0"/>
              <a:t>KIF is a language for expressing message </a:t>
            </a:r>
            <a:r>
              <a:rPr lang="en-US" sz="3200" i="1" dirty="0">
                <a:solidFill>
                  <a:srgbClr val="003399"/>
                </a:solidFill>
              </a:rPr>
              <a:t>content</a:t>
            </a:r>
            <a:endParaRPr lang="en-US" i="1" dirty="0">
              <a:solidFill>
                <a:srgbClr val="00339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US" altLang="en-US"/>
              <a:t>8-</a:t>
            </a:r>
            <a:fld id="{C11719F3-792C-44A6-9324-02ACA99FED3C}" type="slidenum">
              <a:rPr lang="en-US" altLang="en-US"/>
              <a:pPr>
                <a:defRPr/>
              </a:pPr>
              <a:t>22</a:t>
            </a:fld>
            <a:endParaRPr lang="en-US" altLang="en-US"/>
          </a:p>
        </p:txBody>
      </p:sp>
      <p:sp>
        <p:nvSpPr>
          <p:cNvPr id="17411" name="Rectangle 2"/>
          <p:cNvSpPr>
            <a:spLocks noGrp="1" noChangeArrowheads="1"/>
          </p:cNvSpPr>
          <p:nvPr>
            <p:ph type="title"/>
          </p:nvPr>
        </p:nvSpPr>
        <p:spPr/>
        <p:txBody>
          <a:bodyPr/>
          <a:lstStyle/>
          <a:p>
            <a:pPr eaLnBrk="1" hangingPunct="1"/>
            <a:r>
              <a:rPr lang="en-US" dirty="0"/>
              <a:t>KIF – Knowledge Interchange Format </a:t>
            </a:r>
          </a:p>
        </p:txBody>
      </p:sp>
      <p:sp>
        <p:nvSpPr>
          <p:cNvPr id="17412" name="Rectangle 3"/>
          <p:cNvSpPr>
            <a:spLocks noGrp="1" noChangeArrowheads="1"/>
          </p:cNvSpPr>
          <p:nvPr>
            <p:ph type="body" idx="1"/>
          </p:nvPr>
        </p:nvSpPr>
        <p:spPr>
          <a:xfrm>
            <a:off x="609600" y="1685109"/>
            <a:ext cx="10972800" cy="4445817"/>
          </a:xfrm>
        </p:spPr>
        <p:txBody>
          <a:bodyPr>
            <a:normAutofit/>
          </a:bodyPr>
          <a:lstStyle/>
          <a:p>
            <a:pPr eaLnBrk="1" hangingPunct="1">
              <a:buFont typeface="Wingdings" pitchFamily="2" charset="2"/>
              <a:buNone/>
            </a:pPr>
            <a:r>
              <a:rPr lang="en-US" sz="3200" dirty="0"/>
              <a:t>Used to state:</a:t>
            </a:r>
          </a:p>
          <a:p>
            <a:pPr eaLnBrk="1" hangingPunct="1"/>
            <a:r>
              <a:rPr lang="en-US" sz="3200" dirty="0"/>
              <a:t>Properties of things in a domain (e.g., “Noam is chairman”)</a:t>
            </a:r>
          </a:p>
          <a:p>
            <a:pPr eaLnBrk="1" hangingPunct="1"/>
            <a:r>
              <a:rPr lang="en-US" sz="3200" dirty="0"/>
              <a:t>Relationships between things in a domain (e.g., “</a:t>
            </a:r>
            <a:r>
              <a:rPr lang="en-US" sz="3200" dirty="0" err="1"/>
              <a:t>Amnon</a:t>
            </a:r>
            <a:r>
              <a:rPr lang="en-US" sz="3200" dirty="0"/>
              <a:t> is Yael’s boss”)</a:t>
            </a:r>
          </a:p>
          <a:p>
            <a:pPr eaLnBrk="1" hangingPunct="1"/>
            <a:r>
              <a:rPr lang="en-US" sz="3200" dirty="0"/>
              <a:t>General properties of a domain (e.g., “All students are registered for at least one course”)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US" altLang="en-US"/>
              <a:t>8-</a:t>
            </a:r>
            <a:fld id="{EA955320-3359-4436-8F80-BAEC736997D5}" type="slidenum">
              <a:rPr lang="en-US" altLang="en-US"/>
              <a:pPr>
                <a:defRPr/>
              </a:pPr>
              <a:t>23</a:t>
            </a:fld>
            <a:endParaRPr lang="en-US" altLang="en-US"/>
          </a:p>
        </p:txBody>
      </p:sp>
      <p:sp>
        <p:nvSpPr>
          <p:cNvPr id="18435" name="Rectangle 2"/>
          <p:cNvSpPr>
            <a:spLocks noGrp="1" noChangeArrowheads="1"/>
          </p:cNvSpPr>
          <p:nvPr>
            <p:ph type="title"/>
          </p:nvPr>
        </p:nvSpPr>
        <p:spPr/>
        <p:txBody>
          <a:bodyPr/>
          <a:lstStyle/>
          <a:p>
            <a:pPr eaLnBrk="1" hangingPunct="1"/>
            <a:r>
              <a:rPr lang="en-US"/>
              <a:t>KIF – Knowledge Interchange Format</a:t>
            </a:r>
          </a:p>
        </p:txBody>
      </p:sp>
      <p:sp>
        <p:nvSpPr>
          <p:cNvPr id="18436" name="Rectangle 3"/>
          <p:cNvSpPr>
            <a:spLocks noGrp="1" noChangeArrowheads="1"/>
          </p:cNvSpPr>
          <p:nvPr>
            <p:ph type="body" idx="1"/>
          </p:nvPr>
        </p:nvSpPr>
        <p:spPr>
          <a:xfrm>
            <a:off x="609600" y="1606731"/>
            <a:ext cx="10972800" cy="4524195"/>
          </a:xfrm>
        </p:spPr>
        <p:txBody>
          <a:bodyPr>
            <a:normAutofit/>
          </a:bodyPr>
          <a:lstStyle/>
          <a:p>
            <a:pPr eaLnBrk="1" hangingPunct="1"/>
            <a:r>
              <a:rPr lang="en-US" sz="3200" dirty="0"/>
              <a:t>“The temperature of m1 is 83 Celsius”:</a:t>
            </a:r>
            <a:br>
              <a:rPr lang="en-US" sz="3200" dirty="0"/>
            </a:br>
            <a:r>
              <a:rPr lang="en-US" dirty="0">
                <a:latin typeface="Courier New" pitchFamily="49" charset="0"/>
                <a:cs typeface="Courier New" pitchFamily="49" charset="0"/>
              </a:rPr>
              <a:t>(= (temperature m1) (scalar 83 Celsius))</a:t>
            </a:r>
          </a:p>
          <a:p>
            <a:pPr eaLnBrk="1" hangingPunct="1"/>
            <a:r>
              <a:rPr lang="en-US" sz="3200" dirty="0"/>
              <a:t>“An object is a bachelor if the object is a man and is not married”:</a:t>
            </a:r>
            <a:br>
              <a:rPr lang="en-US" sz="3200" dirty="0"/>
            </a:br>
            <a:r>
              <a:rPr lang="en-US" dirty="0">
                <a:latin typeface="Courier New" pitchFamily="49" charset="0"/>
                <a:cs typeface="Courier New" pitchFamily="49" charset="0"/>
              </a:rPr>
              <a:t>(</a:t>
            </a:r>
            <a:r>
              <a:rPr lang="en-US" dirty="0" err="1">
                <a:latin typeface="Courier New" pitchFamily="49" charset="0"/>
                <a:cs typeface="Courier New" pitchFamily="49" charset="0"/>
              </a:rPr>
              <a:t>defrelation</a:t>
            </a:r>
            <a:r>
              <a:rPr lang="en-US" dirty="0">
                <a:latin typeface="Courier New" pitchFamily="49" charset="0"/>
                <a:cs typeface="Courier New" pitchFamily="49" charset="0"/>
              </a:rPr>
              <a:t> bachelor (?x) :=</a:t>
            </a:r>
            <a:br>
              <a:rPr lang="en-US" dirty="0">
                <a:latin typeface="Courier New" pitchFamily="49" charset="0"/>
                <a:cs typeface="Courier New" pitchFamily="49" charset="0"/>
              </a:rPr>
            </a:br>
            <a:r>
              <a:rPr lang="en-US" dirty="0">
                <a:latin typeface="Courier New" pitchFamily="49" charset="0"/>
                <a:cs typeface="Courier New" pitchFamily="49" charset="0"/>
              </a:rPr>
              <a:t>	(and (man ?x) (not (married ?x))))</a:t>
            </a:r>
          </a:p>
          <a:p>
            <a:pPr eaLnBrk="1" hangingPunct="1"/>
            <a:r>
              <a:rPr lang="en-US" sz="3200" dirty="0"/>
              <a:t>“Any individual with the property of being a person also has the property of being a mammal”:</a:t>
            </a:r>
            <a:br>
              <a:rPr lang="en-US" sz="3200" dirty="0"/>
            </a:br>
            <a:r>
              <a:rPr lang="en-US" dirty="0">
                <a:latin typeface="Courier New" pitchFamily="49" charset="0"/>
                <a:cs typeface="Courier New" pitchFamily="49" charset="0"/>
              </a:rPr>
              <a:t>(</a:t>
            </a:r>
            <a:r>
              <a:rPr lang="en-US" dirty="0" err="1">
                <a:latin typeface="Courier New" pitchFamily="49" charset="0"/>
                <a:cs typeface="Courier New" pitchFamily="49" charset="0"/>
              </a:rPr>
              <a:t>defrelation</a:t>
            </a:r>
            <a:r>
              <a:rPr lang="en-US" dirty="0">
                <a:latin typeface="Courier New" pitchFamily="49" charset="0"/>
                <a:cs typeface="Courier New" pitchFamily="49" charset="0"/>
              </a:rPr>
              <a:t> person (?x) :=&gt; (mammal ?x))</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r>
              <a:rPr lang="en-US" altLang="en-US"/>
              <a:t>8-</a:t>
            </a:r>
            <a:fld id="{F96891A5-B699-47FB-87BD-3A28846C2E35}" type="slidenum">
              <a:rPr lang="en-US" altLang="en-US"/>
              <a:pPr>
                <a:defRPr/>
              </a:pPr>
              <a:t>24</a:t>
            </a:fld>
            <a:endParaRPr lang="en-US" altLang="en-US"/>
          </a:p>
        </p:txBody>
      </p:sp>
      <p:sp>
        <p:nvSpPr>
          <p:cNvPr id="19459" name="Rectangle 2"/>
          <p:cNvSpPr>
            <a:spLocks noGrp="1" noChangeArrowheads="1"/>
          </p:cNvSpPr>
          <p:nvPr>
            <p:ph type="title"/>
          </p:nvPr>
        </p:nvSpPr>
        <p:spPr>
          <a:xfrm>
            <a:off x="838200" y="365126"/>
            <a:ext cx="10515600" cy="901972"/>
          </a:xfrm>
        </p:spPr>
        <p:txBody>
          <a:bodyPr/>
          <a:lstStyle/>
          <a:p>
            <a:pPr algn="ctr" eaLnBrk="1" hangingPunct="1"/>
            <a:r>
              <a:rPr lang="en-US" b="1" dirty="0"/>
              <a:t>KQML and KIF</a:t>
            </a:r>
          </a:p>
        </p:txBody>
      </p:sp>
      <p:sp>
        <p:nvSpPr>
          <p:cNvPr id="19460" name="Rectangle 3"/>
          <p:cNvSpPr>
            <a:spLocks noGrp="1" noChangeArrowheads="1"/>
          </p:cNvSpPr>
          <p:nvPr>
            <p:ph type="body" idx="1"/>
          </p:nvPr>
        </p:nvSpPr>
        <p:spPr>
          <a:xfrm>
            <a:off x="609600" y="1214847"/>
            <a:ext cx="11176000" cy="5368834"/>
          </a:xfrm>
        </p:spPr>
        <p:txBody>
          <a:bodyPr>
            <a:noAutofit/>
          </a:bodyPr>
          <a:lstStyle/>
          <a:p>
            <a:pPr eaLnBrk="1" hangingPunct="1"/>
            <a:r>
              <a:rPr lang="en-US" sz="3200" dirty="0"/>
              <a:t>In order to be able to communicate, agents must have agreed on a common set of terms</a:t>
            </a:r>
          </a:p>
          <a:p>
            <a:pPr eaLnBrk="1" hangingPunct="1"/>
            <a:r>
              <a:rPr lang="en-US" sz="3200" dirty="0"/>
              <a:t>A formal specification of a set of terms is known as an </a:t>
            </a:r>
            <a:r>
              <a:rPr lang="en-US" sz="3200" i="1" dirty="0">
                <a:solidFill>
                  <a:srgbClr val="003399"/>
                </a:solidFill>
              </a:rPr>
              <a:t>ontology</a:t>
            </a:r>
          </a:p>
          <a:p>
            <a:pPr eaLnBrk="1" hangingPunct="1"/>
            <a:r>
              <a:rPr lang="en-US" sz="3200" dirty="0"/>
              <a:t>The knowledge sharing effort has associated with it a large effort at defining common </a:t>
            </a:r>
            <a:r>
              <a:rPr lang="en-US" sz="3200" dirty="0" err="1"/>
              <a:t>ontologies</a:t>
            </a:r>
            <a:r>
              <a:rPr lang="en-US" sz="3200" dirty="0"/>
              <a:t> — software tools like </a:t>
            </a:r>
            <a:r>
              <a:rPr lang="en-US" sz="3200" dirty="0" err="1"/>
              <a:t>ontolingua</a:t>
            </a:r>
            <a:r>
              <a:rPr lang="en-US" sz="3200" dirty="0"/>
              <a:t> for this purpose</a:t>
            </a:r>
          </a:p>
          <a:p>
            <a:pPr eaLnBrk="1" hangingPunct="1"/>
            <a:r>
              <a:rPr lang="en-US" sz="3200" dirty="0"/>
              <a:t>Example KQML/KIF dialogue…</a:t>
            </a:r>
            <a:br>
              <a:rPr lang="en-US" sz="3200" dirty="0"/>
            </a:br>
            <a:r>
              <a:rPr lang="en-US" dirty="0">
                <a:latin typeface="Courier New" pitchFamily="49" charset="0"/>
                <a:cs typeface="Courier New" pitchFamily="49" charset="0"/>
              </a:rPr>
              <a:t>A to B: (ask-if (&gt; (size chip1) (size chip2)))</a:t>
            </a:r>
            <a:br>
              <a:rPr lang="en-US" dirty="0">
                <a:latin typeface="Courier New" pitchFamily="49" charset="0"/>
                <a:cs typeface="Courier New" pitchFamily="49" charset="0"/>
              </a:rPr>
            </a:br>
            <a:r>
              <a:rPr lang="en-US" dirty="0">
                <a:latin typeface="Courier New" pitchFamily="49" charset="0"/>
                <a:cs typeface="Courier New" pitchFamily="49" charset="0"/>
              </a:rPr>
              <a:t>B to A: (reply true)</a:t>
            </a:r>
            <a:br>
              <a:rPr lang="en-US" dirty="0">
                <a:latin typeface="Courier New" pitchFamily="49" charset="0"/>
                <a:cs typeface="Courier New" pitchFamily="49" charset="0"/>
              </a:rPr>
            </a:br>
            <a:r>
              <a:rPr lang="en-US" dirty="0">
                <a:latin typeface="Courier New" pitchFamily="49" charset="0"/>
                <a:cs typeface="Courier New" pitchFamily="49" charset="0"/>
              </a:rPr>
              <a:t>B to A: (inform (= (size chip1) 20))</a:t>
            </a:r>
            <a:br>
              <a:rPr lang="en-US" dirty="0">
                <a:latin typeface="Courier New" pitchFamily="49" charset="0"/>
                <a:cs typeface="Courier New" pitchFamily="49" charset="0"/>
              </a:rPr>
            </a:br>
            <a:r>
              <a:rPr lang="en-US" dirty="0">
                <a:latin typeface="Courier New" pitchFamily="49" charset="0"/>
                <a:cs typeface="Courier New" pitchFamily="49" charset="0"/>
              </a:rPr>
              <a:t>B to A: (inform (= (size chip2) 18))</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8BC58-C3A4-9653-262F-B32EC83610A8}"/>
              </a:ext>
            </a:extLst>
          </p:cNvPr>
          <p:cNvSpPr>
            <a:spLocks noGrp="1"/>
          </p:cNvSpPr>
          <p:nvPr>
            <p:ph type="title"/>
          </p:nvPr>
        </p:nvSpPr>
        <p:spPr>
          <a:xfrm>
            <a:off x="838200" y="0"/>
            <a:ext cx="10515600" cy="992777"/>
          </a:xfrm>
        </p:spPr>
        <p:txBody>
          <a:bodyPr>
            <a:noAutofit/>
          </a:bodyPr>
          <a:lstStyle/>
          <a:p>
            <a:pPr algn="ctr"/>
            <a:r>
              <a:rPr lang="en-IN" sz="3600" b="1" i="0" dirty="0">
                <a:solidFill>
                  <a:srgbClr val="0D0D0D"/>
                </a:solidFill>
                <a:effectLst/>
                <a:highlight>
                  <a:srgbClr val="FFFFFF"/>
                </a:highlight>
                <a:latin typeface="Söhne"/>
              </a:rPr>
              <a:t>SEVEN PROCESSES IN AGENT COMMUNICATION</a:t>
            </a:r>
            <a:endParaRPr lang="en-IN" sz="3600" b="1" dirty="0"/>
          </a:p>
        </p:txBody>
      </p:sp>
      <p:sp>
        <p:nvSpPr>
          <p:cNvPr id="3" name="Content Placeholder 2">
            <a:extLst>
              <a:ext uri="{FF2B5EF4-FFF2-40B4-BE49-F238E27FC236}">
                <a16:creationId xmlns:a16="http://schemas.microsoft.com/office/drawing/2014/main" id="{9781E24E-7064-FB56-7F6B-721A128D19A4}"/>
              </a:ext>
            </a:extLst>
          </p:cNvPr>
          <p:cNvSpPr>
            <a:spLocks noGrp="1"/>
          </p:cNvSpPr>
          <p:nvPr>
            <p:ph idx="1"/>
          </p:nvPr>
        </p:nvSpPr>
        <p:spPr>
          <a:xfrm>
            <a:off x="393539" y="1064870"/>
            <a:ext cx="11470512" cy="5607933"/>
          </a:xfrm>
        </p:spPr>
        <p:txBody>
          <a:bodyPr>
            <a:normAutofit fontScale="92500" lnSpcReduction="20000"/>
          </a:bodyPr>
          <a:lstStyle/>
          <a:p>
            <a:pPr algn="l">
              <a:buFont typeface="+mj-lt"/>
              <a:buAutoNum type="arabicPeriod"/>
            </a:pPr>
            <a:r>
              <a:rPr lang="en-US" b="1" i="0" dirty="0">
                <a:solidFill>
                  <a:srgbClr val="0D0D0D"/>
                </a:solidFill>
                <a:effectLst/>
                <a:highlight>
                  <a:srgbClr val="FFFFFF"/>
                </a:highlight>
                <a:latin typeface="Söhne"/>
              </a:rPr>
              <a:t>Perception</a:t>
            </a:r>
            <a:r>
              <a:rPr lang="en-US" b="0" i="0" dirty="0">
                <a:solidFill>
                  <a:srgbClr val="0D0D0D"/>
                </a:solidFill>
                <a:effectLst/>
                <a:highlight>
                  <a:srgbClr val="FFFFFF"/>
                </a:highlight>
                <a:latin typeface="Söhne"/>
              </a:rPr>
              <a:t>: Agents perceive their environment using sensors or by receiving messages from other agents.</a:t>
            </a:r>
          </a:p>
          <a:p>
            <a:pPr algn="l">
              <a:buFont typeface="+mj-lt"/>
              <a:buAutoNum type="arabicPeriod"/>
            </a:pPr>
            <a:r>
              <a:rPr lang="en-US" b="1" i="0" dirty="0">
                <a:solidFill>
                  <a:srgbClr val="0D0D0D"/>
                </a:solidFill>
                <a:effectLst/>
                <a:highlight>
                  <a:srgbClr val="FFFFFF"/>
                </a:highlight>
                <a:latin typeface="Söhne"/>
              </a:rPr>
              <a:t>Interpretation</a:t>
            </a:r>
            <a:r>
              <a:rPr lang="en-US" b="0" i="0" dirty="0">
                <a:solidFill>
                  <a:srgbClr val="0D0D0D"/>
                </a:solidFill>
                <a:effectLst/>
                <a:highlight>
                  <a:srgbClr val="FFFFFF"/>
                </a:highlight>
                <a:latin typeface="Söhne"/>
              </a:rPr>
              <a:t>: Agents interpret the received information, extracting relevant data and understanding its meaning in the context of their goals and tasks.</a:t>
            </a:r>
          </a:p>
          <a:p>
            <a:pPr algn="l">
              <a:buFont typeface="+mj-lt"/>
              <a:buAutoNum type="arabicPeriod"/>
            </a:pPr>
            <a:r>
              <a:rPr lang="en-US" b="1" i="0" dirty="0">
                <a:solidFill>
                  <a:srgbClr val="0D0D0D"/>
                </a:solidFill>
                <a:effectLst/>
                <a:highlight>
                  <a:srgbClr val="FFFFFF"/>
                </a:highlight>
                <a:latin typeface="Söhne"/>
              </a:rPr>
              <a:t>Deliberation</a:t>
            </a:r>
            <a:r>
              <a:rPr lang="en-US" b="0" i="0" dirty="0">
                <a:solidFill>
                  <a:srgbClr val="0D0D0D"/>
                </a:solidFill>
                <a:effectLst/>
                <a:highlight>
                  <a:srgbClr val="FFFFFF"/>
                </a:highlight>
                <a:latin typeface="Söhne"/>
              </a:rPr>
              <a:t>: Agents deliberate on the received information, making decisions and formulating plans based on their goals, beliefs, and preferences.</a:t>
            </a:r>
          </a:p>
          <a:p>
            <a:pPr algn="l">
              <a:buFont typeface="+mj-lt"/>
              <a:buAutoNum type="arabicPeriod"/>
            </a:pPr>
            <a:r>
              <a:rPr lang="en-US" b="1" i="0" dirty="0">
                <a:solidFill>
                  <a:srgbClr val="0D0D0D"/>
                </a:solidFill>
                <a:effectLst/>
                <a:highlight>
                  <a:srgbClr val="FFFFFF"/>
                </a:highlight>
                <a:latin typeface="Söhne"/>
              </a:rPr>
              <a:t>Action</a:t>
            </a:r>
            <a:r>
              <a:rPr lang="en-US" b="0" i="0" dirty="0">
                <a:solidFill>
                  <a:srgbClr val="0D0D0D"/>
                </a:solidFill>
                <a:effectLst/>
                <a:highlight>
                  <a:srgbClr val="FFFFFF"/>
                </a:highlight>
                <a:latin typeface="Söhne"/>
              </a:rPr>
              <a:t>: Agents take actions based on their deliberation, which could involve sending messages to other agents, modifying their environment, or performing other tasks.</a:t>
            </a:r>
          </a:p>
          <a:p>
            <a:pPr algn="l">
              <a:buFont typeface="+mj-lt"/>
              <a:buAutoNum type="arabicPeriod"/>
            </a:pPr>
            <a:r>
              <a:rPr lang="en-US" b="1" i="0" dirty="0">
                <a:solidFill>
                  <a:srgbClr val="0D0D0D"/>
                </a:solidFill>
                <a:effectLst/>
                <a:highlight>
                  <a:srgbClr val="FFFFFF"/>
                </a:highlight>
                <a:latin typeface="Söhne"/>
              </a:rPr>
              <a:t>Communication</a:t>
            </a:r>
            <a:r>
              <a:rPr lang="en-US" b="0" i="0" dirty="0">
                <a:solidFill>
                  <a:srgbClr val="0D0D0D"/>
                </a:solidFill>
                <a:effectLst/>
                <a:highlight>
                  <a:srgbClr val="FFFFFF"/>
                </a:highlight>
                <a:latin typeface="Söhne"/>
              </a:rPr>
              <a:t>: Agents communicate with each other by sending messages containing relevant information, requests, or responses.</a:t>
            </a:r>
          </a:p>
          <a:p>
            <a:pPr algn="l">
              <a:buFont typeface="+mj-lt"/>
              <a:buAutoNum type="arabicPeriod"/>
            </a:pPr>
            <a:r>
              <a:rPr lang="en-US" b="1" i="0" dirty="0">
                <a:solidFill>
                  <a:srgbClr val="0D0D0D"/>
                </a:solidFill>
                <a:effectLst/>
                <a:highlight>
                  <a:srgbClr val="FFFFFF"/>
                </a:highlight>
                <a:latin typeface="Söhne"/>
              </a:rPr>
              <a:t>Comprehension</a:t>
            </a:r>
            <a:r>
              <a:rPr lang="en-US" b="0" i="0" dirty="0">
                <a:solidFill>
                  <a:srgbClr val="0D0D0D"/>
                </a:solidFill>
                <a:effectLst/>
                <a:highlight>
                  <a:srgbClr val="FFFFFF"/>
                </a:highlight>
                <a:latin typeface="Söhne"/>
              </a:rPr>
              <a:t>: Agents comprehend the messages received from other agents, understanding their content and implications.</a:t>
            </a:r>
          </a:p>
          <a:p>
            <a:pPr algn="l">
              <a:buFont typeface="+mj-lt"/>
              <a:buAutoNum type="arabicPeriod"/>
            </a:pPr>
            <a:r>
              <a:rPr lang="en-US" b="1" i="0" dirty="0">
                <a:solidFill>
                  <a:srgbClr val="0D0D0D"/>
                </a:solidFill>
                <a:effectLst/>
                <a:highlight>
                  <a:srgbClr val="FFFFFF"/>
                </a:highlight>
                <a:latin typeface="Söhne"/>
              </a:rPr>
              <a:t>Response</a:t>
            </a:r>
            <a:r>
              <a:rPr lang="en-US" b="0" i="0" dirty="0">
                <a:solidFill>
                  <a:srgbClr val="0D0D0D"/>
                </a:solidFill>
                <a:effectLst/>
                <a:highlight>
                  <a:srgbClr val="FFFFFF"/>
                </a:highlight>
                <a:latin typeface="Söhne"/>
              </a:rPr>
              <a:t>: Agents respond to the messages they receive, either by taking appropriate actions, providing information, or engaging in further communication to clarify or negotiate.</a:t>
            </a:r>
          </a:p>
        </p:txBody>
      </p:sp>
    </p:spTree>
    <p:extLst>
      <p:ext uri="{BB962C8B-B14F-4D97-AF65-F5344CB8AC3E}">
        <p14:creationId xmlns:p14="http://schemas.microsoft.com/office/powerpoint/2010/main" val="59617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b="1" dirty="0"/>
              <a:t>Negotiation</a:t>
            </a:r>
          </a:p>
        </p:txBody>
      </p:sp>
      <p:pic>
        <p:nvPicPr>
          <p:cNvPr id="5" name="Content Placeholder 4" descr="3.JPG"/>
          <p:cNvPicPr>
            <a:picLocks noGrp="1" noChangeAspect="1"/>
          </p:cNvPicPr>
          <p:nvPr>
            <p:ph idx="1"/>
          </p:nvPr>
        </p:nvPicPr>
        <p:blipFill>
          <a:blip r:embed="rId2" cstate="print"/>
          <a:stretch>
            <a:fillRect/>
          </a:stretch>
        </p:blipFill>
        <p:spPr>
          <a:xfrm>
            <a:off x="1280161" y="1685109"/>
            <a:ext cx="9875520" cy="4950822"/>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4.JPG"/>
          <p:cNvPicPr>
            <a:picLocks noGrp="1" noChangeAspect="1"/>
          </p:cNvPicPr>
          <p:nvPr>
            <p:ph idx="1"/>
          </p:nvPr>
        </p:nvPicPr>
        <p:blipFill>
          <a:blip r:embed="rId2" cstate="print"/>
          <a:stretch>
            <a:fillRect/>
          </a:stretch>
        </p:blipFill>
        <p:spPr>
          <a:xfrm>
            <a:off x="587829" y="522513"/>
            <a:ext cx="10907485" cy="5799909"/>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5.JPG"/>
          <p:cNvPicPr>
            <a:picLocks noGrp="1" noChangeAspect="1"/>
          </p:cNvPicPr>
          <p:nvPr>
            <p:ph idx="1"/>
          </p:nvPr>
        </p:nvPicPr>
        <p:blipFill>
          <a:blip r:embed="rId2" cstate="print"/>
          <a:stretch>
            <a:fillRect/>
          </a:stretch>
        </p:blipFill>
        <p:spPr>
          <a:xfrm>
            <a:off x="705393" y="470263"/>
            <a:ext cx="10829109" cy="6021977"/>
          </a:xfr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FBB5D-891D-29D8-7780-48F7E111D576}"/>
              </a:ext>
            </a:extLst>
          </p:cNvPr>
          <p:cNvSpPr>
            <a:spLocks noGrp="1"/>
          </p:cNvSpPr>
          <p:nvPr>
            <p:ph type="title"/>
          </p:nvPr>
        </p:nvSpPr>
        <p:spPr/>
        <p:txBody>
          <a:bodyPr/>
          <a:lstStyle/>
          <a:p>
            <a:pPr algn="ctr"/>
            <a:r>
              <a:rPr lang="en-US" b="1" dirty="0"/>
              <a:t>Negotiation</a:t>
            </a:r>
            <a:endParaRPr lang="en-IN" b="1" dirty="0"/>
          </a:p>
        </p:txBody>
      </p:sp>
      <p:sp>
        <p:nvSpPr>
          <p:cNvPr id="3" name="Content Placeholder 2">
            <a:extLst>
              <a:ext uri="{FF2B5EF4-FFF2-40B4-BE49-F238E27FC236}">
                <a16:creationId xmlns:a16="http://schemas.microsoft.com/office/drawing/2014/main" id="{BE0EACE6-D1A1-4020-3339-2FCF6B1E1EA0}"/>
              </a:ext>
            </a:extLst>
          </p:cNvPr>
          <p:cNvSpPr>
            <a:spLocks noGrp="1"/>
          </p:cNvSpPr>
          <p:nvPr>
            <p:ph idx="1"/>
          </p:nvPr>
        </p:nvSpPr>
        <p:spPr/>
        <p:txBody>
          <a:bodyPr>
            <a:normAutofit/>
          </a:bodyPr>
          <a:lstStyle/>
          <a:p>
            <a:r>
              <a:rPr lang="en-US" dirty="0"/>
              <a:t>An example is the "Internet downloading domain," where each agent is given a list of documents that it must access over the Internet. </a:t>
            </a:r>
          </a:p>
          <a:p>
            <a:r>
              <a:rPr lang="en-US" dirty="0"/>
              <a:t>There is a cost associated with downloading, which each agent would like to minimize. </a:t>
            </a:r>
          </a:p>
          <a:p>
            <a:r>
              <a:rPr lang="en-US" dirty="0"/>
              <a:t>If a document is common to several agents, then they can save downloading cost by accessing the document once and then sharing it.</a:t>
            </a:r>
          </a:p>
        </p:txBody>
      </p:sp>
    </p:spTree>
    <p:extLst>
      <p:ext uri="{BB962C8B-B14F-4D97-AF65-F5344CB8AC3E}">
        <p14:creationId xmlns:p14="http://schemas.microsoft.com/office/powerpoint/2010/main" val="41235325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E1881B-31AB-57BE-D796-AD4A32B07657}"/>
              </a:ext>
            </a:extLst>
          </p:cNvPr>
          <p:cNvSpPr>
            <a:spLocks noGrp="1"/>
          </p:cNvSpPr>
          <p:nvPr>
            <p:ph idx="1"/>
          </p:nvPr>
        </p:nvSpPr>
        <p:spPr>
          <a:xfrm>
            <a:off x="838200" y="659757"/>
            <a:ext cx="10515600" cy="5517206"/>
          </a:xfrm>
        </p:spPr>
        <p:txBody>
          <a:bodyPr/>
          <a:lstStyle/>
          <a:p>
            <a:r>
              <a:rPr lang="en-US" dirty="0"/>
              <a:t>The environment might provide the following simple negotiation mechanism and constraints: </a:t>
            </a:r>
          </a:p>
          <a:p>
            <a:pPr marL="0" indent="0">
              <a:buNone/>
            </a:pPr>
            <a:r>
              <a:rPr lang="en-US" dirty="0"/>
              <a:t>(1) each agent declares the documents it wants </a:t>
            </a:r>
          </a:p>
          <a:p>
            <a:pPr marL="0" indent="0">
              <a:buNone/>
            </a:pPr>
            <a:r>
              <a:rPr lang="en-US" dirty="0"/>
              <a:t>(2) documents found to be common to two or more agents are assigned to agents based on the toss of a coin, </a:t>
            </a:r>
          </a:p>
          <a:p>
            <a:pPr marL="0" indent="0">
              <a:buNone/>
            </a:pPr>
            <a:r>
              <a:rPr lang="en-US" dirty="0"/>
              <a:t>(3) agents pay for the documents they download, and </a:t>
            </a:r>
          </a:p>
          <a:p>
            <a:pPr marL="0" indent="0">
              <a:buNone/>
            </a:pPr>
            <a:r>
              <a:rPr lang="en-US" dirty="0"/>
              <a:t>(4) agents are granted access to the documents they download. as well as any in their common sets. This mechanism is simple, symmetric, distributed, and efficient (no document is downloaded twice). To determine stability, the agents' strategies must be considered. </a:t>
            </a:r>
            <a:endParaRPr lang="en-IN" dirty="0"/>
          </a:p>
          <a:p>
            <a:endParaRPr lang="en-IN" dirty="0"/>
          </a:p>
        </p:txBody>
      </p:sp>
    </p:spTree>
    <p:extLst>
      <p:ext uri="{BB962C8B-B14F-4D97-AF65-F5344CB8AC3E}">
        <p14:creationId xmlns:p14="http://schemas.microsoft.com/office/powerpoint/2010/main" val="1301929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7EEED-7B9F-BE7D-88A6-FA7606788366}"/>
              </a:ext>
            </a:extLst>
          </p:cNvPr>
          <p:cNvSpPr>
            <a:spLocks noGrp="1"/>
          </p:cNvSpPr>
          <p:nvPr>
            <p:ph type="title"/>
          </p:nvPr>
        </p:nvSpPr>
        <p:spPr>
          <a:xfrm>
            <a:off x="838200" y="173621"/>
            <a:ext cx="10515600" cy="868101"/>
          </a:xfrm>
        </p:spPr>
        <p:txBody>
          <a:bodyPr/>
          <a:lstStyle/>
          <a:p>
            <a:r>
              <a:rPr lang="en-US" b="1" dirty="0"/>
              <a:t>SINGLE-ISSUE NEGOTATION</a:t>
            </a:r>
            <a:endParaRPr lang="en-IN" b="1" dirty="0"/>
          </a:p>
        </p:txBody>
      </p:sp>
      <p:sp>
        <p:nvSpPr>
          <p:cNvPr id="3" name="Content Placeholder 2">
            <a:extLst>
              <a:ext uri="{FF2B5EF4-FFF2-40B4-BE49-F238E27FC236}">
                <a16:creationId xmlns:a16="http://schemas.microsoft.com/office/drawing/2014/main" id="{C8280925-5884-8CB6-9ACE-8FB48DD1B9A4}"/>
              </a:ext>
            </a:extLst>
          </p:cNvPr>
          <p:cNvSpPr>
            <a:spLocks noGrp="1"/>
          </p:cNvSpPr>
          <p:nvPr>
            <p:ph idx="1"/>
          </p:nvPr>
        </p:nvSpPr>
        <p:spPr>
          <a:xfrm>
            <a:off x="838200" y="1041722"/>
            <a:ext cx="10515600" cy="5135241"/>
          </a:xfrm>
        </p:spPr>
        <p:txBody>
          <a:bodyPr/>
          <a:lstStyle/>
          <a:p>
            <a:pPr marL="0" indent="0">
              <a:buNone/>
            </a:pPr>
            <a:r>
              <a:rPr lang="en-US" b="1" dirty="0"/>
              <a:t>Cooperative Game:</a:t>
            </a:r>
          </a:p>
          <a:p>
            <a:pPr marL="0" indent="0">
              <a:buNone/>
            </a:pPr>
            <a:endParaRPr lang="en-US" b="1" dirty="0"/>
          </a:p>
          <a:p>
            <a:pPr marL="0" indent="0">
              <a:buNone/>
            </a:pPr>
            <a:endParaRPr lang="en-IN" dirty="0"/>
          </a:p>
        </p:txBody>
      </p:sp>
      <p:pic>
        <p:nvPicPr>
          <p:cNvPr id="5" name="Picture 4" descr="A white rectangular object with black text&#10;&#10;Description automatically generated">
            <a:extLst>
              <a:ext uri="{FF2B5EF4-FFF2-40B4-BE49-F238E27FC236}">
                <a16:creationId xmlns:a16="http://schemas.microsoft.com/office/drawing/2014/main" id="{1A75E6E3-D899-6C22-A2C5-F22BEC7B44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14937" y="1603512"/>
            <a:ext cx="7372402" cy="4028661"/>
          </a:xfrm>
          <a:prstGeom prst="rect">
            <a:avLst/>
          </a:prstGeom>
        </p:spPr>
      </p:pic>
    </p:spTree>
    <p:extLst>
      <p:ext uri="{BB962C8B-B14F-4D97-AF65-F5344CB8AC3E}">
        <p14:creationId xmlns:p14="http://schemas.microsoft.com/office/powerpoint/2010/main" val="28563590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EC2572-6593-3FCA-8521-CB2397413ED6}"/>
              </a:ext>
            </a:extLst>
          </p:cNvPr>
          <p:cNvSpPr>
            <a:spLocks noGrp="1"/>
          </p:cNvSpPr>
          <p:nvPr>
            <p:ph idx="1"/>
          </p:nvPr>
        </p:nvSpPr>
        <p:spPr>
          <a:xfrm>
            <a:off x="838200" y="861391"/>
            <a:ext cx="10515600" cy="5315572"/>
          </a:xfrm>
        </p:spPr>
        <p:txBody>
          <a:bodyPr/>
          <a:lstStyle/>
          <a:p>
            <a:pPr marL="0" indent="0">
              <a:buNone/>
            </a:pPr>
            <a:r>
              <a:rPr lang="en-US" b="1" dirty="0"/>
              <a:t>Non Cooperative Game:</a:t>
            </a:r>
          </a:p>
          <a:p>
            <a:pPr marL="0" indent="0">
              <a:buNone/>
            </a:pPr>
            <a:endParaRPr lang="en-IN" b="1" dirty="0"/>
          </a:p>
        </p:txBody>
      </p:sp>
      <p:pic>
        <p:nvPicPr>
          <p:cNvPr id="5" name="Picture 4" descr="A white rectangular sign with black text&#10;&#10;Description automatically generated">
            <a:extLst>
              <a:ext uri="{FF2B5EF4-FFF2-40B4-BE49-F238E27FC236}">
                <a16:creationId xmlns:a16="http://schemas.microsoft.com/office/drawing/2014/main" id="{F85C0B61-FEFF-4E0A-D953-1C53E1E252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8400" y="1643270"/>
            <a:ext cx="6997148" cy="3962400"/>
          </a:xfrm>
          <a:prstGeom prst="rect">
            <a:avLst/>
          </a:prstGeom>
        </p:spPr>
      </p:pic>
    </p:spTree>
    <p:extLst>
      <p:ext uri="{BB962C8B-B14F-4D97-AF65-F5344CB8AC3E}">
        <p14:creationId xmlns:p14="http://schemas.microsoft.com/office/powerpoint/2010/main" val="1066190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97B38-34DC-8AE2-C282-668EF48F01B1}"/>
              </a:ext>
            </a:extLst>
          </p:cNvPr>
          <p:cNvSpPr>
            <a:spLocks noGrp="1"/>
          </p:cNvSpPr>
          <p:nvPr>
            <p:ph type="title"/>
          </p:nvPr>
        </p:nvSpPr>
        <p:spPr/>
        <p:txBody>
          <a:bodyPr/>
          <a:lstStyle/>
          <a:p>
            <a:r>
              <a:rPr lang="en-US" b="1" dirty="0"/>
              <a:t>MULTI-ISSUE NEGOTIATION</a:t>
            </a:r>
            <a:endParaRPr lang="en-IN" b="1" dirty="0"/>
          </a:p>
        </p:txBody>
      </p:sp>
      <p:sp>
        <p:nvSpPr>
          <p:cNvPr id="3" name="Content Placeholder 2">
            <a:extLst>
              <a:ext uri="{FF2B5EF4-FFF2-40B4-BE49-F238E27FC236}">
                <a16:creationId xmlns:a16="http://schemas.microsoft.com/office/drawing/2014/main" id="{41CA69E0-CA83-A91A-89D6-1B4156FB490D}"/>
              </a:ext>
            </a:extLst>
          </p:cNvPr>
          <p:cNvSpPr>
            <a:spLocks noGrp="1"/>
          </p:cNvSpPr>
          <p:nvPr>
            <p:ph idx="1"/>
          </p:nvPr>
        </p:nvSpPr>
        <p:spPr/>
        <p:txBody>
          <a:bodyPr>
            <a:normAutofit/>
          </a:bodyPr>
          <a:lstStyle/>
          <a:p>
            <a:r>
              <a:rPr lang="en-US" sz="3200" dirty="0"/>
              <a:t>GAME-THEORETIC APPROACHES FOR MULTI-ISSUE NEGOTIATION</a:t>
            </a:r>
          </a:p>
          <a:p>
            <a:r>
              <a:rPr lang="en-US" sz="3200" dirty="0"/>
              <a:t>COOPERATIVE MODELS OF MULTI-ISSUE NEGOTIATION</a:t>
            </a:r>
          </a:p>
          <a:p>
            <a:r>
              <a:rPr lang="en-US" sz="3200" dirty="0"/>
              <a:t>NON-COOPERATIVE MODELS OF MULTI-ISSUE NEGOTIATION</a:t>
            </a:r>
            <a:endParaRPr lang="en-IN" sz="3200" b="1" dirty="0"/>
          </a:p>
        </p:txBody>
      </p:sp>
    </p:spTree>
    <p:extLst>
      <p:ext uri="{BB962C8B-B14F-4D97-AF65-F5344CB8AC3E}">
        <p14:creationId xmlns:p14="http://schemas.microsoft.com/office/powerpoint/2010/main" val="16530733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D6A09-3038-F585-86EE-C40A99FE1CD2}"/>
              </a:ext>
            </a:extLst>
          </p:cNvPr>
          <p:cNvSpPr>
            <a:spLocks noGrp="1"/>
          </p:cNvSpPr>
          <p:nvPr>
            <p:ph type="title"/>
          </p:nvPr>
        </p:nvSpPr>
        <p:spPr>
          <a:xfrm>
            <a:off x="838200" y="185195"/>
            <a:ext cx="10515600" cy="1180619"/>
          </a:xfrm>
        </p:spPr>
        <p:txBody>
          <a:bodyPr>
            <a:normAutofit fontScale="90000"/>
          </a:bodyPr>
          <a:lstStyle/>
          <a:p>
            <a:r>
              <a:rPr lang="en-US" sz="4400" b="1" dirty="0"/>
              <a:t>GAME-THEORETIC APPROACHES FOR MULTI-ISSUE NEGOTIATION</a:t>
            </a:r>
            <a:endParaRPr lang="en-IN" b="1" dirty="0"/>
          </a:p>
        </p:txBody>
      </p:sp>
      <p:sp>
        <p:nvSpPr>
          <p:cNvPr id="3" name="Content Placeholder 2">
            <a:extLst>
              <a:ext uri="{FF2B5EF4-FFF2-40B4-BE49-F238E27FC236}">
                <a16:creationId xmlns:a16="http://schemas.microsoft.com/office/drawing/2014/main" id="{336D99F5-FA4D-6A04-CFE2-0474D68FE4E3}"/>
              </a:ext>
            </a:extLst>
          </p:cNvPr>
          <p:cNvSpPr>
            <a:spLocks noGrp="1"/>
          </p:cNvSpPr>
          <p:nvPr>
            <p:ph idx="1"/>
          </p:nvPr>
        </p:nvSpPr>
        <p:spPr/>
        <p:txBody>
          <a:bodyPr>
            <a:normAutofit/>
          </a:bodyPr>
          <a:lstStyle/>
          <a:p>
            <a:r>
              <a:rPr lang="en-US" dirty="0"/>
              <a:t>The following are the four key procedures for bargaining over multiple issue: </a:t>
            </a:r>
          </a:p>
          <a:p>
            <a:pPr marL="514350" indent="-514350">
              <a:buAutoNum type="arabicPeriod"/>
            </a:pPr>
            <a:r>
              <a:rPr lang="en-US" b="1" dirty="0"/>
              <a:t>Global bargaining: </a:t>
            </a:r>
          </a:p>
          <a:p>
            <a:pPr marL="0" indent="0">
              <a:buNone/>
            </a:pPr>
            <a:r>
              <a:rPr lang="en-US" dirty="0"/>
              <a:t>Here, the bargaining agents directly tackle the global problem in which all the issues are addressed at once. In the context of non-cooperative theory, the global bargaining procedure is also called the package deal procedure. In this procedure, an offer from one agent to the other would specify how each one of the issues is to be resolved. </a:t>
            </a:r>
          </a:p>
        </p:txBody>
      </p:sp>
    </p:spTree>
    <p:extLst>
      <p:ext uri="{BB962C8B-B14F-4D97-AF65-F5344CB8AC3E}">
        <p14:creationId xmlns:p14="http://schemas.microsoft.com/office/powerpoint/2010/main" val="2360761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D7F6C5-1A99-CABC-B420-B866E60A4DA1}"/>
              </a:ext>
            </a:extLst>
          </p:cNvPr>
          <p:cNvSpPr>
            <a:spLocks noGrp="1"/>
          </p:cNvSpPr>
          <p:nvPr>
            <p:ph idx="1"/>
          </p:nvPr>
        </p:nvSpPr>
        <p:spPr>
          <a:xfrm>
            <a:off x="838200" y="347241"/>
            <a:ext cx="10515600" cy="5829722"/>
          </a:xfrm>
        </p:spPr>
        <p:txBody>
          <a:bodyPr>
            <a:normAutofit/>
          </a:bodyPr>
          <a:lstStyle/>
          <a:p>
            <a:pPr marL="0" indent="0">
              <a:buNone/>
            </a:pPr>
            <a:r>
              <a:rPr lang="en-US" sz="3200" b="1" dirty="0"/>
              <a:t>2. Independent/separate bargaining: </a:t>
            </a:r>
          </a:p>
          <a:p>
            <a:pPr marL="0" indent="0">
              <a:buNone/>
            </a:pPr>
            <a:r>
              <a:rPr lang="en-US" sz="3200" dirty="0"/>
              <a:t>Here negotiations over the individual issues are totally separate and independent, with each having no effect on the other. This would be the case if each of the two parties employed m agents (for negotiating over m issues), with each agent in charge of negotiating one issue. For example, in negotiations between two countries, each issue may be resolved by representatives from the countries who care only about their individual issue. </a:t>
            </a:r>
            <a:endParaRPr lang="en-IN" sz="3200" dirty="0"/>
          </a:p>
        </p:txBody>
      </p:sp>
    </p:spTree>
    <p:extLst>
      <p:ext uri="{BB962C8B-B14F-4D97-AF65-F5344CB8AC3E}">
        <p14:creationId xmlns:p14="http://schemas.microsoft.com/office/powerpoint/2010/main" val="3982215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8666DE-711A-7478-2AB4-3B6D2AECB91D}"/>
              </a:ext>
            </a:extLst>
          </p:cNvPr>
          <p:cNvSpPr>
            <a:spLocks noGrp="1"/>
          </p:cNvSpPr>
          <p:nvPr>
            <p:ph idx="1"/>
          </p:nvPr>
        </p:nvSpPr>
        <p:spPr>
          <a:xfrm>
            <a:off x="838200" y="358815"/>
            <a:ext cx="10515600" cy="5818148"/>
          </a:xfrm>
        </p:spPr>
        <p:txBody>
          <a:bodyPr>
            <a:normAutofit fontScale="92500"/>
          </a:bodyPr>
          <a:lstStyle/>
          <a:p>
            <a:pPr marL="0" indent="0">
              <a:buNone/>
            </a:pPr>
            <a:r>
              <a:rPr lang="en-US" sz="3200" b="1" dirty="0"/>
              <a:t>3. Sequential bargaining with independent implementation: </a:t>
            </a:r>
          </a:p>
          <a:p>
            <a:pPr marL="0" indent="0">
              <a:buNone/>
            </a:pPr>
            <a:r>
              <a:rPr lang="en-US" sz="3200" dirty="0"/>
              <a:t>Here the two parties consider one issue at a time. For instance, they may negotiate over the first issue, and after reaching an agreement on it, move on to negotiate the second, and so on. Here, the parties may not negotiate an issue until the previous one is resolved. There are several forms of the sequential procedure. These are defined in terms of the agenda and the implementation rule. For sequential bargaining, the agenda3 specifies the order in which the issues will be bargained. The implementation rule specifies when an agreement on an individual issue goes into effect. There are two implementation rules: the rule of independent implementation and the rule of simultaneous implementation. </a:t>
            </a:r>
            <a:endParaRPr lang="en-IN" sz="3200" dirty="0"/>
          </a:p>
        </p:txBody>
      </p:sp>
    </p:spTree>
    <p:extLst>
      <p:ext uri="{BB962C8B-B14F-4D97-AF65-F5344CB8AC3E}">
        <p14:creationId xmlns:p14="http://schemas.microsoft.com/office/powerpoint/2010/main" val="10861582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96C71B-8769-D615-4BBB-697C3C430207}"/>
              </a:ext>
            </a:extLst>
          </p:cNvPr>
          <p:cNvSpPr>
            <a:spLocks noGrp="1"/>
          </p:cNvSpPr>
          <p:nvPr>
            <p:ph idx="1"/>
          </p:nvPr>
        </p:nvSpPr>
        <p:spPr>
          <a:xfrm>
            <a:off x="838200" y="520861"/>
            <a:ext cx="10515600" cy="5656102"/>
          </a:xfrm>
        </p:spPr>
        <p:txBody>
          <a:bodyPr/>
          <a:lstStyle/>
          <a:p>
            <a:pPr marL="0" indent="0">
              <a:buNone/>
            </a:pPr>
            <a:r>
              <a:rPr lang="en-US" sz="3200" b="1" dirty="0"/>
              <a:t>4. Sequential bargaining with simultaneous implementation: </a:t>
            </a:r>
          </a:p>
          <a:p>
            <a:pPr marL="0" indent="0">
              <a:buNone/>
            </a:pPr>
            <a:r>
              <a:rPr lang="en-US" sz="3200" dirty="0"/>
              <a:t>This is similar to the previous case except that now an agreement on an issue does not take effect until an agreement is reached on all the subsequent issues.</a:t>
            </a:r>
            <a:endParaRPr lang="en-IN" sz="3200" dirty="0"/>
          </a:p>
          <a:p>
            <a:endParaRPr lang="en-IN" dirty="0"/>
          </a:p>
        </p:txBody>
      </p:sp>
    </p:spTree>
    <p:extLst>
      <p:ext uri="{BB962C8B-B14F-4D97-AF65-F5344CB8AC3E}">
        <p14:creationId xmlns:p14="http://schemas.microsoft.com/office/powerpoint/2010/main" val="17027472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9EC47-51B2-7519-9399-F3254E57A337}"/>
              </a:ext>
            </a:extLst>
          </p:cNvPr>
          <p:cNvSpPr>
            <a:spLocks noGrp="1"/>
          </p:cNvSpPr>
          <p:nvPr>
            <p:ph type="title"/>
          </p:nvPr>
        </p:nvSpPr>
        <p:spPr>
          <a:xfrm>
            <a:off x="838200" y="365125"/>
            <a:ext cx="10515600" cy="1162733"/>
          </a:xfrm>
        </p:spPr>
        <p:txBody>
          <a:bodyPr>
            <a:normAutofit fontScale="90000"/>
          </a:bodyPr>
          <a:lstStyle/>
          <a:p>
            <a:r>
              <a:rPr lang="en-US" sz="4400" b="1" dirty="0"/>
              <a:t>COOPERATIVE MODELS OF MULTI-ISSUE NEGOTIATION</a:t>
            </a:r>
            <a:endParaRPr lang="en-IN" b="1" dirty="0"/>
          </a:p>
        </p:txBody>
      </p:sp>
      <p:sp>
        <p:nvSpPr>
          <p:cNvPr id="3" name="Content Placeholder 2">
            <a:extLst>
              <a:ext uri="{FF2B5EF4-FFF2-40B4-BE49-F238E27FC236}">
                <a16:creationId xmlns:a16="http://schemas.microsoft.com/office/drawing/2014/main" id="{F3F37353-66F7-5220-9E70-49CECFBD54A4}"/>
              </a:ext>
            </a:extLst>
          </p:cNvPr>
          <p:cNvSpPr>
            <a:spLocks noGrp="1"/>
          </p:cNvSpPr>
          <p:nvPr>
            <p:ph idx="1"/>
          </p:nvPr>
        </p:nvSpPr>
        <p:spPr/>
        <p:txBody>
          <a:bodyPr/>
          <a:lstStyle/>
          <a:p>
            <a:r>
              <a:rPr lang="en-US" dirty="0"/>
              <a:t>Simultaneous implementation agenda independence: This axiom states that global bargaining and sequential bargaining with simultaneous implementation yield the same agreement. </a:t>
            </a:r>
          </a:p>
          <a:p>
            <a:r>
              <a:rPr lang="en-US" dirty="0"/>
              <a:t>Independent implementation agenda independence: This axiom states that global bargaining and sequential bargaining with independent implementation yield the same agreement.</a:t>
            </a:r>
          </a:p>
          <a:p>
            <a:r>
              <a:rPr lang="en-US" dirty="0"/>
              <a:t>Separate/global equivalence: This axiom states that global bargaining and separate bargaining yield the same agreement. </a:t>
            </a:r>
            <a:endParaRPr lang="en-IN" dirty="0"/>
          </a:p>
        </p:txBody>
      </p:sp>
    </p:spTree>
    <p:extLst>
      <p:ext uri="{BB962C8B-B14F-4D97-AF65-F5344CB8AC3E}">
        <p14:creationId xmlns:p14="http://schemas.microsoft.com/office/powerpoint/2010/main" val="30638782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9C0DF-9ACA-8278-4A36-967D606CED5B}"/>
              </a:ext>
            </a:extLst>
          </p:cNvPr>
          <p:cNvSpPr>
            <a:spLocks noGrp="1"/>
          </p:cNvSpPr>
          <p:nvPr>
            <p:ph type="title"/>
          </p:nvPr>
        </p:nvSpPr>
        <p:spPr/>
        <p:txBody>
          <a:bodyPr/>
          <a:lstStyle/>
          <a:p>
            <a:r>
              <a:rPr lang="en-US" b="1" dirty="0"/>
              <a:t>NON-COOPERATIVE MODELS OF MULTI-ISSUE NEGOTIATION</a:t>
            </a:r>
            <a:endParaRPr lang="en-IN" b="1" dirty="0"/>
          </a:p>
        </p:txBody>
      </p:sp>
      <p:sp>
        <p:nvSpPr>
          <p:cNvPr id="3" name="Content Placeholder 2">
            <a:extLst>
              <a:ext uri="{FF2B5EF4-FFF2-40B4-BE49-F238E27FC236}">
                <a16:creationId xmlns:a16="http://schemas.microsoft.com/office/drawing/2014/main" id="{AE7F627B-179E-003D-C1AB-11D67A19B228}"/>
              </a:ext>
            </a:extLst>
          </p:cNvPr>
          <p:cNvSpPr>
            <a:spLocks noGrp="1"/>
          </p:cNvSpPr>
          <p:nvPr>
            <p:ph idx="1"/>
          </p:nvPr>
        </p:nvSpPr>
        <p:spPr>
          <a:xfrm>
            <a:off x="838200" y="1690688"/>
            <a:ext cx="10515600" cy="4802187"/>
          </a:xfrm>
        </p:spPr>
        <p:txBody>
          <a:bodyPr>
            <a:normAutofit/>
          </a:bodyPr>
          <a:lstStyle/>
          <a:p>
            <a:r>
              <a:rPr lang="en-US" dirty="0"/>
              <a:t>An agent’s cumulative utility is linear and additive. The functions </a:t>
            </a:r>
            <a:r>
              <a:rPr lang="en-US" dirty="0" err="1"/>
              <a:t>Ua</a:t>
            </a:r>
            <a:r>
              <a:rPr lang="en-US" dirty="0"/>
              <a:t> and </a:t>
            </a:r>
            <a:r>
              <a:rPr lang="en-US" dirty="0" err="1"/>
              <a:t>Ub</a:t>
            </a:r>
            <a:r>
              <a:rPr lang="en-US" dirty="0"/>
              <a:t> give the cumulative utilities for a and b respectively at time t and are defined as follows.</a:t>
            </a:r>
          </a:p>
          <a:p>
            <a:endParaRPr lang="en-US" dirty="0"/>
          </a:p>
          <a:p>
            <a:endParaRPr lang="en-US" dirty="0"/>
          </a:p>
          <a:p>
            <a:endParaRPr lang="en-US" dirty="0"/>
          </a:p>
          <a:p>
            <a:endParaRPr lang="en-US" dirty="0"/>
          </a:p>
          <a:p>
            <a:endParaRPr lang="en-US" dirty="0"/>
          </a:p>
          <a:p>
            <a:r>
              <a:rPr lang="en-US" dirty="0"/>
              <a:t>If </a:t>
            </a:r>
            <a:r>
              <a:rPr lang="en-US" dirty="0" err="1"/>
              <a:t>wa</a:t>
            </a:r>
            <a:r>
              <a:rPr lang="en-US" dirty="0"/>
              <a:t> c&gt; </a:t>
            </a:r>
            <a:r>
              <a:rPr lang="en-US" dirty="0" err="1"/>
              <a:t>wa</a:t>
            </a:r>
            <a:r>
              <a:rPr lang="en-US" dirty="0"/>
              <a:t> c+1, then agent a values issue c more than issue c+ 1. Like for agent b.</a:t>
            </a:r>
            <a:endParaRPr lang="en-IN" dirty="0"/>
          </a:p>
          <a:p>
            <a:pPr marL="0" indent="0">
              <a:buNone/>
            </a:pPr>
            <a:endParaRPr lang="en-US" dirty="0"/>
          </a:p>
          <a:p>
            <a:pPr marL="0" indent="0">
              <a:buNone/>
            </a:pPr>
            <a:endParaRPr lang="en-IN" dirty="0"/>
          </a:p>
        </p:txBody>
      </p:sp>
      <p:pic>
        <p:nvPicPr>
          <p:cNvPr id="5" name="Picture 4" descr="A close-up of some math symbols&#10;&#10;Description automatically generated">
            <a:extLst>
              <a:ext uri="{FF2B5EF4-FFF2-40B4-BE49-F238E27FC236}">
                <a16:creationId xmlns:a16="http://schemas.microsoft.com/office/drawing/2014/main" id="{30BA70C3-496F-82EE-83C3-49F4992478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4362" y="3180523"/>
            <a:ext cx="8783276" cy="2190130"/>
          </a:xfrm>
          <a:prstGeom prst="rect">
            <a:avLst/>
          </a:prstGeom>
        </p:spPr>
      </p:pic>
    </p:spTree>
    <p:extLst>
      <p:ext uri="{BB962C8B-B14F-4D97-AF65-F5344CB8AC3E}">
        <p14:creationId xmlns:p14="http://schemas.microsoft.com/office/powerpoint/2010/main" val="23647419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6.JPG"/>
          <p:cNvPicPr>
            <a:picLocks noGrp="1" noChangeAspect="1"/>
          </p:cNvPicPr>
          <p:nvPr>
            <p:ph idx="1"/>
          </p:nvPr>
        </p:nvPicPr>
        <p:blipFill>
          <a:blip r:embed="rId2" cstate="print"/>
          <a:stretch>
            <a:fillRect/>
          </a:stretch>
        </p:blipFill>
        <p:spPr>
          <a:xfrm>
            <a:off x="822961" y="431075"/>
            <a:ext cx="10280468" cy="5316582"/>
          </a:xfr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7.JPG"/>
          <p:cNvPicPr>
            <a:picLocks noGrp="1" noChangeAspect="1"/>
          </p:cNvPicPr>
          <p:nvPr>
            <p:ph idx="1"/>
          </p:nvPr>
        </p:nvPicPr>
        <p:blipFill>
          <a:blip r:embed="rId2" cstate="print"/>
          <a:stretch>
            <a:fillRect/>
          </a:stretch>
        </p:blipFill>
        <p:spPr>
          <a:xfrm>
            <a:off x="888274" y="444137"/>
            <a:ext cx="10515600" cy="6061166"/>
          </a:xfr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FE0FF-D343-9868-27BB-9BF216448DFF}"/>
              </a:ext>
            </a:extLst>
          </p:cNvPr>
          <p:cNvSpPr>
            <a:spLocks noGrp="1"/>
          </p:cNvSpPr>
          <p:nvPr>
            <p:ph type="title"/>
          </p:nvPr>
        </p:nvSpPr>
        <p:spPr>
          <a:xfrm>
            <a:off x="838200" y="173620"/>
            <a:ext cx="10515600" cy="972273"/>
          </a:xfrm>
        </p:spPr>
        <p:txBody>
          <a:bodyPr/>
          <a:lstStyle/>
          <a:p>
            <a:pPr algn="ctr"/>
            <a:r>
              <a:rPr lang="en-US" b="1" dirty="0"/>
              <a:t>ARGUMENTATION 	AMONG AGENTS</a:t>
            </a:r>
            <a:endParaRPr lang="en-IN" b="1" dirty="0"/>
          </a:p>
        </p:txBody>
      </p:sp>
      <p:sp>
        <p:nvSpPr>
          <p:cNvPr id="3" name="Content Placeholder 2">
            <a:extLst>
              <a:ext uri="{FF2B5EF4-FFF2-40B4-BE49-F238E27FC236}">
                <a16:creationId xmlns:a16="http://schemas.microsoft.com/office/drawing/2014/main" id="{E573BE0B-F301-AA88-7782-EA85AE991BDF}"/>
              </a:ext>
            </a:extLst>
          </p:cNvPr>
          <p:cNvSpPr>
            <a:spLocks noGrp="1"/>
          </p:cNvSpPr>
          <p:nvPr>
            <p:ph idx="1"/>
          </p:nvPr>
        </p:nvSpPr>
        <p:spPr>
          <a:xfrm>
            <a:off x="838200" y="1342663"/>
            <a:ext cx="10515600" cy="4834300"/>
          </a:xfrm>
        </p:spPr>
        <p:txBody>
          <a:bodyPr>
            <a:normAutofit/>
          </a:bodyPr>
          <a:lstStyle/>
          <a:p>
            <a:r>
              <a:rPr lang="en-US" sz="3200" dirty="0"/>
              <a:t>Argumentation can be defined as an activity aimed at convincing of the acceptability of a standpoint by putting forward propositions justifying or refuting the standpoint. </a:t>
            </a:r>
          </a:p>
          <a:p>
            <a:r>
              <a:rPr lang="en-US" sz="3200" dirty="0"/>
              <a:t>Argument: Reasons / justifications supporting a conclusion </a:t>
            </a:r>
          </a:p>
          <a:p>
            <a:r>
              <a:rPr lang="en-US" sz="3200" dirty="0"/>
              <a:t>It is represented as: support -&gt;conclusion </a:t>
            </a:r>
            <a:endParaRPr lang="en-IN" sz="3200" dirty="0"/>
          </a:p>
        </p:txBody>
      </p:sp>
    </p:spTree>
    <p:extLst>
      <p:ext uri="{BB962C8B-B14F-4D97-AF65-F5344CB8AC3E}">
        <p14:creationId xmlns:p14="http://schemas.microsoft.com/office/powerpoint/2010/main" val="34917112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02C359-86FB-2090-AAA2-13BCB748146D}"/>
              </a:ext>
            </a:extLst>
          </p:cNvPr>
          <p:cNvSpPr>
            <a:spLocks noGrp="1"/>
          </p:cNvSpPr>
          <p:nvPr>
            <p:ph idx="1"/>
          </p:nvPr>
        </p:nvSpPr>
        <p:spPr>
          <a:xfrm>
            <a:off x="838200" y="324091"/>
            <a:ext cx="10515600" cy="5852872"/>
          </a:xfrm>
        </p:spPr>
        <p:txBody>
          <a:bodyPr>
            <a:normAutofit/>
          </a:bodyPr>
          <a:lstStyle/>
          <a:p>
            <a:r>
              <a:rPr lang="en-US" sz="3200" b="1" dirty="0"/>
              <a:t>Informational arguments: </a:t>
            </a:r>
            <a:r>
              <a:rPr lang="en-US" sz="3200" dirty="0"/>
              <a:t>Beliefs -&gt; Belief e.g. If it is cloudy, it might rain. </a:t>
            </a:r>
          </a:p>
          <a:p>
            <a:r>
              <a:rPr lang="en-US" sz="3200" b="1" dirty="0"/>
              <a:t>Motivational arguments : </a:t>
            </a:r>
            <a:r>
              <a:rPr lang="en-US" sz="3200" dirty="0"/>
              <a:t>Beliefs, Desires -&gt;Desire e.g. If it is cloudy and you want to get out then you can get wet. </a:t>
            </a:r>
          </a:p>
          <a:p>
            <a:r>
              <a:rPr lang="en-US" sz="3200" b="1" dirty="0"/>
              <a:t>Practical arguments:</a:t>
            </a:r>
            <a:r>
              <a:rPr lang="en-US" sz="3200" dirty="0"/>
              <a:t> Belief, Sub-Goals -&gt; Goal e.g. If it is cloudy and you own a raincoat then put the raincoat. </a:t>
            </a:r>
          </a:p>
          <a:p>
            <a:r>
              <a:rPr lang="en-US" sz="3200" b="1" dirty="0"/>
              <a:t>Social arguments: </a:t>
            </a:r>
            <a:r>
              <a:rPr lang="en-US" sz="3200" dirty="0"/>
              <a:t>Social commitments-&gt; Goal, Desire e.g1. I will stop at the corner because the law say so. </a:t>
            </a:r>
          </a:p>
          <a:p>
            <a:r>
              <a:rPr lang="en-US" sz="3200" dirty="0"/>
              <a:t>e.g2. I can’t do that, I promise to my mother that won’t. </a:t>
            </a:r>
            <a:endParaRPr lang="en-IN" sz="3200" dirty="0"/>
          </a:p>
        </p:txBody>
      </p:sp>
    </p:spTree>
    <p:extLst>
      <p:ext uri="{BB962C8B-B14F-4D97-AF65-F5344CB8AC3E}">
        <p14:creationId xmlns:p14="http://schemas.microsoft.com/office/powerpoint/2010/main" val="3771069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B45A6-80F3-3C5E-9C58-3516AD918C06}"/>
              </a:ext>
            </a:extLst>
          </p:cNvPr>
          <p:cNvSpPr>
            <a:spLocks noGrp="1"/>
          </p:cNvSpPr>
          <p:nvPr>
            <p:ph type="title"/>
          </p:nvPr>
        </p:nvSpPr>
        <p:spPr>
          <a:xfrm>
            <a:off x="838200" y="162047"/>
            <a:ext cx="10515600" cy="844950"/>
          </a:xfrm>
        </p:spPr>
        <p:txBody>
          <a:bodyPr/>
          <a:lstStyle/>
          <a:p>
            <a:r>
              <a:rPr lang="en-IN" b="1" dirty="0"/>
              <a:t>Process of Argumentation</a:t>
            </a:r>
          </a:p>
        </p:txBody>
      </p:sp>
      <p:sp>
        <p:nvSpPr>
          <p:cNvPr id="3" name="Content Placeholder 2">
            <a:extLst>
              <a:ext uri="{FF2B5EF4-FFF2-40B4-BE49-F238E27FC236}">
                <a16:creationId xmlns:a16="http://schemas.microsoft.com/office/drawing/2014/main" id="{3154863A-3E4F-D217-7059-B985CEFF6F8E}"/>
              </a:ext>
            </a:extLst>
          </p:cNvPr>
          <p:cNvSpPr>
            <a:spLocks noGrp="1"/>
          </p:cNvSpPr>
          <p:nvPr>
            <p:ph idx="1"/>
          </p:nvPr>
        </p:nvSpPr>
        <p:spPr>
          <a:xfrm>
            <a:off x="838200" y="1006997"/>
            <a:ext cx="10515600" cy="5169966"/>
          </a:xfrm>
        </p:spPr>
        <p:txBody>
          <a:bodyPr>
            <a:normAutofit fontScale="92500" lnSpcReduction="10000"/>
          </a:bodyPr>
          <a:lstStyle/>
          <a:p>
            <a:pPr marL="0" indent="0">
              <a:buNone/>
            </a:pPr>
            <a:r>
              <a:rPr lang="en-US" dirty="0"/>
              <a:t>1. Given the definition of arguments over a content language (and its logic), the models allow to: </a:t>
            </a:r>
          </a:p>
          <a:p>
            <a:pPr marL="0" indent="0">
              <a:buNone/>
            </a:pPr>
            <a:r>
              <a:rPr lang="en-US" dirty="0"/>
              <a:t>   • Compute interactions between arguments: attacks, defeat, support,... </a:t>
            </a:r>
          </a:p>
          <a:p>
            <a:pPr marL="0" indent="0">
              <a:buNone/>
            </a:pPr>
            <a:r>
              <a:rPr lang="en-US" dirty="0"/>
              <a:t>   • Valuation of arguments: assign weights to arguments in order to compare them. </a:t>
            </a:r>
          </a:p>
          <a:p>
            <a:pPr marL="0" indent="0">
              <a:buNone/>
            </a:pPr>
            <a:r>
              <a:rPr lang="en-US" dirty="0"/>
              <a:t>                          Intrinsic value of an argument(</a:t>
            </a:r>
            <a:r>
              <a:rPr lang="en-US" b="1" i="0" dirty="0">
                <a:solidFill>
                  <a:srgbClr val="0D0D0D"/>
                </a:solidFill>
                <a:effectLst/>
                <a:highlight>
                  <a:srgbClr val="FFFFFF"/>
                </a:highlight>
                <a:latin typeface="Söhne"/>
              </a:rPr>
              <a:t>Intrinsic Value</a:t>
            </a:r>
            <a:r>
              <a:rPr lang="en-US" b="0" i="0" dirty="0">
                <a:solidFill>
                  <a:srgbClr val="0D0D0D"/>
                </a:solidFill>
                <a:effectLst/>
                <a:highlight>
                  <a:srgbClr val="FFFFFF"/>
                </a:highlight>
                <a:latin typeface="Söhne"/>
              </a:rPr>
              <a:t> refers to the inherent quality or merit of an argument)</a:t>
            </a:r>
            <a:r>
              <a:rPr lang="en-US" dirty="0"/>
              <a:t> </a:t>
            </a:r>
          </a:p>
          <a:p>
            <a:pPr marL="0" indent="0">
              <a:buNone/>
            </a:pPr>
            <a:r>
              <a:rPr lang="en-US" dirty="0"/>
              <a:t>                          Interaction-based value of an argument(</a:t>
            </a:r>
            <a:r>
              <a:rPr lang="en-US" b="1" i="0" dirty="0">
                <a:solidFill>
                  <a:srgbClr val="0D0D0D"/>
                </a:solidFill>
                <a:effectLst/>
                <a:highlight>
                  <a:srgbClr val="FFFFFF"/>
                </a:highlight>
                <a:latin typeface="Söhne"/>
              </a:rPr>
              <a:t>Interaction-based Value</a:t>
            </a:r>
            <a:r>
              <a:rPr lang="en-US" b="0" i="0" dirty="0">
                <a:solidFill>
                  <a:srgbClr val="0D0D0D"/>
                </a:solidFill>
                <a:effectLst/>
                <a:highlight>
                  <a:srgbClr val="FFFFFF"/>
                </a:highlight>
                <a:latin typeface="Söhne"/>
              </a:rPr>
              <a:t> refers to the value of an argument)</a:t>
            </a:r>
            <a:endParaRPr lang="en-US" dirty="0"/>
          </a:p>
          <a:p>
            <a:pPr marL="0" indent="0">
              <a:buNone/>
            </a:pPr>
            <a:r>
              <a:rPr lang="en-US" dirty="0"/>
              <a:t>2. Selection of acceptable argument (conclusion) </a:t>
            </a:r>
          </a:p>
          <a:p>
            <a:pPr marL="0" indent="0">
              <a:buNone/>
            </a:pPr>
            <a:r>
              <a:rPr lang="en-US" dirty="0"/>
              <a:t>   • Individual acceptability </a:t>
            </a:r>
          </a:p>
          <a:p>
            <a:pPr marL="0" indent="0">
              <a:buNone/>
            </a:pPr>
            <a:r>
              <a:rPr lang="en-US" dirty="0"/>
              <a:t>   • Collective acceptability</a:t>
            </a:r>
            <a:endParaRPr lang="en-IN" dirty="0"/>
          </a:p>
        </p:txBody>
      </p:sp>
    </p:spTree>
    <p:extLst>
      <p:ext uri="{BB962C8B-B14F-4D97-AF65-F5344CB8AC3E}">
        <p14:creationId xmlns:p14="http://schemas.microsoft.com/office/powerpoint/2010/main" val="9994057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CC3E88-A808-B770-3456-54CA81FD33FC}"/>
              </a:ext>
            </a:extLst>
          </p:cNvPr>
          <p:cNvSpPr>
            <a:spLocks noGrp="1"/>
          </p:cNvSpPr>
          <p:nvPr>
            <p:ph idx="1"/>
          </p:nvPr>
        </p:nvSpPr>
        <p:spPr>
          <a:xfrm>
            <a:off x="838200" y="370390"/>
            <a:ext cx="10515600" cy="6088283"/>
          </a:xfrm>
        </p:spPr>
        <p:txBody>
          <a:bodyPr/>
          <a:lstStyle/>
          <a:p>
            <a:pPr marL="0" indent="0">
              <a:buNone/>
            </a:pPr>
            <a:r>
              <a:rPr lang="en-US" dirty="0"/>
              <a:t>1. Constructing arguments (in favor of / against a “statement”) from available information. </a:t>
            </a:r>
          </a:p>
          <a:p>
            <a:r>
              <a:rPr lang="en-US" dirty="0"/>
              <a:t>A: “</a:t>
            </a:r>
            <a:r>
              <a:rPr lang="en-US" dirty="0" err="1"/>
              <a:t>Tweety</a:t>
            </a:r>
            <a:r>
              <a:rPr lang="en-US" dirty="0"/>
              <a:t> is a bird, so it flies” </a:t>
            </a:r>
          </a:p>
          <a:p>
            <a:r>
              <a:rPr lang="en-US" dirty="0"/>
              <a:t>B: “</a:t>
            </a:r>
            <a:r>
              <a:rPr lang="en-US" dirty="0" err="1"/>
              <a:t>Tweety</a:t>
            </a:r>
            <a:r>
              <a:rPr lang="en-US" dirty="0"/>
              <a:t> is just a cartoon!” </a:t>
            </a:r>
          </a:p>
          <a:p>
            <a:pPr marL="0" indent="0">
              <a:buNone/>
            </a:pPr>
            <a:r>
              <a:rPr lang="en-US" dirty="0"/>
              <a:t>2. Determining the different conflicts among the arguments. </a:t>
            </a:r>
          </a:p>
          <a:p>
            <a:pPr marL="0" indent="0">
              <a:buNone/>
            </a:pPr>
            <a:r>
              <a:rPr lang="en-US" dirty="0"/>
              <a:t>“Since </a:t>
            </a:r>
            <a:r>
              <a:rPr lang="en-US" dirty="0" err="1"/>
              <a:t>Tweety</a:t>
            </a:r>
            <a:r>
              <a:rPr lang="en-US" dirty="0"/>
              <a:t> is a cartoon, it cannot fly!” (B attacks A)</a:t>
            </a:r>
          </a:p>
          <a:p>
            <a:pPr marL="0" indent="0">
              <a:buNone/>
            </a:pPr>
            <a:r>
              <a:rPr lang="en-US" dirty="0"/>
              <a:t> Evaluating the acceptability of the different arguments </a:t>
            </a:r>
          </a:p>
          <a:p>
            <a:pPr marL="0" indent="0">
              <a:buNone/>
            </a:pPr>
            <a:r>
              <a:rPr lang="en-US" dirty="0"/>
              <a:t>“Since we have no reason to believe otherwise, we’ll assume </a:t>
            </a:r>
            <a:r>
              <a:rPr lang="en-US" dirty="0" err="1"/>
              <a:t>Tweety</a:t>
            </a:r>
            <a:r>
              <a:rPr lang="en-US" dirty="0"/>
              <a:t> is a cartoon.” (accept B). “But then, this means despite being a bird he cannot fly.” (reject A). </a:t>
            </a:r>
          </a:p>
          <a:p>
            <a:pPr marL="0" indent="0">
              <a:buNone/>
            </a:pPr>
            <a:r>
              <a:rPr lang="en-US" dirty="0"/>
              <a:t>3. Concluding, or defining the justified conclusions. </a:t>
            </a:r>
          </a:p>
          <a:p>
            <a:pPr marL="0" indent="0">
              <a:buNone/>
            </a:pPr>
            <a:r>
              <a:rPr lang="en-US" dirty="0"/>
              <a:t>“We conclude that </a:t>
            </a:r>
            <a:r>
              <a:rPr lang="en-US" dirty="0" err="1"/>
              <a:t>Tweety</a:t>
            </a:r>
            <a:r>
              <a:rPr lang="en-US" dirty="0"/>
              <a:t> cannot fly!”</a:t>
            </a:r>
            <a:endParaRPr lang="en-IN" dirty="0"/>
          </a:p>
        </p:txBody>
      </p:sp>
    </p:spTree>
    <p:extLst>
      <p:ext uri="{BB962C8B-B14F-4D97-AF65-F5344CB8AC3E}">
        <p14:creationId xmlns:p14="http://schemas.microsoft.com/office/powerpoint/2010/main" val="16022717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F2377-3C4D-16EB-7391-C37EC4344184}"/>
              </a:ext>
            </a:extLst>
          </p:cNvPr>
          <p:cNvSpPr>
            <a:spLocks noGrp="1"/>
          </p:cNvSpPr>
          <p:nvPr>
            <p:ph type="title"/>
          </p:nvPr>
        </p:nvSpPr>
        <p:spPr>
          <a:xfrm>
            <a:off x="838200" y="231495"/>
            <a:ext cx="10515600" cy="1053295"/>
          </a:xfrm>
        </p:spPr>
        <p:txBody>
          <a:bodyPr/>
          <a:lstStyle/>
          <a:p>
            <a:pPr algn="ctr"/>
            <a:r>
              <a:rPr lang="en-US" b="1" dirty="0"/>
              <a:t>Trust and Reputation in MAS</a:t>
            </a:r>
            <a:endParaRPr lang="en-IN" b="1" dirty="0"/>
          </a:p>
        </p:txBody>
      </p:sp>
      <p:sp>
        <p:nvSpPr>
          <p:cNvPr id="3" name="Content Placeholder 2">
            <a:extLst>
              <a:ext uri="{FF2B5EF4-FFF2-40B4-BE49-F238E27FC236}">
                <a16:creationId xmlns:a16="http://schemas.microsoft.com/office/drawing/2014/main" id="{5EE7E9D3-1E6E-60EA-6DB3-80A16836078A}"/>
              </a:ext>
            </a:extLst>
          </p:cNvPr>
          <p:cNvSpPr>
            <a:spLocks noGrp="1"/>
          </p:cNvSpPr>
          <p:nvPr>
            <p:ph idx="1"/>
          </p:nvPr>
        </p:nvSpPr>
        <p:spPr>
          <a:xfrm>
            <a:off x="838200" y="1284790"/>
            <a:ext cx="10515600" cy="5341715"/>
          </a:xfrm>
        </p:spPr>
        <p:txBody>
          <a:bodyPr>
            <a:normAutofit fontScale="92500" lnSpcReduction="20000"/>
          </a:bodyPr>
          <a:lstStyle/>
          <a:p>
            <a:pPr marL="0" indent="0">
              <a:buNone/>
            </a:pPr>
            <a:r>
              <a:rPr lang="en-US" sz="3000" b="1" dirty="0"/>
              <a:t>Trust:</a:t>
            </a:r>
          </a:p>
          <a:p>
            <a:r>
              <a:rPr lang="en-US" dirty="0"/>
              <a:t>Trust refers to the belief or confidence that one agent has in another's ability, reliability, and intention to perform actions as expected. </a:t>
            </a:r>
          </a:p>
          <a:p>
            <a:r>
              <a:rPr lang="en-US" dirty="0"/>
              <a:t>Trust is fundamental in scenarios where agents must depend on each other to achieve their goals.</a:t>
            </a:r>
          </a:p>
          <a:p>
            <a:pPr marL="0" indent="0" algn="l">
              <a:buNone/>
            </a:pPr>
            <a:r>
              <a:rPr lang="en-US" b="1" dirty="0"/>
              <a:t>Key Aspects of Trust(Ensuring Trust):</a:t>
            </a:r>
          </a:p>
          <a:p>
            <a:pPr algn="l">
              <a:buFont typeface="+mj-lt"/>
              <a:buAutoNum type="arabicPeriod"/>
            </a:pPr>
            <a:r>
              <a:rPr lang="en-US" b="1" dirty="0"/>
              <a:t>Direct Trust: </a:t>
            </a:r>
            <a:r>
              <a:rPr lang="en-US" dirty="0"/>
              <a:t>Derived from direct interactions between agents. If an agent consistently performs well in transactions, it builds a high level of direct trust.</a:t>
            </a:r>
          </a:p>
          <a:p>
            <a:pPr algn="l">
              <a:buFont typeface="+mj-lt"/>
              <a:buAutoNum type="arabicPeriod"/>
            </a:pPr>
            <a:r>
              <a:rPr lang="en-US" b="1" dirty="0"/>
              <a:t>Indirect Trust: </a:t>
            </a:r>
            <a:r>
              <a:rPr lang="en-US" dirty="0"/>
              <a:t>Inferred from the experiences and recommendations of other agents. If Agent A trusts Agent B, and Agent B trusts Agent C, Agent A might also trust Agent C to some extent (transitive trust).</a:t>
            </a:r>
          </a:p>
          <a:p>
            <a:pPr algn="l">
              <a:buFont typeface="+mj-lt"/>
              <a:buAutoNum type="arabicPeriod"/>
            </a:pPr>
            <a:r>
              <a:rPr lang="en-US" b="1" dirty="0"/>
              <a:t>Contextual Trust: </a:t>
            </a:r>
            <a:r>
              <a:rPr lang="en-US" dirty="0"/>
              <a:t>Trust can vary depending on the context or specific type of task. An agent might be highly trusted for financial transactions but not for data sharing.</a:t>
            </a:r>
          </a:p>
        </p:txBody>
      </p:sp>
    </p:spTree>
    <p:extLst>
      <p:ext uri="{BB962C8B-B14F-4D97-AF65-F5344CB8AC3E}">
        <p14:creationId xmlns:p14="http://schemas.microsoft.com/office/powerpoint/2010/main" val="5725443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BECE6A-3574-9161-2D0B-675066ACC62D}"/>
              </a:ext>
            </a:extLst>
          </p:cNvPr>
          <p:cNvSpPr>
            <a:spLocks noGrp="1"/>
          </p:cNvSpPr>
          <p:nvPr>
            <p:ph idx="1"/>
          </p:nvPr>
        </p:nvSpPr>
        <p:spPr>
          <a:xfrm>
            <a:off x="838200" y="555585"/>
            <a:ext cx="10515600" cy="5621378"/>
          </a:xfrm>
        </p:spPr>
        <p:txBody>
          <a:bodyPr/>
          <a:lstStyle/>
          <a:p>
            <a:pPr marL="0" indent="0">
              <a:buNone/>
            </a:pPr>
            <a:r>
              <a:rPr lang="en-US" sz="3200" b="1" dirty="0"/>
              <a:t>Trust can be computed as: </a:t>
            </a:r>
          </a:p>
          <a:p>
            <a:pPr marL="0" indent="0">
              <a:buNone/>
            </a:pPr>
            <a:r>
              <a:rPr lang="en-US" dirty="0"/>
              <a:t>1. A binary value (1=‘I do trust this agent’, 0=‘I don’t trust this agent’) </a:t>
            </a:r>
          </a:p>
          <a:p>
            <a:pPr marL="0" indent="0">
              <a:buNone/>
            </a:pPr>
            <a:r>
              <a:rPr lang="en-US" dirty="0"/>
              <a:t>2. A set of qualitative values or a discrete set of numerical values (e.g. ‘2’, ‘1’, ‘0’, ‘-1’, ‘-2’) </a:t>
            </a:r>
          </a:p>
          <a:p>
            <a:pPr marL="0" indent="0">
              <a:buNone/>
            </a:pPr>
            <a:r>
              <a:rPr lang="en-US" dirty="0"/>
              <a:t>3. A continuous numerical value (e.g. [-300..300]) </a:t>
            </a:r>
          </a:p>
          <a:p>
            <a:pPr marL="0" indent="0">
              <a:buNone/>
            </a:pPr>
            <a:r>
              <a:rPr lang="en-US" dirty="0"/>
              <a:t>4. A probability distribution </a:t>
            </a:r>
          </a:p>
          <a:p>
            <a:pPr marL="0" indent="0">
              <a:buNone/>
            </a:pPr>
            <a:r>
              <a:rPr lang="en-US" dirty="0"/>
              <a:t>5. Degrees over underlying beliefs and intentions (cognitive approach) </a:t>
            </a:r>
            <a:endParaRPr lang="en-IN" dirty="0"/>
          </a:p>
        </p:txBody>
      </p:sp>
    </p:spTree>
    <p:extLst>
      <p:ext uri="{BB962C8B-B14F-4D97-AF65-F5344CB8AC3E}">
        <p14:creationId xmlns:p14="http://schemas.microsoft.com/office/powerpoint/2010/main" val="17610251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B8538C-C49C-F8E7-ACAF-0D4687D7DC62}"/>
              </a:ext>
            </a:extLst>
          </p:cNvPr>
          <p:cNvSpPr>
            <a:spLocks noGrp="1"/>
          </p:cNvSpPr>
          <p:nvPr>
            <p:ph idx="1"/>
          </p:nvPr>
        </p:nvSpPr>
        <p:spPr>
          <a:xfrm>
            <a:off x="838200" y="347240"/>
            <a:ext cx="10515600" cy="6331351"/>
          </a:xfrm>
        </p:spPr>
        <p:txBody>
          <a:bodyPr>
            <a:normAutofit fontScale="47500" lnSpcReduction="20000"/>
          </a:bodyPr>
          <a:lstStyle/>
          <a:p>
            <a:pPr marL="0" indent="0">
              <a:buNone/>
            </a:pPr>
            <a:r>
              <a:rPr lang="en-US" sz="5700" b="1" dirty="0"/>
              <a:t>Reputation:</a:t>
            </a:r>
          </a:p>
          <a:p>
            <a:r>
              <a:rPr lang="en-US" sz="5700" dirty="0"/>
              <a:t>Reputation is a collective measure of an agent's trustworthiness, derived from the opinions and experiences of other agents within the system. </a:t>
            </a:r>
          </a:p>
          <a:p>
            <a:r>
              <a:rPr lang="en-US" sz="5700" dirty="0"/>
              <a:t>It serves as a social metric that helps agents make informed decisions about future interactions.</a:t>
            </a:r>
          </a:p>
          <a:p>
            <a:pPr marL="0" indent="0" algn="l">
              <a:buNone/>
            </a:pPr>
            <a:r>
              <a:rPr lang="en-US" sz="5700" b="1" dirty="0"/>
              <a:t>Key Aspects of Reputation(Ensuring Reputation):</a:t>
            </a:r>
          </a:p>
          <a:p>
            <a:pPr algn="l">
              <a:buFont typeface="+mj-lt"/>
              <a:buAutoNum type="arabicPeriod"/>
            </a:pPr>
            <a:r>
              <a:rPr lang="en-US" sz="5700" b="1" dirty="0"/>
              <a:t>Reputation Score: </a:t>
            </a:r>
            <a:r>
              <a:rPr lang="en-US" sz="5700" dirty="0"/>
              <a:t>A quantitative measure that aggregates feedback from multiple agents to reflect an agent's overall trustworthiness.</a:t>
            </a:r>
          </a:p>
          <a:p>
            <a:pPr algn="l">
              <a:buFont typeface="+mj-lt"/>
              <a:buAutoNum type="arabicPeriod"/>
            </a:pPr>
            <a:r>
              <a:rPr lang="en-US" sz="5700" b="1" dirty="0"/>
              <a:t>Feedback Mechanisms: </a:t>
            </a:r>
            <a:r>
              <a:rPr lang="en-US" sz="5700" dirty="0"/>
              <a:t>Agents provide feedback based on their interactions, which is used to update reputation scores.</a:t>
            </a:r>
          </a:p>
          <a:p>
            <a:pPr algn="l">
              <a:buFont typeface="+mj-lt"/>
              <a:buAutoNum type="arabicPeriod"/>
            </a:pPr>
            <a:r>
              <a:rPr lang="en-US" sz="5700" b="1" dirty="0"/>
              <a:t>Aggregation Techniques: </a:t>
            </a:r>
            <a:r>
              <a:rPr lang="en-US" sz="5700" dirty="0"/>
              <a:t>Methods like weighted averages, Bayesian inference, or machine learning algorithms are used to combine feedback into a coherent reputation score.</a:t>
            </a:r>
          </a:p>
          <a:p>
            <a:pPr algn="l">
              <a:buFont typeface="+mj-lt"/>
              <a:buAutoNum type="arabicPeriod"/>
            </a:pPr>
            <a:r>
              <a:rPr lang="en-US" sz="5700" b="1" dirty="0"/>
              <a:t>Public and Private Reputations: </a:t>
            </a:r>
            <a:r>
              <a:rPr lang="en-US" sz="5700" dirty="0"/>
              <a:t>Reputation information can be public (accessible to all agents) or private (restricted to specific agents or groups).</a:t>
            </a:r>
          </a:p>
          <a:p>
            <a:endParaRPr lang="en-IN" dirty="0"/>
          </a:p>
        </p:txBody>
      </p:sp>
    </p:spTree>
    <p:extLst>
      <p:ext uri="{BB962C8B-B14F-4D97-AF65-F5344CB8AC3E}">
        <p14:creationId xmlns:p14="http://schemas.microsoft.com/office/powerpoint/2010/main" val="29352056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company&#10;&#10;Description automatically generated">
            <a:extLst>
              <a:ext uri="{FF2B5EF4-FFF2-40B4-BE49-F238E27FC236}">
                <a16:creationId xmlns:a16="http://schemas.microsoft.com/office/drawing/2014/main" id="{11E83635-3230-89C3-36B5-91E034EFA2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8653" y="537783"/>
            <a:ext cx="10729731" cy="5839868"/>
          </a:xfrm>
        </p:spPr>
      </p:pic>
    </p:spTree>
    <p:extLst>
      <p:ext uri="{BB962C8B-B14F-4D97-AF65-F5344CB8AC3E}">
        <p14:creationId xmlns:p14="http://schemas.microsoft.com/office/powerpoint/2010/main" val="22499627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513D1-3CB9-DE3D-EC48-A666F31EAC9E}"/>
              </a:ext>
            </a:extLst>
          </p:cNvPr>
          <p:cNvSpPr>
            <a:spLocks noGrp="1"/>
          </p:cNvSpPr>
          <p:nvPr>
            <p:ph type="title"/>
          </p:nvPr>
        </p:nvSpPr>
        <p:spPr>
          <a:xfrm>
            <a:off x="838200" y="144685"/>
            <a:ext cx="10515600" cy="885462"/>
          </a:xfrm>
        </p:spPr>
        <p:txBody>
          <a:bodyPr/>
          <a:lstStyle/>
          <a:p>
            <a:r>
              <a:rPr lang="en-US" b="1" dirty="0"/>
              <a:t>Ensuring Trust and Reputation in MAS</a:t>
            </a:r>
            <a:endParaRPr lang="en-IN" b="1" dirty="0"/>
          </a:p>
        </p:txBody>
      </p:sp>
      <p:sp>
        <p:nvSpPr>
          <p:cNvPr id="3" name="Content Placeholder 2">
            <a:extLst>
              <a:ext uri="{FF2B5EF4-FFF2-40B4-BE49-F238E27FC236}">
                <a16:creationId xmlns:a16="http://schemas.microsoft.com/office/drawing/2014/main" id="{2EAD27DD-7035-BB1A-13E6-7D9A26930489}"/>
              </a:ext>
            </a:extLst>
          </p:cNvPr>
          <p:cNvSpPr>
            <a:spLocks noGrp="1"/>
          </p:cNvSpPr>
          <p:nvPr>
            <p:ph idx="1"/>
          </p:nvPr>
        </p:nvSpPr>
        <p:spPr>
          <a:xfrm>
            <a:off x="838200" y="1030148"/>
            <a:ext cx="10515600" cy="5683168"/>
          </a:xfrm>
        </p:spPr>
        <p:txBody>
          <a:bodyPr>
            <a:noAutofit/>
          </a:bodyPr>
          <a:lstStyle/>
          <a:p>
            <a:pPr algn="l">
              <a:buFont typeface="Arial" panose="020B0604020202020204" pitchFamily="34" charset="0"/>
              <a:buChar char="•"/>
            </a:pPr>
            <a:r>
              <a:rPr lang="en-US" sz="2400" b="1" i="0" dirty="0">
                <a:solidFill>
                  <a:srgbClr val="0D0D0D"/>
                </a:solidFill>
                <a:effectLst/>
                <a:highlight>
                  <a:srgbClr val="FFFFFF"/>
                </a:highlight>
                <a:latin typeface="Söhne"/>
              </a:rPr>
              <a:t>Machine Learning Algorithms</a:t>
            </a:r>
            <a:r>
              <a:rPr lang="en-US" sz="2400" b="0" i="0" dirty="0">
                <a:solidFill>
                  <a:srgbClr val="0D0D0D"/>
                </a:solidFill>
                <a:effectLst/>
                <a:highlight>
                  <a:srgbClr val="FFFFFF"/>
                </a:highlight>
                <a:latin typeface="Söhne"/>
              </a:rPr>
              <a:t>: Techniques like reinforcement learning can adapt trust assessments based on the outcomes of interactions over time.</a:t>
            </a:r>
          </a:p>
          <a:p>
            <a:pPr algn="l">
              <a:buFont typeface="Arial" panose="020B0604020202020204" pitchFamily="34" charset="0"/>
              <a:buChar char="•"/>
            </a:pPr>
            <a:r>
              <a:rPr lang="en-US" sz="2400" b="1" i="0" dirty="0">
                <a:solidFill>
                  <a:srgbClr val="0D0D0D"/>
                </a:solidFill>
                <a:effectLst/>
                <a:highlight>
                  <a:srgbClr val="FFFFFF"/>
                </a:highlight>
                <a:latin typeface="Söhne"/>
              </a:rPr>
              <a:t>Game-Theoretic Approaches</a:t>
            </a:r>
            <a:r>
              <a:rPr lang="en-US" sz="2400" b="0" i="0" dirty="0">
                <a:solidFill>
                  <a:srgbClr val="0D0D0D"/>
                </a:solidFill>
                <a:effectLst/>
                <a:highlight>
                  <a:srgbClr val="FFFFFF"/>
                </a:highlight>
                <a:latin typeface="Söhne"/>
              </a:rPr>
              <a:t>: Model interactions as games where trust and reputation can influence strategy and decision-making.</a:t>
            </a:r>
          </a:p>
          <a:p>
            <a:r>
              <a:rPr lang="en-US" sz="2400" b="1" i="0" dirty="0">
                <a:solidFill>
                  <a:srgbClr val="0D0D0D"/>
                </a:solidFill>
                <a:effectLst/>
                <a:highlight>
                  <a:srgbClr val="FFFFFF"/>
                </a:highlight>
                <a:latin typeface="Söhne"/>
              </a:rPr>
              <a:t>Smart Contracts</a:t>
            </a:r>
            <a:r>
              <a:rPr lang="en-US" sz="2400" b="0" i="0" dirty="0">
                <a:solidFill>
                  <a:srgbClr val="0D0D0D"/>
                </a:solidFill>
                <a:effectLst/>
                <a:highlight>
                  <a:srgbClr val="FFFFFF"/>
                </a:highlight>
                <a:latin typeface="Söhne"/>
              </a:rPr>
              <a:t>: These can automate and enforce trust-related agreements and reputation updates based on predefined rules.</a:t>
            </a:r>
          </a:p>
          <a:p>
            <a:r>
              <a:rPr lang="en-US" sz="2400" b="1" i="0" dirty="0">
                <a:solidFill>
                  <a:srgbClr val="0D0D0D"/>
                </a:solidFill>
                <a:effectLst/>
                <a:highlight>
                  <a:srgbClr val="FFFFFF"/>
                </a:highlight>
                <a:latin typeface="Söhne"/>
              </a:rPr>
              <a:t>Trust Propagation</a:t>
            </a:r>
            <a:r>
              <a:rPr lang="en-US" sz="2400" b="0" i="0" dirty="0">
                <a:solidFill>
                  <a:srgbClr val="0D0D0D"/>
                </a:solidFill>
                <a:effectLst/>
                <a:highlight>
                  <a:srgbClr val="FFFFFF"/>
                </a:highlight>
                <a:latin typeface="Söhne"/>
              </a:rPr>
              <a:t>: Using the structure of social networks to propagate trust values through connected agents.</a:t>
            </a:r>
          </a:p>
          <a:p>
            <a:r>
              <a:rPr lang="en-US" sz="2400" b="1" i="0" dirty="0">
                <a:solidFill>
                  <a:srgbClr val="0D0D0D"/>
                </a:solidFill>
                <a:effectLst/>
                <a:highlight>
                  <a:srgbClr val="FFFFFF"/>
                </a:highlight>
                <a:latin typeface="Söhne"/>
              </a:rPr>
              <a:t>Community Detection</a:t>
            </a:r>
            <a:r>
              <a:rPr lang="en-US" sz="2400" b="0" i="0" dirty="0">
                <a:solidFill>
                  <a:srgbClr val="0D0D0D"/>
                </a:solidFill>
                <a:effectLst/>
                <a:highlight>
                  <a:srgbClr val="FFFFFF"/>
                </a:highlight>
                <a:latin typeface="Söhne"/>
              </a:rPr>
              <a:t>: Identifying trustworthy communities or sub-groups within the larger network of agents.</a:t>
            </a:r>
          </a:p>
          <a:p>
            <a:r>
              <a:rPr lang="en-US" sz="2400" b="1" i="0" dirty="0">
                <a:solidFill>
                  <a:srgbClr val="0D0D0D"/>
                </a:solidFill>
                <a:effectLst/>
                <a:highlight>
                  <a:srgbClr val="FFFFFF"/>
                </a:highlight>
                <a:latin typeface="Söhne"/>
              </a:rPr>
              <a:t>Anomaly Detection</a:t>
            </a:r>
            <a:r>
              <a:rPr lang="en-US" sz="2400" b="0" i="0" dirty="0">
                <a:solidFill>
                  <a:srgbClr val="0D0D0D"/>
                </a:solidFill>
                <a:effectLst/>
                <a:highlight>
                  <a:srgbClr val="FFFFFF"/>
                </a:highlight>
                <a:latin typeface="Söhne"/>
              </a:rPr>
              <a:t>: Monitoring agents' behavior for deviations from expected patterns, which might indicate untrustworthiness or malicious intent.</a:t>
            </a:r>
          </a:p>
          <a:p>
            <a:pPr algn="l"/>
            <a:r>
              <a:rPr lang="en-US" sz="2400" b="1" i="0" dirty="0">
                <a:solidFill>
                  <a:srgbClr val="0D0D0D"/>
                </a:solidFill>
                <a:effectLst/>
                <a:highlight>
                  <a:srgbClr val="FFFFFF"/>
                </a:highlight>
                <a:latin typeface="Söhne"/>
              </a:rPr>
              <a:t>Hybrid Approaches</a:t>
            </a:r>
            <a:r>
              <a:rPr lang="en-US" sz="2400" b="0" i="0" dirty="0">
                <a:solidFill>
                  <a:srgbClr val="0D0D0D"/>
                </a:solidFill>
                <a:effectLst/>
                <a:highlight>
                  <a:srgbClr val="FFFFFF"/>
                </a:highlight>
                <a:latin typeface="Söhne"/>
              </a:rPr>
              <a:t>: Combining multiple techniques to enhance the robustness and accuracy of trust and reputation mechanisms. </a:t>
            </a:r>
            <a:endParaRPr lang="en-IN" sz="2400" dirty="0"/>
          </a:p>
        </p:txBody>
      </p:sp>
    </p:spTree>
    <p:extLst>
      <p:ext uri="{BB962C8B-B14F-4D97-AF65-F5344CB8AC3E}">
        <p14:creationId xmlns:p14="http://schemas.microsoft.com/office/powerpoint/2010/main" val="11744340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2132A-93AB-D92E-1DD6-93F0358A165B}"/>
              </a:ext>
            </a:extLst>
          </p:cNvPr>
          <p:cNvSpPr>
            <a:spLocks noGrp="1"/>
          </p:cNvSpPr>
          <p:nvPr>
            <p:ph type="title"/>
          </p:nvPr>
        </p:nvSpPr>
        <p:spPr>
          <a:xfrm>
            <a:off x="838200" y="196771"/>
            <a:ext cx="10515600" cy="983847"/>
          </a:xfrm>
        </p:spPr>
        <p:txBody>
          <a:bodyPr/>
          <a:lstStyle/>
          <a:p>
            <a:r>
              <a:rPr lang="en-US" b="1" dirty="0"/>
              <a:t>Tools for MAS</a:t>
            </a:r>
            <a:endParaRPr lang="en-IN" b="1" dirty="0"/>
          </a:p>
        </p:txBody>
      </p:sp>
      <p:sp>
        <p:nvSpPr>
          <p:cNvPr id="3" name="Content Placeholder 2">
            <a:extLst>
              <a:ext uri="{FF2B5EF4-FFF2-40B4-BE49-F238E27FC236}">
                <a16:creationId xmlns:a16="http://schemas.microsoft.com/office/drawing/2014/main" id="{1064628F-3706-4919-CB44-7C06CD746AF4}"/>
              </a:ext>
            </a:extLst>
          </p:cNvPr>
          <p:cNvSpPr>
            <a:spLocks noGrp="1"/>
          </p:cNvSpPr>
          <p:nvPr>
            <p:ph idx="1"/>
          </p:nvPr>
        </p:nvSpPr>
        <p:spPr>
          <a:xfrm>
            <a:off x="838200" y="1030147"/>
            <a:ext cx="10515600" cy="5631082"/>
          </a:xfrm>
        </p:spPr>
        <p:txBody>
          <a:bodyPr/>
          <a:lstStyle/>
          <a:p>
            <a:r>
              <a:rPr lang="en-US" dirty="0"/>
              <a:t>Here are some of the prominent tools and frameworks used for developing and studying multi-agent systems in AI:</a:t>
            </a:r>
          </a:p>
          <a:p>
            <a:pPr marL="0" indent="0">
              <a:buNone/>
            </a:pPr>
            <a:r>
              <a:rPr lang="en-US" b="1" dirty="0"/>
              <a:t>JADE (Java Agent </a:t>
            </a:r>
            <a:r>
              <a:rPr lang="en-US" b="1" dirty="0" err="1"/>
              <a:t>DEvelopment</a:t>
            </a:r>
            <a:r>
              <a:rPr lang="en-US" b="1" dirty="0"/>
              <a:t> Framework)</a:t>
            </a:r>
          </a:p>
          <a:p>
            <a:pPr marL="0" indent="0">
              <a:buNone/>
            </a:pPr>
            <a:r>
              <a:rPr lang="en-US" b="1" dirty="0"/>
              <a:t>Description: </a:t>
            </a:r>
            <a:r>
              <a:rPr lang="en-US" dirty="0"/>
              <a:t>JADE is a popular open-source platform for developing multi-agent systems in Java. It simplifies the implementation of agents through a comprehensive set of libraries and tools.</a:t>
            </a:r>
          </a:p>
          <a:p>
            <a:pPr marL="0" indent="0">
              <a:buNone/>
            </a:pPr>
            <a:r>
              <a:rPr lang="en-US" b="1" dirty="0"/>
              <a:t>Features: </a:t>
            </a:r>
            <a:r>
              <a:rPr lang="en-US" dirty="0"/>
              <a:t>Provides a FIPA-compliant agent platform, agent communication language (ACL), and directory facilitator services.</a:t>
            </a:r>
            <a:endParaRPr lang="en-IN" dirty="0"/>
          </a:p>
        </p:txBody>
      </p:sp>
    </p:spTree>
    <p:extLst>
      <p:ext uri="{BB962C8B-B14F-4D97-AF65-F5344CB8AC3E}">
        <p14:creationId xmlns:p14="http://schemas.microsoft.com/office/powerpoint/2010/main" val="18942600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B38655-532E-353D-03EC-7D0DEE575DF1}"/>
              </a:ext>
            </a:extLst>
          </p:cNvPr>
          <p:cNvSpPr>
            <a:spLocks noGrp="1"/>
          </p:cNvSpPr>
          <p:nvPr>
            <p:ph idx="1"/>
          </p:nvPr>
        </p:nvSpPr>
        <p:spPr>
          <a:xfrm>
            <a:off x="838200" y="289367"/>
            <a:ext cx="10515600" cy="5887596"/>
          </a:xfrm>
        </p:spPr>
        <p:txBody>
          <a:bodyPr>
            <a:normAutofit lnSpcReduction="10000"/>
          </a:bodyPr>
          <a:lstStyle/>
          <a:p>
            <a:pPr marL="0" indent="0">
              <a:buNone/>
            </a:pPr>
            <a:r>
              <a:rPr lang="en-US" b="1" dirty="0" err="1"/>
              <a:t>NetLogo</a:t>
            </a:r>
            <a:r>
              <a:rPr lang="en-US" b="1" dirty="0"/>
              <a:t>:</a:t>
            </a:r>
          </a:p>
          <a:p>
            <a:pPr marL="0" indent="0">
              <a:buNone/>
            </a:pPr>
            <a:r>
              <a:rPr lang="en-US" b="1" dirty="0"/>
              <a:t>Description: </a:t>
            </a:r>
            <a:r>
              <a:rPr lang="en-US" dirty="0" err="1"/>
              <a:t>NetLogo</a:t>
            </a:r>
            <a:r>
              <a:rPr lang="en-US" dirty="0"/>
              <a:t> is a programmable modeling environment for simulating natural and social phenomena. It is particularly well-suited for modeling complex systems that evolve over time.</a:t>
            </a:r>
          </a:p>
          <a:p>
            <a:pPr marL="0" indent="0">
              <a:buNone/>
            </a:pPr>
            <a:r>
              <a:rPr lang="en-US" b="1" dirty="0"/>
              <a:t>Features: </a:t>
            </a:r>
            <a:r>
              <a:rPr lang="en-US" dirty="0"/>
              <a:t>Provides a simple yet powerful language for defining agent behaviors, a rich graphical interface, and extensive libraries for various simulation scenarios.</a:t>
            </a:r>
          </a:p>
          <a:p>
            <a:pPr marL="0" indent="0">
              <a:buNone/>
            </a:pPr>
            <a:r>
              <a:rPr lang="en-US" b="1" dirty="0"/>
              <a:t>Repast (Recursive Porous Agent Simulation Toolkit):</a:t>
            </a:r>
          </a:p>
          <a:p>
            <a:pPr marL="0" indent="0">
              <a:buNone/>
            </a:pPr>
            <a:r>
              <a:rPr lang="en-US" b="1" dirty="0"/>
              <a:t>Description: </a:t>
            </a:r>
            <a:r>
              <a:rPr lang="en-US" dirty="0"/>
              <a:t>Repast is a family of agent-based modeling and simulation platforms. It supports both large-scale and individual-based modeling.</a:t>
            </a:r>
          </a:p>
          <a:p>
            <a:pPr marL="0" indent="0">
              <a:buNone/>
            </a:pPr>
            <a:r>
              <a:rPr lang="en-US" b="1" dirty="0"/>
              <a:t>Features: </a:t>
            </a:r>
            <a:r>
              <a:rPr lang="en-US" dirty="0"/>
              <a:t>Includes Repast </a:t>
            </a:r>
            <a:r>
              <a:rPr lang="en-US" dirty="0" err="1"/>
              <a:t>Simphony</a:t>
            </a:r>
            <a:r>
              <a:rPr lang="en-US" dirty="0"/>
              <a:t>, Repast for High Performance Computing (Repast HPC), and Repast for Python (Repast </a:t>
            </a:r>
            <a:r>
              <a:rPr lang="en-US" dirty="0" err="1"/>
              <a:t>Py</a:t>
            </a:r>
            <a:r>
              <a:rPr lang="en-US" dirty="0"/>
              <a:t>), catering to different simulation needs.</a:t>
            </a:r>
            <a:endParaRPr lang="en-IN" dirty="0"/>
          </a:p>
        </p:txBody>
      </p:sp>
    </p:spTree>
    <p:extLst>
      <p:ext uri="{BB962C8B-B14F-4D97-AF65-F5344CB8AC3E}">
        <p14:creationId xmlns:p14="http://schemas.microsoft.com/office/powerpoint/2010/main" val="31156405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30E0DA-54BF-FAD1-D250-AA50334AC08A}"/>
              </a:ext>
            </a:extLst>
          </p:cNvPr>
          <p:cNvSpPr>
            <a:spLocks noGrp="1"/>
          </p:cNvSpPr>
          <p:nvPr>
            <p:ph idx="1"/>
          </p:nvPr>
        </p:nvSpPr>
        <p:spPr>
          <a:xfrm>
            <a:off x="838200" y="381965"/>
            <a:ext cx="10515600" cy="5794998"/>
          </a:xfrm>
        </p:spPr>
        <p:txBody>
          <a:bodyPr/>
          <a:lstStyle/>
          <a:p>
            <a:pPr marL="0" indent="0">
              <a:buNone/>
            </a:pPr>
            <a:r>
              <a:rPr lang="en-US" b="1" dirty="0"/>
              <a:t>GAMA (GIS Agent-based Modeling Architecture):</a:t>
            </a:r>
          </a:p>
          <a:p>
            <a:pPr marL="0" indent="0">
              <a:buNone/>
            </a:pPr>
            <a:r>
              <a:rPr lang="en-US" b="1" dirty="0"/>
              <a:t>Description: </a:t>
            </a:r>
            <a:r>
              <a:rPr lang="en-US" dirty="0"/>
              <a:t>GAMA is a platform for developing spatially explicit agent-based simulations. It is highly suitable for integrating geographic information system (GIS) data.</a:t>
            </a:r>
          </a:p>
          <a:p>
            <a:pPr marL="0" indent="0">
              <a:buNone/>
            </a:pPr>
            <a:r>
              <a:rPr lang="en-US" b="1" dirty="0"/>
              <a:t>Features: </a:t>
            </a:r>
            <a:r>
              <a:rPr lang="en-US" dirty="0"/>
              <a:t>Supports complex environment representations, agent behaviors, and interaction with real-world data.</a:t>
            </a:r>
          </a:p>
          <a:p>
            <a:pPr marL="0" indent="0">
              <a:buNone/>
            </a:pPr>
            <a:r>
              <a:rPr lang="en-US" b="1" dirty="0"/>
              <a:t>MATLAB/Simulink:</a:t>
            </a:r>
          </a:p>
          <a:p>
            <a:pPr marL="0" indent="0">
              <a:buNone/>
            </a:pPr>
            <a:r>
              <a:rPr lang="en-US" b="1" dirty="0"/>
              <a:t>Description: </a:t>
            </a:r>
            <a:r>
              <a:rPr lang="en-US" dirty="0"/>
              <a:t>MATLAB, along with its toolboxes such as Simulink, can be used for developing and simulating multi-agent systems, particularly those involving control systems and robotics.</a:t>
            </a:r>
          </a:p>
          <a:p>
            <a:pPr marL="0" indent="0">
              <a:buNone/>
            </a:pPr>
            <a:r>
              <a:rPr lang="en-US" b="1" dirty="0"/>
              <a:t>Features: </a:t>
            </a:r>
            <a:r>
              <a:rPr lang="en-US" dirty="0"/>
              <a:t>Provides extensive mathematical and graphical capabilities, as well as specialized toolboxes like the Robotics System Toolbox.</a:t>
            </a:r>
            <a:endParaRPr lang="en-IN" dirty="0"/>
          </a:p>
        </p:txBody>
      </p:sp>
    </p:spTree>
    <p:extLst>
      <p:ext uri="{BB962C8B-B14F-4D97-AF65-F5344CB8AC3E}">
        <p14:creationId xmlns:p14="http://schemas.microsoft.com/office/powerpoint/2010/main" val="36767663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A65D87-C659-07E8-5AC6-A06E27A3A67D}"/>
              </a:ext>
            </a:extLst>
          </p:cNvPr>
          <p:cNvSpPr>
            <a:spLocks noGrp="1"/>
          </p:cNvSpPr>
          <p:nvPr>
            <p:ph idx="1"/>
          </p:nvPr>
        </p:nvSpPr>
        <p:spPr>
          <a:xfrm>
            <a:off x="838200" y="254643"/>
            <a:ext cx="10515600" cy="5922320"/>
          </a:xfrm>
        </p:spPr>
        <p:txBody>
          <a:bodyPr/>
          <a:lstStyle/>
          <a:p>
            <a:pPr marL="0" indent="0">
              <a:buNone/>
            </a:pPr>
            <a:r>
              <a:rPr lang="en-US" b="1" dirty="0" err="1"/>
              <a:t>PyMARL</a:t>
            </a:r>
            <a:r>
              <a:rPr lang="en-US" b="1" dirty="0"/>
              <a:t> (Python Multi-Agent Reinforcement Learning):</a:t>
            </a:r>
          </a:p>
          <a:p>
            <a:pPr marL="0" indent="0">
              <a:buNone/>
            </a:pPr>
            <a:r>
              <a:rPr lang="en-US" b="1" dirty="0"/>
              <a:t>Description: </a:t>
            </a:r>
            <a:r>
              <a:rPr lang="en-US" dirty="0" err="1"/>
              <a:t>PyMARL</a:t>
            </a:r>
            <a:r>
              <a:rPr lang="en-US" dirty="0"/>
              <a:t> is a framework for research in multi-agent reinforcement learning, implemented in Python.</a:t>
            </a:r>
          </a:p>
          <a:p>
            <a:pPr marL="0" indent="0">
              <a:buNone/>
            </a:pPr>
            <a:r>
              <a:rPr lang="en-US" b="1" dirty="0"/>
              <a:t>Features: </a:t>
            </a:r>
            <a:r>
              <a:rPr lang="en-US" dirty="0"/>
              <a:t>Designed to facilitate the development and evaluation of MARL algorithms with a focus on StarCraft II as a testbed.</a:t>
            </a:r>
          </a:p>
          <a:p>
            <a:pPr marL="0" indent="0">
              <a:buNone/>
            </a:pPr>
            <a:r>
              <a:rPr lang="en-US" b="1" dirty="0"/>
              <a:t>SUMO (Simulation of Urban </a:t>
            </a:r>
            <a:r>
              <a:rPr lang="en-US" b="1" dirty="0" err="1"/>
              <a:t>MObility</a:t>
            </a:r>
            <a:r>
              <a:rPr lang="en-US" b="1" dirty="0"/>
              <a:t>):</a:t>
            </a:r>
          </a:p>
          <a:p>
            <a:pPr marL="0" indent="0">
              <a:buNone/>
            </a:pPr>
            <a:r>
              <a:rPr lang="en-US" b="1" dirty="0"/>
              <a:t>Description: </a:t>
            </a:r>
            <a:r>
              <a:rPr lang="en-US" dirty="0"/>
              <a:t>SUMO is an open-source traffic simulation suite, which can be used to model and analyze traffic flow and transportation systems as multi-agent systems.</a:t>
            </a:r>
          </a:p>
          <a:p>
            <a:pPr marL="0" indent="0">
              <a:buNone/>
            </a:pPr>
            <a:r>
              <a:rPr lang="en-US" b="1" dirty="0"/>
              <a:t>Features: </a:t>
            </a:r>
            <a:r>
              <a:rPr lang="en-US" dirty="0"/>
              <a:t>Supports modeling of large-scale traffic networks, vehicle communication, and integration with other simulation tools.</a:t>
            </a:r>
            <a:endParaRPr lang="en-IN" dirty="0"/>
          </a:p>
        </p:txBody>
      </p:sp>
    </p:spTree>
    <p:extLst>
      <p:ext uri="{BB962C8B-B14F-4D97-AF65-F5344CB8AC3E}">
        <p14:creationId xmlns:p14="http://schemas.microsoft.com/office/powerpoint/2010/main" val="5444162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B4AC22-1828-91B9-DE1C-F0571EA9FB9E}"/>
              </a:ext>
            </a:extLst>
          </p:cNvPr>
          <p:cNvSpPr>
            <a:spLocks noGrp="1"/>
          </p:cNvSpPr>
          <p:nvPr>
            <p:ph idx="1"/>
          </p:nvPr>
        </p:nvSpPr>
        <p:spPr>
          <a:xfrm>
            <a:off x="838200" y="312516"/>
            <a:ext cx="10515600" cy="5864447"/>
          </a:xfrm>
        </p:spPr>
        <p:txBody>
          <a:bodyPr/>
          <a:lstStyle/>
          <a:p>
            <a:pPr marL="0" indent="0">
              <a:buNone/>
            </a:pPr>
            <a:r>
              <a:rPr lang="en-US" b="1" dirty="0"/>
              <a:t>Unity ML-Agents Toolkit:</a:t>
            </a:r>
          </a:p>
          <a:p>
            <a:pPr marL="0" indent="0">
              <a:buNone/>
            </a:pPr>
            <a:r>
              <a:rPr lang="en-US" b="1" dirty="0"/>
              <a:t>Description: </a:t>
            </a:r>
            <a:r>
              <a:rPr lang="en-US" dirty="0"/>
              <a:t>Unity ML-Agents provides a toolkit for creating intelligent agents using the Unity game engine, which is popular for developing 3D environments.</a:t>
            </a:r>
          </a:p>
          <a:p>
            <a:pPr marL="0" indent="0">
              <a:buNone/>
            </a:pPr>
            <a:r>
              <a:rPr lang="en-US" b="1" dirty="0"/>
              <a:t>Features: </a:t>
            </a:r>
            <a:r>
              <a:rPr lang="en-US" dirty="0"/>
              <a:t>Supports reinforcement learning, imitation learning, and self-play, with a strong focus on high-quality visual environments.</a:t>
            </a:r>
          </a:p>
          <a:p>
            <a:pPr marL="0" indent="0">
              <a:buNone/>
            </a:pPr>
            <a:r>
              <a:rPr lang="en-US" b="1" dirty="0"/>
              <a:t>BURLAP (Brown-UMBC Reinforcement Learning and Planning):</a:t>
            </a:r>
          </a:p>
          <a:p>
            <a:pPr marL="0" indent="0">
              <a:buNone/>
            </a:pPr>
            <a:r>
              <a:rPr lang="en-US" b="1" dirty="0"/>
              <a:t>Description: </a:t>
            </a:r>
            <a:r>
              <a:rPr lang="en-US" dirty="0"/>
              <a:t>BURLAP is a Java library for developing and evaluating single and multi-agent learning algorithms.</a:t>
            </a:r>
          </a:p>
          <a:p>
            <a:pPr marL="0" indent="0">
              <a:buNone/>
            </a:pPr>
            <a:r>
              <a:rPr lang="en-US" b="1" dirty="0"/>
              <a:t>Features: </a:t>
            </a:r>
            <a:r>
              <a:rPr lang="en-US" dirty="0"/>
              <a:t>Offers a range of tools for modeling Markov decision processes, planning algorithms, and learning algorithms.</a:t>
            </a:r>
            <a:endParaRPr lang="en-IN" dirty="0"/>
          </a:p>
        </p:txBody>
      </p:sp>
    </p:spTree>
    <p:extLst>
      <p:ext uri="{BB962C8B-B14F-4D97-AF65-F5344CB8AC3E}">
        <p14:creationId xmlns:p14="http://schemas.microsoft.com/office/powerpoint/2010/main" val="4051999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262</TotalTime>
  <Words>3324</Words>
  <Application>Microsoft Office PowerPoint</Application>
  <PresentationFormat>Widescreen</PresentationFormat>
  <Paragraphs>208</Paragraphs>
  <Slides>55</Slides>
  <Notes>0</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Office Theme</vt:lpstr>
      <vt:lpstr>Unit 4</vt:lpstr>
      <vt:lpstr>Architecture for Intelligent Agents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Agent Communication</vt:lpstr>
      <vt:lpstr>Properties of Autonomous Agents</vt:lpstr>
      <vt:lpstr>PowerPoint Presentation</vt:lpstr>
      <vt:lpstr>Co-operation</vt:lpstr>
      <vt:lpstr>Benevolent Agents</vt:lpstr>
      <vt:lpstr>Self-Interested Agents</vt:lpstr>
      <vt:lpstr>Speech Act</vt:lpstr>
      <vt:lpstr>Different Aspects of Speech Act</vt:lpstr>
      <vt:lpstr>PowerPoint Presentation</vt:lpstr>
      <vt:lpstr>Agent Communication Languages</vt:lpstr>
      <vt:lpstr>KQML and KIF</vt:lpstr>
      <vt:lpstr>KIF – Knowledge Interchange Format </vt:lpstr>
      <vt:lpstr>KIF – Knowledge Interchange Format</vt:lpstr>
      <vt:lpstr>KQML and KIF</vt:lpstr>
      <vt:lpstr>SEVEN PROCESSES IN AGENT COMMUNICATION</vt:lpstr>
      <vt:lpstr>Negotiation</vt:lpstr>
      <vt:lpstr>PowerPoint Presentation</vt:lpstr>
      <vt:lpstr>PowerPoint Presentation</vt:lpstr>
      <vt:lpstr>Negotiation</vt:lpstr>
      <vt:lpstr>PowerPoint Presentation</vt:lpstr>
      <vt:lpstr>SINGLE-ISSUE NEGOTATION</vt:lpstr>
      <vt:lpstr>PowerPoint Presentation</vt:lpstr>
      <vt:lpstr>MULTI-ISSUE NEGOTIATION</vt:lpstr>
      <vt:lpstr>GAME-THEORETIC APPROACHES FOR MULTI-ISSUE NEGOTIATION</vt:lpstr>
      <vt:lpstr>PowerPoint Presentation</vt:lpstr>
      <vt:lpstr>PowerPoint Presentation</vt:lpstr>
      <vt:lpstr>PowerPoint Presentation</vt:lpstr>
      <vt:lpstr>COOPERATIVE MODELS OF MULTI-ISSUE NEGOTIATION</vt:lpstr>
      <vt:lpstr>NON-COOPERATIVE MODELS OF MULTI-ISSUE NEGOTIATION</vt:lpstr>
      <vt:lpstr>PowerPoint Presentation</vt:lpstr>
      <vt:lpstr>PowerPoint Presentation</vt:lpstr>
      <vt:lpstr>ARGUMENTATION  AMONG AGENTS</vt:lpstr>
      <vt:lpstr>PowerPoint Presentation</vt:lpstr>
      <vt:lpstr>Process of Argumentation</vt:lpstr>
      <vt:lpstr>PowerPoint Presentation</vt:lpstr>
      <vt:lpstr>Trust and Reputation in MAS</vt:lpstr>
      <vt:lpstr>PowerPoint Presentation</vt:lpstr>
      <vt:lpstr>PowerPoint Presentation</vt:lpstr>
      <vt:lpstr>PowerPoint Presentation</vt:lpstr>
      <vt:lpstr>Ensuring Trust and Reputation in MAS</vt:lpstr>
      <vt:lpstr>Tools for MAS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dc:title>
  <dc:creator>K.Pavithra</dc:creator>
  <cp:lastModifiedBy>K.Pavithra</cp:lastModifiedBy>
  <cp:revision>10</cp:revision>
  <dcterms:created xsi:type="dcterms:W3CDTF">2024-05-06T04:42:10Z</dcterms:created>
  <dcterms:modified xsi:type="dcterms:W3CDTF">2025-02-06T08:41:49Z</dcterms:modified>
</cp:coreProperties>
</file>