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8" r:id="rId16"/>
    <p:sldId id="299" r:id="rId17"/>
    <p:sldId id="270" r:id="rId18"/>
    <p:sldId id="300" r:id="rId19"/>
    <p:sldId id="310" r:id="rId20"/>
    <p:sldId id="271" r:id="rId21"/>
    <p:sldId id="272" r:id="rId22"/>
    <p:sldId id="273" r:id="rId23"/>
    <p:sldId id="274" r:id="rId24"/>
    <p:sldId id="301" r:id="rId25"/>
    <p:sldId id="278" r:id="rId26"/>
    <p:sldId id="302" r:id="rId27"/>
    <p:sldId id="304" r:id="rId28"/>
    <p:sldId id="303" r:id="rId29"/>
    <p:sldId id="305" r:id="rId30"/>
    <p:sldId id="306" r:id="rId31"/>
    <p:sldId id="308" r:id="rId32"/>
    <p:sldId id="307" r:id="rId33"/>
    <p:sldId id="309" r:id="rId34"/>
    <p:sldId id="275" r:id="rId35"/>
    <p:sldId id="276" r:id="rId36"/>
    <p:sldId id="277" r:id="rId37"/>
    <p:sldId id="280" r:id="rId38"/>
    <p:sldId id="281" r:id="rId39"/>
    <p:sldId id="282" r:id="rId40"/>
    <p:sldId id="283" r:id="rId41"/>
    <p:sldId id="284" r:id="rId42"/>
    <p:sldId id="285" r:id="rId43"/>
    <p:sldId id="287" r:id="rId44"/>
    <p:sldId id="288" r:id="rId45"/>
    <p:sldId id="289" r:id="rId46"/>
    <p:sldId id="290" r:id="rId47"/>
    <p:sldId id="291" r:id="rId48"/>
    <p:sldId id="292" r:id="rId49"/>
    <p:sldId id="286" r:id="rId50"/>
    <p:sldId id="293" r:id="rId51"/>
    <p:sldId id="294" r:id="rId52"/>
    <p:sldId id="295" r:id="rId53"/>
    <p:sldId id="296" r:id="rId54"/>
    <p:sldId id="29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4660"/>
  </p:normalViewPr>
  <p:slideViewPr>
    <p:cSldViewPr snapToGrid="0">
      <p:cViewPr varScale="1">
        <p:scale>
          <a:sx n="65" d="100"/>
          <a:sy n="65" d="100"/>
        </p:scale>
        <p:origin x="9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30D7-4D8B-995E-329E-8CA1FDDE61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E41117-81A9-E890-30AC-69BDB73733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884306-1CCC-9970-5A56-913F577110D2}"/>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5" name="Footer Placeholder 4">
            <a:extLst>
              <a:ext uri="{FF2B5EF4-FFF2-40B4-BE49-F238E27FC236}">
                <a16:creationId xmlns:a16="http://schemas.microsoft.com/office/drawing/2014/main" id="{1ECC124E-7BCB-81DA-04D7-FB431F4BC3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DCE06-15A3-C881-A2E3-AE5C2B58FA78}"/>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4008309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B7EEB-C9AC-3678-8FE7-BD751683E8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1F4F46-FD15-ECAB-4F8D-7863F43564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8BB295-5E8F-DA17-E0D5-14B9FCDEC332}"/>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5" name="Footer Placeholder 4">
            <a:extLst>
              <a:ext uri="{FF2B5EF4-FFF2-40B4-BE49-F238E27FC236}">
                <a16:creationId xmlns:a16="http://schemas.microsoft.com/office/drawing/2014/main" id="{E2337D44-EF70-201E-1AA0-B88CF8976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8295C2-7914-4A2B-26D7-1A0F7724DD8D}"/>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372740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F611D-69B7-CD0D-C75F-400366FD7E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2AF18A-A459-C614-6F2C-3743D029BB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CFE032-DAAB-E988-7733-A06FD4074C75}"/>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5" name="Footer Placeholder 4">
            <a:extLst>
              <a:ext uri="{FF2B5EF4-FFF2-40B4-BE49-F238E27FC236}">
                <a16:creationId xmlns:a16="http://schemas.microsoft.com/office/drawing/2014/main" id="{DD5EBB3F-96FB-BFA9-14EE-C5D67130F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2CF387-A223-100C-F8F8-F1C85E74C742}"/>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1434976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147A3-1BC5-0D8F-9943-533F114C2C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496EDA-E062-A55C-60FE-8A073CA6B2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A75934-D83F-CC94-BBCD-3F16EFD638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EE413C-97FC-85F3-E5F4-4821F6DDBDA6}"/>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6" name="Footer Placeholder 5">
            <a:extLst>
              <a:ext uri="{FF2B5EF4-FFF2-40B4-BE49-F238E27FC236}">
                <a16:creationId xmlns:a16="http://schemas.microsoft.com/office/drawing/2014/main" id="{1D760D87-8E1B-DE93-739C-942FF8D24F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612F19-2126-918A-A85B-7A655AE93E7A}"/>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2618231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A3DBA-3B0E-3A74-F4D3-D7DE213ADD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49E8FE-68D1-80EE-917F-6EAF0E65D0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355779-4C09-8A9D-28AA-20A7809517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CD42A9-0CE5-CB07-67C8-DA7B6256BC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9F0912-C272-7524-5002-FB0D5B410B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8155D7-79F7-F63F-A391-A21FEA8E9193}"/>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8" name="Footer Placeholder 7">
            <a:extLst>
              <a:ext uri="{FF2B5EF4-FFF2-40B4-BE49-F238E27FC236}">
                <a16:creationId xmlns:a16="http://schemas.microsoft.com/office/drawing/2014/main" id="{D06DF41E-27FE-99D4-4BCB-28DFCB1CDA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92B44B-D76A-6A4E-B90B-13984E76F06D}"/>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4180036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B6A01-F227-74DC-CB24-DC0CD2B55B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B30B57-95E4-13A5-4BAD-5ED5D8587575}"/>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4" name="Footer Placeholder 3">
            <a:extLst>
              <a:ext uri="{FF2B5EF4-FFF2-40B4-BE49-F238E27FC236}">
                <a16:creationId xmlns:a16="http://schemas.microsoft.com/office/drawing/2014/main" id="{249F4DF4-E489-35CD-F9EB-D1B21B62BD6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C619F8-0AF8-F898-54B5-761A2EA7CF5D}"/>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553115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B164E-7796-58DB-02B7-3D644E541687}"/>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3" name="Footer Placeholder 2">
            <a:extLst>
              <a:ext uri="{FF2B5EF4-FFF2-40B4-BE49-F238E27FC236}">
                <a16:creationId xmlns:a16="http://schemas.microsoft.com/office/drawing/2014/main" id="{7FAA7E13-DFE0-2B86-B753-1ED1DBBE53C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33BF9E-12F7-AE18-562B-F0724688DED3}"/>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1591804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695F3-B2A7-E9CE-6068-17E6572FB0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12A1E6-6BB8-F507-F2F6-A0379F3545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058A88-7BA0-2A93-1E55-74249C31C8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659395-1E9F-F4FA-0F25-BD537A58C65D}"/>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6" name="Footer Placeholder 5">
            <a:extLst>
              <a:ext uri="{FF2B5EF4-FFF2-40B4-BE49-F238E27FC236}">
                <a16:creationId xmlns:a16="http://schemas.microsoft.com/office/drawing/2014/main" id="{61CE676C-1FF0-9B37-EB89-AB80EFBE45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CEDE6B-F22A-2FA7-8C33-376BDD0F6204}"/>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2209148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B2C6-F8A0-DB96-6890-F713BF2480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25C463-D64D-D72C-A149-D11ADFD2D8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05630F-4C76-3DDE-48E9-3AA4AD0F13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F1DADE-11BE-26DF-BA05-2C13832E9D13}"/>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6" name="Footer Placeholder 5">
            <a:extLst>
              <a:ext uri="{FF2B5EF4-FFF2-40B4-BE49-F238E27FC236}">
                <a16:creationId xmlns:a16="http://schemas.microsoft.com/office/drawing/2014/main" id="{A9A1EE40-A292-BC14-8341-99FAC4D88F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1BD515-313C-5E29-FC5C-CE335B76C433}"/>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3250168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F802C-3D41-3328-6FA9-C3A575BA37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7CE2EC-B108-A848-6A6F-F7AA2E1D28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EF04F6-63FF-3255-7241-C597CD861470}"/>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5" name="Footer Placeholder 4">
            <a:extLst>
              <a:ext uri="{FF2B5EF4-FFF2-40B4-BE49-F238E27FC236}">
                <a16:creationId xmlns:a16="http://schemas.microsoft.com/office/drawing/2014/main" id="{F887062A-07DF-AB70-06AA-E71F2C791F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1ABAA2-0691-8B17-652E-457BB9BD8AD4}"/>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2917825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902B7A-A87C-2DC9-1D68-A729A3E595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53E9C0-E01E-B22D-384B-71B4F37EC0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0F758E-55D3-31F6-E768-2815D6A65A27}"/>
              </a:ext>
            </a:extLst>
          </p:cNvPr>
          <p:cNvSpPr>
            <a:spLocks noGrp="1"/>
          </p:cNvSpPr>
          <p:nvPr>
            <p:ph type="dt" sz="half" idx="10"/>
          </p:nvPr>
        </p:nvSpPr>
        <p:spPr/>
        <p:txBody>
          <a:bodyPr/>
          <a:lstStyle/>
          <a:p>
            <a:fld id="{FF021A11-1218-4208-A154-6CB81CB53742}" type="datetimeFigureOut">
              <a:rPr lang="en-IN" smtClean="0"/>
              <a:t>21-01-2026</a:t>
            </a:fld>
            <a:endParaRPr lang="en-IN"/>
          </a:p>
        </p:txBody>
      </p:sp>
      <p:sp>
        <p:nvSpPr>
          <p:cNvPr id="5" name="Footer Placeholder 4">
            <a:extLst>
              <a:ext uri="{FF2B5EF4-FFF2-40B4-BE49-F238E27FC236}">
                <a16:creationId xmlns:a16="http://schemas.microsoft.com/office/drawing/2014/main" id="{BC97E4C1-A0A3-CA3B-5228-037854DFCF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522E6-3B96-878B-A406-6DBA6E6B637C}"/>
              </a:ext>
            </a:extLst>
          </p:cNvPr>
          <p:cNvSpPr>
            <a:spLocks noGrp="1"/>
          </p:cNvSpPr>
          <p:nvPr>
            <p:ph type="sldNum" sz="quarter" idx="12"/>
          </p:nvPr>
        </p:nvSpPr>
        <p:spPr/>
        <p:txBody>
          <a:bodyPr/>
          <a:lstStyle/>
          <a:p>
            <a:fld id="{18875AB4-580F-43D9-825F-1E71375C5068}" type="slidenum">
              <a:rPr lang="en-IN" smtClean="0"/>
              <a:t>‹#›</a:t>
            </a:fld>
            <a:endParaRPr lang="en-IN"/>
          </a:p>
        </p:txBody>
      </p:sp>
    </p:spTree>
    <p:extLst>
      <p:ext uri="{BB962C8B-B14F-4D97-AF65-F5344CB8AC3E}">
        <p14:creationId xmlns:p14="http://schemas.microsoft.com/office/powerpoint/2010/main" val="333559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AFDD77-02DD-AE55-B399-9EBD2735E3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C29E97-C125-8FFA-4652-D91BA559A8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F8401D-6E71-A5C6-E76E-74A3A2D7DE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021A11-1218-4208-A154-6CB81CB53742}" type="datetimeFigureOut">
              <a:rPr lang="en-IN" smtClean="0"/>
              <a:t>21-01-2026</a:t>
            </a:fld>
            <a:endParaRPr lang="en-IN"/>
          </a:p>
        </p:txBody>
      </p:sp>
      <p:sp>
        <p:nvSpPr>
          <p:cNvPr id="5" name="Footer Placeholder 4">
            <a:extLst>
              <a:ext uri="{FF2B5EF4-FFF2-40B4-BE49-F238E27FC236}">
                <a16:creationId xmlns:a16="http://schemas.microsoft.com/office/drawing/2014/main" id="{EF5B0DDF-0886-C575-8142-04C02B9D96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6BAF7DF-C14D-19F0-3241-F2E009987A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875AB4-580F-43D9-825F-1E71375C5068}" type="slidenum">
              <a:rPr lang="en-IN" smtClean="0"/>
              <a:t>‹#›</a:t>
            </a:fld>
            <a:endParaRPr lang="en-IN"/>
          </a:p>
        </p:txBody>
      </p:sp>
    </p:spTree>
    <p:extLst>
      <p:ext uri="{BB962C8B-B14F-4D97-AF65-F5344CB8AC3E}">
        <p14:creationId xmlns:p14="http://schemas.microsoft.com/office/powerpoint/2010/main" val="2508324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8959-DB97-E243-0534-DCCBEB4EED2D}"/>
              </a:ext>
            </a:extLst>
          </p:cNvPr>
          <p:cNvSpPr>
            <a:spLocks noGrp="1"/>
          </p:cNvSpPr>
          <p:nvPr>
            <p:ph type="ctrTitle"/>
          </p:nvPr>
        </p:nvSpPr>
        <p:spPr/>
        <p:txBody>
          <a:bodyPr/>
          <a:lstStyle/>
          <a:p>
            <a:r>
              <a:rPr lang="en-US" b="1" dirty="0"/>
              <a:t>Artificial Intelligence</a:t>
            </a:r>
            <a:endParaRPr lang="en-IN" b="1" dirty="0"/>
          </a:p>
        </p:txBody>
      </p:sp>
      <p:sp>
        <p:nvSpPr>
          <p:cNvPr id="3" name="Subtitle 2">
            <a:extLst>
              <a:ext uri="{FF2B5EF4-FFF2-40B4-BE49-F238E27FC236}">
                <a16:creationId xmlns:a16="http://schemas.microsoft.com/office/drawing/2014/main" id="{4228B73C-9447-68A4-AF3D-F40DD887AF6C}"/>
              </a:ext>
            </a:extLst>
          </p:cNvPr>
          <p:cNvSpPr>
            <a:spLocks noGrp="1"/>
          </p:cNvSpPr>
          <p:nvPr>
            <p:ph type="subTitle" idx="1"/>
          </p:nvPr>
        </p:nvSpPr>
        <p:spPr/>
        <p:txBody>
          <a:bodyPr>
            <a:normAutofit/>
          </a:bodyPr>
          <a:lstStyle/>
          <a:p>
            <a:r>
              <a:rPr lang="en-US" sz="4800" b="1" dirty="0"/>
              <a:t>Unit 2 (Part 2)</a:t>
            </a:r>
            <a:endParaRPr lang="en-IN" sz="4800" b="1" dirty="0"/>
          </a:p>
        </p:txBody>
      </p:sp>
    </p:spTree>
    <p:extLst>
      <p:ext uri="{BB962C8B-B14F-4D97-AF65-F5344CB8AC3E}">
        <p14:creationId xmlns:p14="http://schemas.microsoft.com/office/powerpoint/2010/main" val="860506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FEA1E-9A31-A411-2048-4479985345CC}"/>
              </a:ext>
            </a:extLst>
          </p:cNvPr>
          <p:cNvSpPr>
            <a:spLocks noGrp="1"/>
          </p:cNvSpPr>
          <p:nvPr>
            <p:ph type="title"/>
          </p:nvPr>
        </p:nvSpPr>
        <p:spPr>
          <a:xfrm>
            <a:off x="838200" y="169333"/>
            <a:ext cx="10515600" cy="1027289"/>
          </a:xfrm>
        </p:spPr>
        <p:txBody>
          <a:bodyPr/>
          <a:lstStyle/>
          <a:p>
            <a:pPr algn="ctr"/>
            <a:r>
              <a:rPr lang="en-US" b="1" dirty="0"/>
              <a:t>Heuristic Functions</a:t>
            </a:r>
            <a:endParaRPr lang="en-IN" b="1" dirty="0"/>
          </a:p>
        </p:txBody>
      </p:sp>
      <p:sp>
        <p:nvSpPr>
          <p:cNvPr id="3" name="Content Placeholder 2">
            <a:extLst>
              <a:ext uri="{FF2B5EF4-FFF2-40B4-BE49-F238E27FC236}">
                <a16:creationId xmlns:a16="http://schemas.microsoft.com/office/drawing/2014/main" id="{E3FE9C67-161E-6230-8CDB-0FD9A1DA7FF0}"/>
              </a:ext>
            </a:extLst>
          </p:cNvPr>
          <p:cNvSpPr>
            <a:spLocks noGrp="1"/>
          </p:cNvSpPr>
          <p:nvPr>
            <p:ph idx="1"/>
          </p:nvPr>
        </p:nvSpPr>
        <p:spPr>
          <a:xfrm>
            <a:off x="725311" y="1016000"/>
            <a:ext cx="10515600" cy="5441244"/>
          </a:xfrm>
        </p:spPr>
        <p:txBody>
          <a:bodyPr>
            <a:normAutofit lnSpcReduction="10000"/>
          </a:bodyPr>
          <a:lstStyle/>
          <a:p>
            <a:r>
              <a:rPr lang="en-US" dirty="0"/>
              <a:t>Heuristic means finding  solution to a problem quickly and efficiently.</a:t>
            </a:r>
          </a:p>
          <a:p>
            <a:r>
              <a:rPr lang="en-US" dirty="0"/>
              <a:t>The 8-puzzle was one of the earliest heuristic search problems. As mentioned earlier, the object of the puzzle is to slide the tiles horizontally or vertically into the empty space until the configuration matches the goal configuration.</a:t>
            </a:r>
          </a:p>
          <a:p>
            <a:r>
              <a:rPr lang="en-US" dirty="0"/>
              <a:t>The average solution cost for a randomly generated 8-puzzle instance is about 22 steps. The branching factor is about 3. (When the empty tile is in the middle, four moves are possible; when it is in a corner, two; and when it is along an edge, three.) This means that an exhaustive tree search to depth 22 would look at about 3**22 ≈ 3.1 × 10**10 states.</a:t>
            </a:r>
          </a:p>
          <a:p>
            <a:r>
              <a:rPr lang="en-US" dirty="0"/>
              <a:t>If we want to find the shortest solutions, we need a heuristic function.</a:t>
            </a:r>
            <a:endParaRPr lang="en-IN" dirty="0"/>
          </a:p>
        </p:txBody>
      </p:sp>
    </p:spTree>
    <p:extLst>
      <p:ext uri="{BB962C8B-B14F-4D97-AF65-F5344CB8AC3E}">
        <p14:creationId xmlns:p14="http://schemas.microsoft.com/office/powerpoint/2010/main" val="2096518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F38CB-C723-675C-BC70-B47AF7B03EEB}"/>
              </a:ext>
            </a:extLst>
          </p:cNvPr>
          <p:cNvSpPr>
            <a:spLocks noGrp="1"/>
          </p:cNvSpPr>
          <p:nvPr>
            <p:ph idx="1"/>
          </p:nvPr>
        </p:nvSpPr>
        <p:spPr>
          <a:xfrm>
            <a:off x="838200" y="293511"/>
            <a:ext cx="10515600" cy="5883452"/>
          </a:xfrm>
        </p:spPr>
        <p:txBody>
          <a:bodyPr/>
          <a:lstStyle/>
          <a:p>
            <a:pPr marL="0" indent="0">
              <a:buNone/>
            </a:pPr>
            <a:r>
              <a:rPr lang="en-US" b="1" dirty="0"/>
              <a:t>Heuristic Function:</a:t>
            </a:r>
          </a:p>
          <a:p>
            <a:pPr marL="0" indent="0" algn="ctr">
              <a:buNone/>
            </a:pPr>
            <a:r>
              <a:rPr lang="en-US" b="1" dirty="0"/>
              <a:t>h(n) = h1(n) + h2(n)</a:t>
            </a:r>
            <a:endParaRPr lang="en-IN" b="1" dirty="0"/>
          </a:p>
          <a:p>
            <a:pPr marL="0" indent="0">
              <a:buNone/>
            </a:pPr>
            <a:r>
              <a:rPr lang="en-IN" b="1" dirty="0"/>
              <a:t>Where,</a:t>
            </a:r>
          </a:p>
          <a:p>
            <a:pPr marL="0" indent="0">
              <a:buNone/>
            </a:pPr>
            <a:r>
              <a:rPr lang="en-US" dirty="0"/>
              <a:t>h1(n) = the number of misplaced tiles.</a:t>
            </a:r>
          </a:p>
          <a:p>
            <a:pPr marL="0" indent="0">
              <a:buNone/>
            </a:pPr>
            <a:r>
              <a:rPr lang="en-US" dirty="0"/>
              <a:t>h2 (n) = the sum of the distances of the tiles from their goal positions.</a:t>
            </a:r>
          </a:p>
          <a:p>
            <a:pPr marL="0" indent="0">
              <a:buNone/>
            </a:pPr>
            <a:endParaRPr lang="en-US" b="1" dirty="0"/>
          </a:p>
        </p:txBody>
      </p:sp>
      <p:pic>
        <p:nvPicPr>
          <p:cNvPr id="5" name="Picture 4">
            <a:extLst>
              <a:ext uri="{FF2B5EF4-FFF2-40B4-BE49-F238E27FC236}">
                <a16:creationId xmlns:a16="http://schemas.microsoft.com/office/drawing/2014/main" id="{8DA81820-50EB-64A8-A0B5-1D988D02F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845" y="3429000"/>
            <a:ext cx="10250312" cy="3135488"/>
          </a:xfrm>
          <a:prstGeom prst="rect">
            <a:avLst/>
          </a:prstGeom>
        </p:spPr>
      </p:pic>
    </p:spTree>
    <p:extLst>
      <p:ext uri="{BB962C8B-B14F-4D97-AF65-F5344CB8AC3E}">
        <p14:creationId xmlns:p14="http://schemas.microsoft.com/office/powerpoint/2010/main" val="3491453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78389E-638E-BF67-1979-BA035DEC265E}"/>
              </a:ext>
            </a:extLst>
          </p:cNvPr>
          <p:cNvSpPr>
            <a:spLocks noGrp="1"/>
          </p:cNvSpPr>
          <p:nvPr>
            <p:ph idx="1"/>
          </p:nvPr>
        </p:nvSpPr>
        <p:spPr>
          <a:xfrm>
            <a:off x="838200" y="451556"/>
            <a:ext cx="10515600" cy="5725407"/>
          </a:xfrm>
        </p:spPr>
        <p:txBody>
          <a:bodyPr/>
          <a:lstStyle/>
          <a:p>
            <a:pPr marL="0" indent="0">
              <a:buNone/>
            </a:pPr>
            <a:r>
              <a:rPr lang="en-US" sz="3200" dirty="0"/>
              <a:t>h1(n) = Here, all of the eight tiles are out of position, so the start state would have h1(n) = 8.</a:t>
            </a:r>
          </a:p>
          <a:p>
            <a:pPr marL="0" indent="0">
              <a:buNone/>
            </a:pPr>
            <a:r>
              <a:rPr lang="pt-BR" sz="3200" dirty="0"/>
              <a:t>h2(n) = 3 + 1 + 2 + 2 + 2 + 3 + 3 + 2 = 18.</a:t>
            </a:r>
          </a:p>
          <a:p>
            <a:pPr marL="0" indent="0">
              <a:buNone/>
            </a:pPr>
            <a:r>
              <a:rPr lang="en-US" sz="3200" dirty="0"/>
              <a:t>h(n) = 8 +18 = 26.</a:t>
            </a:r>
          </a:p>
          <a:p>
            <a:r>
              <a:rPr lang="en-US" sz="3200" dirty="0"/>
              <a:t>It is easy to see from the definitions of the two heuristics that, for any node n, h2(n) ≥ h1(n).</a:t>
            </a:r>
          </a:p>
          <a:p>
            <a:pPr marL="0" indent="0">
              <a:buNone/>
            </a:pPr>
            <a:endParaRPr lang="en-IN" dirty="0"/>
          </a:p>
        </p:txBody>
      </p:sp>
    </p:spTree>
    <p:extLst>
      <p:ext uri="{BB962C8B-B14F-4D97-AF65-F5344CB8AC3E}">
        <p14:creationId xmlns:p14="http://schemas.microsoft.com/office/powerpoint/2010/main" val="3891479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2BD59-6F52-8BE5-897B-D0D8530AC4D3}"/>
              </a:ext>
            </a:extLst>
          </p:cNvPr>
          <p:cNvSpPr>
            <a:spLocks noGrp="1"/>
          </p:cNvSpPr>
          <p:nvPr>
            <p:ph type="title"/>
          </p:nvPr>
        </p:nvSpPr>
        <p:spPr/>
        <p:txBody>
          <a:bodyPr/>
          <a:lstStyle/>
          <a:p>
            <a:r>
              <a:rPr lang="en-US" b="1" dirty="0"/>
              <a:t>Generating admissible heuristics from relaxed problems</a:t>
            </a:r>
            <a:endParaRPr lang="en-IN" b="1" dirty="0"/>
          </a:p>
        </p:txBody>
      </p:sp>
      <p:sp>
        <p:nvSpPr>
          <p:cNvPr id="3" name="Content Placeholder 2">
            <a:extLst>
              <a:ext uri="{FF2B5EF4-FFF2-40B4-BE49-F238E27FC236}">
                <a16:creationId xmlns:a16="http://schemas.microsoft.com/office/drawing/2014/main" id="{44B7D358-7A21-A33F-5C67-951E8161B841}"/>
              </a:ext>
            </a:extLst>
          </p:cNvPr>
          <p:cNvSpPr>
            <a:spLocks noGrp="1"/>
          </p:cNvSpPr>
          <p:nvPr>
            <p:ph idx="1"/>
          </p:nvPr>
        </p:nvSpPr>
        <p:spPr/>
        <p:txBody>
          <a:bodyPr>
            <a:normAutofit/>
          </a:bodyPr>
          <a:lstStyle/>
          <a:p>
            <a:r>
              <a:rPr lang="en-US" sz="3200" dirty="0"/>
              <a:t>If the rules of the puzzle were changed so that a tile could move anywhere instead of just to the adjacent empty square, then h1(n) would give the exact number of steps in the shortest solution.</a:t>
            </a:r>
          </a:p>
          <a:p>
            <a:r>
              <a:rPr lang="en-US" sz="3200" dirty="0"/>
              <a:t> Similarly, if a tile could move one square in any direction, even onto an occupied square, then h2 would give the exact number of steps in the shortest solution. </a:t>
            </a:r>
          </a:p>
          <a:p>
            <a:r>
              <a:rPr lang="en-US" sz="3200" dirty="0"/>
              <a:t>A problem with fewer restrictions on the actions is called a </a:t>
            </a:r>
            <a:r>
              <a:rPr lang="en-US" sz="3200" b="1" dirty="0"/>
              <a:t>relaxed problem</a:t>
            </a:r>
            <a:r>
              <a:rPr lang="en-US" sz="3200" dirty="0"/>
              <a:t>.</a:t>
            </a:r>
            <a:endParaRPr lang="en-IN" sz="3200" dirty="0"/>
          </a:p>
        </p:txBody>
      </p:sp>
    </p:spTree>
    <p:extLst>
      <p:ext uri="{BB962C8B-B14F-4D97-AF65-F5344CB8AC3E}">
        <p14:creationId xmlns:p14="http://schemas.microsoft.com/office/powerpoint/2010/main" val="2735062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762FFE-2D7A-85A5-E795-DEBCC15E40B5}"/>
              </a:ext>
            </a:extLst>
          </p:cNvPr>
          <p:cNvSpPr>
            <a:spLocks noGrp="1"/>
          </p:cNvSpPr>
          <p:nvPr>
            <p:ph idx="1"/>
          </p:nvPr>
        </p:nvSpPr>
        <p:spPr>
          <a:xfrm>
            <a:off x="838200" y="282222"/>
            <a:ext cx="10515600" cy="6096000"/>
          </a:xfrm>
        </p:spPr>
        <p:txBody>
          <a:bodyPr>
            <a:normAutofit lnSpcReduction="10000"/>
          </a:bodyPr>
          <a:lstStyle/>
          <a:p>
            <a:r>
              <a:rPr lang="en-US" sz="3200" dirty="0"/>
              <a:t>If a problem definition is written down in a formal language, it is possible to construct relaxed problems automatically.</a:t>
            </a:r>
          </a:p>
          <a:p>
            <a:r>
              <a:rPr lang="en-US" sz="3200" dirty="0"/>
              <a:t>For example, if the 8-puzzle actions are described as:</a:t>
            </a:r>
          </a:p>
          <a:p>
            <a:r>
              <a:rPr lang="en-US" sz="3200" dirty="0"/>
              <a:t> A tile can move from square A to square B if A is horizontally or vertically adjacent to B and B is blank, </a:t>
            </a:r>
          </a:p>
          <a:p>
            <a:r>
              <a:rPr lang="en-US" sz="3200" dirty="0"/>
              <a:t>we can generate three relaxed problems by removing one or both of the conditions: </a:t>
            </a:r>
          </a:p>
          <a:p>
            <a:r>
              <a:rPr lang="en-US" sz="3200" dirty="0"/>
              <a:t>(a) A tile can move from square A to square B if A is adjacent to B.</a:t>
            </a:r>
          </a:p>
          <a:p>
            <a:r>
              <a:rPr lang="en-US" sz="3200" dirty="0"/>
              <a:t>(b) A tile can move from square A to square B if B is blank. </a:t>
            </a:r>
          </a:p>
          <a:p>
            <a:r>
              <a:rPr lang="en-US" sz="3200" dirty="0"/>
              <a:t>(c) A tile can move from square A to square B.</a:t>
            </a:r>
            <a:endParaRPr lang="en-IN" sz="3200" dirty="0"/>
          </a:p>
        </p:txBody>
      </p:sp>
    </p:spTree>
    <p:extLst>
      <p:ext uri="{BB962C8B-B14F-4D97-AF65-F5344CB8AC3E}">
        <p14:creationId xmlns:p14="http://schemas.microsoft.com/office/powerpoint/2010/main" val="2029480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E6D1-914F-4CA5-F312-20A0983B9085}"/>
              </a:ext>
            </a:extLst>
          </p:cNvPr>
          <p:cNvSpPr>
            <a:spLocks noGrp="1"/>
          </p:cNvSpPr>
          <p:nvPr>
            <p:ph type="title"/>
          </p:nvPr>
        </p:nvSpPr>
        <p:spPr/>
        <p:txBody>
          <a:bodyPr/>
          <a:lstStyle/>
          <a:p>
            <a:r>
              <a:rPr lang="en-US" b="1" dirty="0"/>
              <a:t>Generating admissible heuristics from subproblems: Pattern databases</a:t>
            </a:r>
            <a:endParaRPr lang="en-IN" b="1" dirty="0"/>
          </a:p>
        </p:txBody>
      </p:sp>
      <p:sp>
        <p:nvSpPr>
          <p:cNvPr id="3" name="Content Placeholder 2">
            <a:extLst>
              <a:ext uri="{FF2B5EF4-FFF2-40B4-BE49-F238E27FC236}">
                <a16:creationId xmlns:a16="http://schemas.microsoft.com/office/drawing/2014/main" id="{569DB0C5-3704-CB6E-9DF8-70EE7E403AEE}"/>
              </a:ext>
            </a:extLst>
          </p:cNvPr>
          <p:cNvSpPr>
            <a:spLocks noGrp="1"/>
          </p:cNvSpPr>
          <p:nvPr>
            <p:ph idx="1"/>
          </p:nvPr>
        </p:nvSpPr>
        <p:spPr>
          <a:xfrm>
            <a:off x="838200" y="1825625"/>
            <a:ext cx="10515600" cy="4667250"/>
          </a:xfrm>
        </p:spPr>
        <p:txBody>
          <a:bodyPr/>
          <a:lstStyle/>
          <a:p>
            <a:r>
              <a:rPr lang="en-US" dirty="0"/>
              <a:t>Admissible heuristics can also be derived from the solution cost of a subproblem of a given problem.</a:t>
            </a:r>
          </a:p>
          <a:p>
            <a:endParaRPr lang="en-US" dirty="0"/>
          </a:p>
          <a:p>
            <a:endParaRPr lang="en-US" dirty="0"/>
          </a:p>
          <a:p>
            <a:endParaRPr lang="en-US" dirty="0"/>
          </a:p>
          <a:p>
            <a:endParaRPr lang="en-US" dirty="0"/>
          </a:p>
          <a:p>
            <a:endParaRPr lang="en-US" dirty="0"/>
          </a:p>
          <a:p>
            <a:endParaRPr lang="en-US" dirty="0"/>
          </a:p>
          <a:p>
            <a:pPr marL="0" indent="0">
              <a:buNone/>
            </a:pPr>
            <a:endParaRPr lang="en-IN" dirty="0"/>
          </a:p>
        </p:txBody>
      </p:sp>
      <p:pic>
        <p:nvPicPr>
          <p:cNvPr id="5" name="Picture 4">
            <a:extLst>
              <a:ext uri="{FF2B5EF4-FFF2-40B4-BE49-F238E27FC236}">
                <a16:creationId xmlns:a16="http://schemas.microsoft.com/office/drawing/2014/main" id="{00281555-622B-0E79-0542-FEFEF829FF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890" y="2867377"/>
            <a:ext cx="9832622" cy="3318933"/>
          </a:xfrm>
          <a:prstGeom prst="rect">
            <a:avLst/>
          </a:prstGeom>
        </p:spPr>
      </p:pic>
    </p:spTree>
    <p:extLst>
      <p:ext uri="{BB962C8B-B14F-4D97-AF65-F5344CB8AC3E}">
        <p14:creationId xmlns:p14="http://schemas.microsoft.com/office/powerpoint/2010/main" val="3369208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12C1BE-E957-C1AD-DFCA-41496A7AE01B}"/>
              </a:ext>
            </a:extLst>
          </p:cNvPr>
          <p:cNvSpPr>
            <a:spLocks noGrp="1"/>
          </p:cNvSpPr>
          <p:nvPr>
            <p:ph idx="1"/>
          </p:nvPr>
        </p:nvSpPr>
        <p:spPr>
          <a:xfrm>
            <a:off x="838200" y="496711"/>
            <a:ext cx="10515600" cy="5892800"/>
          </a:xfrm>
        </p:spPr>
        <p:txBody>
          <a:bodyPr>
            <a:normAutofit/>
          </a:bodyPr>
          <a:lstStyle/>
          <a:p>
            <a:r>
              <a:rPr lang="en-US" dirty="0"/>
              <a:t>The subproblem involves getting tiles 1, 2, 3, 4 into their correct positions. Clearly, the cost of the optimal solution of this subproblem is a lower bound on the cost of the complete problem.</a:t>
            </a:r>
          </a:p>
          <a:p>
            <a:r>
              <a:rPr lang="en-US" dirty="0"/>
              <a:t>One might wonder whether the heuristics obtained from the 1-2-3-4 database and the 5-6-7-8 could be added, since the two subproblems seem not to overlap. Would this still give an admissible heuristic? </a:t>
            </a:r>
          </a:p>
          <a:p>
            <a:r>
              <a:rPr lang="en-US" dirty="0"/>
              <a:t>The answer is no, because the solutions of the 1-2-3-4 subproblem and the 5-6-7-8 subproblem for a given state will almost certainly share some moves—it is unlikely that 1-2-3-4 can be moved into place without touching 5-6-7-8, and vice versa.</a:t>
            </a:r>
          </a:p>
          <a:p>
            <a:r>
              <a:rPr lang="en-US" dirty="0"/>
              <a:t>we record not the total cost of solving the 1-2- 3-4 subproblem, but just the number of moves involving 1-2-3-4.</a:t>
            </a:r>
            <a:endParaRPr lang="en-IN" dirty="0"/>
          </a:p>
        </p:txBody>
      </p:sp>
    </p:spTree>
    <p:extLst>
      <p:ext uri="{BB962C8B-B14F-4D97-AF65-F5344CB8AC3E}">
        <p14:creationId xmlns:p14="http://schemas.microsoft.com/office/powerpoint/2010/main" val="738875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349E2-E8B7-8450-0F82-7E1B409E6D60}"/>
              </a:ext>
            </a:extLst>
          </p:cNvPr>
          <p:cNvSpPr>
            <a:spLocks noGrp="1"/>
          </p:cNvSpPr>
          <p:nvPr>
            <p:ph type="title"/>
          </p:nvPr>
        </p:nvSpPr>
        <p:spPr>
          <a:xfrm>
            <a:off x="838200" y="225779"/>
            <a:ext cx="10515600" cy="914399"/>
          </a:xfrm>
        </p:spPr>
        <p:txBody>
          <a:bodyPr/>
          <a:lstStyle/>
          <a:p>
            <a:r>
              <a:rPr lang="en-IN" b="1" dirty="0"/>
              <a:t>Learning heuristics from experience</a:t>
            </a:r>
          </a:p>
        </p:txBody>
      </p:sp>
      <p:sp>
        <p:nvSpPr>
          <p:cNvPr id="3" name="Content Placeholder 2">
            <a:extLst>
              <a:ext uri="{FF2B5EF4-FFF2-40B4-BE49-F238E27FC236}">
                <a16:creationId xmlns:a16="http://schemas.microsoft.com/office/drawing/2014/main" id="{55F40A46-88F2-FF45-FB02-094AEB0EEAF7}"/>
              </a:ext>
            </a:extLst>
          </p:cNvPr>
          <p:cNvSpPr>
            <a:spLocks noGrp="1"/>
          </p:cNvSpPr>
          <p:nvPr>
            <p:ph idx="1"/>
          </p:nvPr>
        </p:nvSpPr>
        <p:spPr>
          <a:xfrm>
            <a:off x="838200" y="1219199"/>
            <a:ext cx="10515600" cy="5271911"/>
          </a:xfrm>
        </p:spPr>
        <p:txBody>
          <a:bodyPr>
            <a:normAutofit/>
          </a:bodyPr>
          <a:lstStyle/>
          <a:p>
            <a:r>
              <a:rPr lang="en-US" sz="3200" dirty="0"/>
              <a:t>“Experience” here means solving lots of 8-puzzles, for instance. Each optimal solution to an 8-puzzle problem provides examples from which h(n) can be learned.</a:t>
            </a:r>
          </a:p>
          <a:p>
            <a:r>
              <a:rPr lang="en-US" sz="3200" dirty="0"/>
              <a:t>From these examples, a learning algorithm can be used to construct a function h(n) that can predict solution costs for other states that arise during search.</a:t>
            </a:r>
          </a:p>
          <a:p>
            <a:pPr marL="0" indent="0" algn="ctr">
              <a:buNone/>
            </a:pPr>
            <a:r>
              <a:rPr lang="pt-BR" sz="3200" dirty="0"/>
              <a:t>h(n) = c1x1(n) + c2x2(n) </a:t>
            </a:r>
          </a:p>
          <a:p>
            <a:r>
              <a:rPr lang="en-US" sz="3200" dirty="0"/>
              <a:t>The constants c1 and c2 are adjusted to give the best fit to the actual data on solution costs.</a:t>
            </a:r>
            <a:endParaRPr lang="en-IN" sz="3200" dirty="0"/>
          </a:p>
        </p:txBody>
      </p:sp>
    </p:spTree>
    <p:extLst>
      <p:ext uri="{BB962C8B-B14F-4D97-AF65-F5344CB8AC3E}">
        <p14:creationId xmlns:p14="http://schemas.microsoft.com/office/powerpoint/2010/main" val="2619685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1C64-0694-18B6-BEF1-61CB110273C8}"/>
              </a:ext>
            </a:extLst>
          </p:cNvPr>
          <p:cNvSpPr>
            <a:spLocks noGrp="1"/>
          </p:cNvSpPr>
          <p:nvPr>
            <p:ph type="title"/>
          </p:nvPr>
        </p:nvSpPr>
        <p:spPr/>
        <p:txBody>
          <a:bodyPr/>
          <a:lstStyle/>
          <a:p>
            <a:r>
              <a:rPr lang="en-US" b="1" dirty="0"/>
              <a:t>LOCAL SEARCH ALGORITHMS AND OPTIMIZATION PROBLEMS</a:t>
            </a:r>
            <a:endParaRPr lang="en-IN" b="1" dirty="0"/>
          </a:p>
        </p:txBody>
      </p:sp>
      <p:sp>
        <p:nvSpPr>
          <p:cNvPr id="3" name="Content Placeholder 2">
            <a:extLst>
              <a:ext uri="{FF2B5EF4-FFF2-40B4-BE49-F238E27FC236}">
                <a16:creationId xmlns:a16="http://schemas.microsoft.com/office/drawing/2014/main" id="{3738DEF6-0808-293F-85D5-1939E1559411}"/>
              </a:ext>
            </a:extLst>
          </p:cNvPr>
          <p:cNvSpPr>
            <a:spLocks noGrp="1"/>
          </p:cNvSpPr>
          <p:nvPr>
            <p:ph idx="1"/>
          </p:nvPr>
        </p:nvSpPr>
        <p:spPr/>
        <p:txBody>
          <a:bodyPr/>
          <a:lstStyle/>
          <a:p>
            <a:r>
              <a:rPr lang="en-US" dirty="0"/>
              <a:t>When a goal is found, the path to that goal also constitutes a solution to the problem. In many problems, however, the path to the goal is irrelevant. </a:t>
            </a:r>
          </a:p>
          <a:p>
            <a:r>
              <a:rPr lang="en-US" dirty="0"/>
              <a:t>For example, in the 8-queens problem, what matters is the final configuration of queens, not the order in which they are added.</a:t>
            </a:r>
          </a:p>
          <a:p>
            <a:r>
              <a:rPr lang="en-US"/>
              <a:t>The same general property holds for many important applications such as integrated-circuit design, factory-floor layout, job-shop scheduling, automatic programming, telecommunications network optimization, vehicle routing, and portfolio management. </a:t>
            </a:r>
            <a:endParaRPr lang="en-IN" dirty="0"/>
          </a:p>
        </p:txBody>
      </p:sp>
    </p:spTree>
    <p:extLst>
      <p:ext uri="{BB962C8B-B14F-4D97-AF65-F5344CB8AC3E}">
        <p14:creationId xmlns:p14="http://schemas.microsoft.com/office/powerpoint/2010/main" val="4170829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1108-F1FF-C3AE-1019-A93ECBCEC6C4}"/>
              </a:ext>
            </a:extLst>
          </p:cNvPr>
          <p:cNvSpPr>
            <a:spLocks noGrp="1"/>
          </p:cNvSpPr>
          <p:nvPr>
            <p:ph type="title"/>
          </p:nvPr>
        </p:nvSpPr>
        <p:spPr/>
        <p:txBody>
          <a:bodyPr/>
          <a:lstStyle/>
          <a:p>
            <a:r>
              <a:rPr lang="en-US" b="1" dirty="0"/>
              <a:t>LOCAL SEARCH ALGORITHMS</a:t>
            </a:r>
            <a:endParaRPr lang="en-IN" dirty="0"/>
          </a:p>
        </p:txBody>
      </p:sp>
      <p:sp>
        <p:nvSpPr>
          <p:cNvPr id="3" name="Content Placeholder 2">
            <a:extLst>
              <a:ext uri="{FF2B5EF4-FFF2-40B4-BE49-F238E27FC236}">
                <a16:creationId xmlns:a16="http://schemas.microsoft.com/office/drawing/2014/main" id="{43B5BB33-EE5E-8E0E-0F47-B18396CE0F3F}"/>
              </a:ext>
            </a:extLst>
          </p:cNvPr>
          <p:cNvSpPr>
            <a:spLocks noGrp="1"/>
          </p:cNvSpPr>
          <p:nvPr>
            <p:ph idx="1"/>
          </p:nvPr>
        </p:nvSpPr>
        <p:spPr/>
        <p:txBody>
          <a:bodyPr>
            <a:normAutofit/>
          </a:bodyPr>
          <a:lstStyle/>
          <a:p>
            <a:r>
              <a:rPr lang="en-US" dirty="0"/>
              <a:t>In addition to finding goals, local search algorithms are useful for solving pure optimization problems, in which the aim is to find the best state according to an objective function. </a:t>
            </a:r>
          </a:p>
          <a:p>
            <a:r>
              <a:rPr lang="en-IN" sz="3200" dirty="0"/>
              <a:t>Hill-climbing search</a:t>
            </a:r>
          </a:p>
          <a:p>
            <a:r>
              <a:rPr lang="en-IN" sz="3200" dirty="0"/>
              <a:t>Simulated annealing</a:t>
            </a:r>
          </a:p>
          <a:p>
            <a:r>
              <a:rPr lang="en-IN" sz="3200" dirty="0"/>
              <a:t>Local beam search</a:t>
            </a:r>
          </a:p>
          <a:p>
            <a:r>
              <a:rPr lang="en-IN" sz="3200" dirty="0"/>
              <a:t>Genetic algorithms</a:t>
            </a:r>
          </a:p>
        </p:txBody>
      </p:sp>
    </p:spTree>
    <p:extLst>
      <p:ext uri="{BB962C8B-B14F-4D97-AF65-F5344CB8AC3E}">
        <p14:creationId xmlns:p14="http://schemas.microsoft.com/office/powerpoint/2010/main" val="3440223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F2C32-7AEB-0FDB-4B1C-6B82486CE0AA}"/>
              </a:ext>
            </a:extLst>
          </p:cNvPr>
          <p:cNvSpPr>
            <a:spLocks noGrp="1"/>
          </p:cNvSpPr>
          <p:nvPr>
            <p:ph type="title"/>
          </p:nvPr>
        </p:nvSpPr>
        <p:spPr>
          <a:xfrm>
            <a:off x="838200" y="169333"/>
            <a:ext cx="10515600" cy="824089"/>
          </a:xfrm>
        </p:spPr>
        <p:txBody>
          <a:bodyPr/>
          <a:lstStyle/>
          <a:p>
            <a:pPr algn="ctr"/>
            <a:r>
              <a:rPr lang="en-IN" sz="4400" b="1" dirty="0"/>
              <a:t>Hill-climbing search</a:t>
            </a:r>
            <a:endParaRPr lang="en-IN" b="1" dirty="0"/>
          </a:p>
        </p:txBody>
      </p:sp>
      <p:sp>
        <p:nvSpPr>
          <p:cNvPr id="3" name="Content Placeholder 2">
            <a:extLst>
              <a:ext uri="{FF2B5EF4-FFF2-40B4-BE49-F238E27FC236}">
                <a16:creationId xmlns:a16="http://schemas.microsoft.com/office/drawing/2014/main" id="{7748C405-2A6C-20E9-E56A-D911004DD71C}"/>
              </a:ext>
            </a:extLst>
          </p:cNvPr>
          <p:cNvSpPr>
            <a:spLocks noGrp="1"/>
          </p:cNvSpPr>
          <p:nvPr>
            <p:ph idx="1"/>
          </p:nvPr>
        </p:nvSpPr>
        <p:spPr>
          <a:xfrm>
            <a:off x="838200" y="993422"/>
            <a:ext cx="10515600" cy="5183541"/>
          </a:xfrm>
        </p:spPr>
        <p:txBody>
          <a:bodyPr>
            <a:normAutofit lnSpcReduction="10000"/>
          </a:bodyPr>
          <a:lstStyle/>
          <a:p>
            <a:r>
              <a:rPr lang="en-US" dirty="0"/>
              <a:t>It is simply a loop that continually moves in the direction of increasing value—that is, uphill. </a:t>
            </a:r>
          </a:p>
          <a:p>
            <a:r>
              <a:rPr lang="en-US" dirty="0"/>
              <a:t>It terminates when it reaches a “peak” where no neighbor has a higher value. </a:t>
            </a:r>
          </a:p>
          <a:p>
            <a:r>
              <a:rPr lang="en-US" dirty="0"/>
              <a:t>The algorithm does not maintain a search tree, so the data structure for the current node need only record the state and the value of the objective function. </a:t>
            </a:r>
          </a:p>
          <a:p>
            <a:r>
              <a:rPr lang="en-US" dirty="0"/>
              <a:t>Hill climbing does not look ahead beyond the immediate neighbors of the current state.</a:t>
            </a:r>
          </a:p>
          <a:p>
            <a:r>
              <a:rPr lang="en-US" dirty="0"/>
              <a:t>Hill climbing is sometimes called greedy local search because it grabs a good neighbor state without thinking ahead about where to go next.</a:t>
            </a:r>
            <a:endParaRPr lang="en-IN" dirty="0"/>
          </a:p>
        </p:txBody>
      </p:sp>
    </p:spTree>
    <p:extLst>
      <p:ext uri="{BB962C8B-B14F-4D97-AF65-F5344CB8AC3E}">
        <p14:creationId xmlns:p14="http://schemas.microsoft.com/office/powerpoint/2010/main" val="2856457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6491E9-05C1-8C0B-625F-E5FDCC9754C1}"/>
              </a:ext>
            </a:extLst>
          </p:cNvPr>
          <p:cNvSpPr>
            <a:spLocks noGrp="1"/>
          </p:cNvSpPr>
          <p:nvPr>
            <p:ph idx="1"/>
          </p:nvPr>
        </p:nvSpPr>
        <p:spPr>
          <a:xfrm>
            <a:off x="191729" y="147484"/>
            <a:ext cx="11162071" cy="6029479"/>
          </a:xfrm>
        </p:spPr>
        <p:txBody>
          <a:bodyPr>
            <a:normAutofit/>
          </a:bodyPr>
          <a:lstStyle/>
          <a:p>
            <a:pPr marL="0" indent="0">
              <a:buNone/>
            </a:pPr>
            <a:r>
              <a:rPr lang="en-US" sz="3200" b="1" dirty="0"/>
              <a:t>Hill climbing often gets stuck for the following reasons:</a:t>
            </a:r>
          </a:p>
          <a:p>
            <a:pPr marL="514350" indent="-514350">
              <a:buFont typeface="+mj-lt"/>
              <a:buAutoNum type="arabicPeriod"/>
            </a:pPr>
            <a:r>
              <a:rPr lang="en-US" sz="3200" b="1" dirty="0"/>
              <a:t>Local maxima: </a:t>
            </a:r>
            <a:r>
              <a:rPr lang="en-US" sz="3200" dirty="0"/>
              <a:t>a local maximum is a peak that is higher than each of its neighboring states but lower than the global maximum. </a:t>
            </a:r>
            <a:r>
              <a:rPr lang="en-US" sz="3200" b="1" dirty="0" err="1"/>
              <a:t>Solution:</a:t>
            </a:r>
            <a:r>
              <a:rPr lang="en-US" sz="3200" dirty="0" err="1"/>
              <a:t>Backtracking</a:t>
            </a:r>
            <a:endParaRPr lang="en-US" sz="3200" dirty="0"/>
          </a:p>
          <a:p>
            <a:pPr marL="514350" indent="-514350" algn="just">
              <a:buFont typeface="+mj-lt"/>
              <a:buAutoNum type="arabicPeriod"/>
            </a:pPr>
            <a:r>
              <a:rPr lang="en-US" sz="3200" b="1" dirty="0"/>
              <a:t>Ridges: </a:t>
            </a:r>
            <a:r>
              <a:rPr lang="en-US" sz="3200" dirty="0"/>
              <a:t>Ridges result in a sequence of local maxima that is very difficult for greedy algorithms to navigate. </a:t>
            </a:r>
            <a:r>
              <a:rPr lang="en-US" sz="3200" b="1" dirty="0"/>
              <a:t>Solution: </a:t>
            </a:r>
            <a:r>
              <a:rPr lang="en-US" sz="3200" dirty="0"/>
              <a:t>Ridge can be solved by moving in several directions at same time</a:t>
            </a:r>
          </a:p>
          <a:p>
            <a:pPr marL="514350" indent="-514350" algn="just">
              <a:buFont typeface="+mj-lt"/>
              <a:buAutoNum type="arabicPeriod"/>
            </a:pPr>
            <a:r>
              <a:rPr lang="en-US" sz="3200" b="1" dirty="0"/>
              <a:t>Plateau: </a:t>
            </a:r>
            <a:r>
              <a:rPr lang="en-US" sz="3200" dirty="0"/>
              <a:t>a plateau is a flat area of the state-space landscape. It can be a flat local maximum, from which no uphill exit exists.</a:t>
            </a:r>
            <a:r>
              <a:rPr lang="en-US" sz="3200" b="1" dirty="0"/>
              <a:t> Solution: </a:t>
            </a:r>
            <a:r>
              <a:rPr lang="en-US" sz="3200" dirty="0"/>
              <a:t>plateau can be solved by making a high jump which will land in non plateau region.</a:t>
            </a:r>
            <a:endParaRPr lang="en-IN" sz="3200" b="1" dirty="0"/>
          </a:p>
        </p:txBody>
      </p:sp>
    </p:spTree>
    <p:extLst>
      <p:ext uri="{BB962C8B-B14F-4D97-AF65-F5344CB8AC3E}">
        <p14:creationId xmlns:p14="http://schemas.microsoft.com/office/powerpoint/2010/main" val="2795257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35DBD9-CB91-DCA8-C976-2D2359C20D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0800" y="745066"/>
            <a:ext cx="9708443" cy="5204177"/>
          </a:xfrm>
        </p:spPr>
      </p:pic>
    </p:spTree>
    <p:extLst>
      <p:ext uri="{BB962C8B-B14F-4D97-AF65-F5344CB8AC3E}">
        <p14:creationId xmlns:p14="http://schemas.microsoft.com/office/powerpoint/2010/main" val="4127960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BE51-2D3A-C42A-3381-9A22019AF0A9}"/>
              </a:ext>
            </a:extLst>
          </p:cNvPr>
          <p:cNvSpPr>
            <a:spLocks noGrp="1"/>
          </p:cNvSpPr>
          <p:nvPr>
            <p:ph type="title"/>
          </p:nvPr>
        </p:nvSpPr>
        <p:spPr/>
        <p:txBody>
          <a:bodyPr>
            <a:normAutofit/>
          </a:bodyPr>
          <a:lstStyle/>
          <a:p>
            <a:r>
              <a:rPr lang="en-US" b="1" dirty="0"/>
              <a:t>Types of Hill Climbing</a:t>
            </a:r>
            <a:br>
              <a:rPr lang="en-US" b="1" dirty="0"/>
            </a:br>
            <a:endParaRPr lang="en-IN" dirty="0"/>
          </a:p>
        </p:txBody>
      </p:sp>
      <p:sp>
        <p:nvSpPr>
          <p:cNvPr id="3" name="Content Placeholder 2">
            <a:extLst>
              <a:ext uri="{FF2B5EF4-FFF2-40B4-BE49-F238E27FC236}">
                <a16:creationId xmlns:a16="http://schemas.microsoft.com/office/drawing/2014/main" id="{F1314FBD-91F6-1CAE-E5BA-907F17E7D0E1}"/>
              </a:ext>
            </a:extLst>
          </p:cNvPr>
          <p:cNvSpPr>
            <a:spLocks noGrp="1"/>
          </p:cNvSpPr>
          <p:nvPr>
            <p:ph idx="1"/>
          </p:nvPr>
        </p:nvSpPr>
        <p:spPr/>
        <p:txBody>
          <a:bodyPr>
            <a:normAutofit fontScale="92500" lnSpcReduction="20000"/>
          </a:bodyPr>
          <a:lstStyle/>
          <a:p>
            <a:pPr marL="0" indent="0" algn="just" fontAlgn="base">
              <a:buNone/>
            </a:pPr>
            <a:r>
              <a:rPr lang="en-US" b="1" dirty="0"/>
              <a:t>1. Simple Hill Climbing Algorithm:</a:t>
            </a:r>
            <a:r>
              <a:rPr lang="en-US" dirty="0"/>
              <a:t> Simple Hill Climbing is a straightforward variant of hill climbing where the algorithm evaluates each </a:t>
            </a:r>
            <a:r>
              <a:rPr lang="en-US" dirty="0" err="1"/>
              <a:t>neighbouring</a:t>
            </a:r>
            <a:r>
              <a:rPr lang="en-US" dirty="0"/>
              <a:t> node one by one and selects the first node that offers an improvement over the current one.</a:t>
            </a:r>
          </a:p>
          <a:p>
            <a:pPr marL="0" indent="0" algn="just" fontAlgn="base">
              <a:buNone/>
            </a:pPr>
            <a:r>
              <a:rPr lang="en-US" b="1" dirty="0"/>
              <a:t>2. Steepest-Ascent Hill Climbing:</a:t>
            </a:r>
            <a:r>
              <a:rPr lang="en-US" dirty="0"/>
              <a:t> Steepest-Ascent Hill Climbing is an enhanced version of simple hill climbing. Instead of moving to the first neighboring node that improves the state, it evaluates all neighbors and moves to the one offering the highest improvement (steepest ascent).</a:t>
            </a:r>
          </a:p>
          <a:p>
            <a:pPr algn="just" fontAlgn="base"/>
            <a:r>
              <a:rPr lang="en-US" b="1" dirty="0"/>
              <a:t>3.Stochastic Hill Climbing:</a:t>
            </a:r>
            <a:r>
              <a:rPr lang="en-US" dirty="0"/>
              <a:t> Stochastic Hill Climbing introduces randomness into the search process. Instead of evaluating all neighbors or selecting the first improvement, it selects a random neighboring node and decides whether to move based on its improvement over the current state.</a:t>
            </a:r>
          </a:p>
          <a:p>
            <a:endParaRPr lang="en-IN" dirty="0"/>
          </a:p>
        </p:txBody>
      </p:sp>
    </p:spTree>
    <p:extLst>
      <p:ext uri="{BB962C8B-B14F-4D97-AF65-F5344CB8AC3E}">
        <p14:creationId xmlns:p14="http://schemas.microsoft.com/office/powerpoint/2010/main" val="4075683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0BD92C-1289-3B7F-DF3A-B642D9DBFD49}"/>
              </a:ext>
            </a:extLst>
          </p:cNvPr>
          <p:cNvPicPr>
            <a:picLocks noChangeAspect="1"/>
          </p:cNvPicPr>
          <p:nvPr/>
        </p:nvPicPr>
        <p:blipFill>
          <a:blip r:embed="rId2"/>
          <a:stretch>
            <a:fillRect/>
          </a:stretch>
        </p:blipFill>
        <p:spPr>
          <a:xfrm>
            <a:off x="825909" y="659174"/>
            <a:ext cx="10995995" cy="4989457"/>
          </a:xfrm>
          <a:prstGeom prst="rect">
            <a:avLst/>
          </a:prstGeom>
        </p:spPr>
      </p:pic>
    </p:spTree>
    <p:extLst>
      <p:ext uri="{BB962C8B-B14F-4D97-AF65-F5344CB8AC3E}">
        <p14:creationId xmlns:p14="http://schemas.microsoft.com/office/powerpoint/2010/main" val="2359576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21532-43FA-827B-F45F-5DA1E1ED42DA}"/>
              </a:ext>
            </a:extLst>
          </p:cNvPr>
          <p:cNvSpPr>
            <a:spLocks noGrp="1"/>
          </p:cNvSpPr>
          <p:nvPr>
            <p:ph type="title"/>
          </p:nvPr>
        </p:nvSpPr>
        <p:spPr>
          <a:xfrm>
            <a:off x="838200" y="180623"/>
            <a:ext cx="10515600" cy="982133"/>
          </a:xfrm>
        </p:spPr>
        <p:txBody>
          <a:bodyPr/>
          <a:lstStyle/>
          <a:p>
            <a:pPr algn="ctr"/>
            <a:r>
              <a:rPr lang="en-IN" sz="4400" b="1" dirty="0"/>
              <a:t>Simulated annealing</a:t>
            </a:r>
            <a:endParaRPr lang="en-IN" b="1" dirty="0"/>
          </a:p>
        </p:txBody>
      </p:sp>
      <p:sp>
        <p:nvSpPr>
          <p:cNvPr id="3" name="Content Placeholder 2">
            <a:extLst>
              <a:ext uri="{FF2B5EF4-FFF2-40B4-BE49-F238E27FC236}">
                <a16:creationId xmlns:a16="http://schemas.microsoft.com/office/drawing/2014/main" id="{E2DD6855-C639-C643-37BB-D26EA1520548}"/>
              </a:ext>
            </a:extLst>
          </p:cNvPr>
          <p:cNvSpPr>
            <a:spLocks noGrp="1"/>
          </p:cNvSpPr>
          <p:nvPr>
            <p:ph idx="1"/>
          </p:nvPr>
        </p:nvSpPr>
        <p:spPr>
          <a:xfrm>
            <a:off x="838200" y="1049867"/>
            <a:ext cx="10515600" cy="5127096"/>
          </a:xfrm>
        </p:spPr>
        <p:txBody>
          <a:bodyPr>
            <a:normAutofit/>
          </a:bodyPr>
          <a:lstStyle/>
          <a:p>
            <a:r>
              <a:rPr lang="en-US" sz="3200" b="0" i="0" dirty="0">
                <a:solidFill>
                  <a:srgbClr val="1F1F1F"/>
                </a:solidFill>
                <a:effectLst/>
                <a:highlight>
                  <a:srgbClr val="FFFFFF"/>
                </a:highlight>
                <a:latin typeface="Google Sans"/>
              </a:rPr>
              <a:t>Simulated annealing is </a:t>
            </a:r>
            <a:r>
              <a:rPr lang="en-US" sz="3200" b="0" i="0" dirty="0">
                <a:solidFill>
                  <a:srgbClr val="040C28"/>
                </a:solidFill>
                <a:effectLst/>
                <a:latin typeface="Google Sans"/>
              </a:rPr>
              <a:t>a probabilistic algorithm which tests points across a solution space to find the lowest minima</a:t>
            </a:r>
            <a:r>
              <a:rPr lang="en-US" sz="3200" b="0" i="0" dirty="0">
                <a:solidFill>
                  <a:srgbClr val="1F1F1F"/>
                </a:solidFill>
                <a:effectLst/>
                <a:highlight>
                  <a:srgbClr val="FFFFFF"/>
                </a:highlight>
                <a:latin typeface="Google Sans"/>
              </a:rPr>
              <a:t>. </a:t>
            </a:r>
          </a:p>
          <a:p>
            <a:r>
              <a:rPr lang="en-US" sz="3200" b="0" i="0" dirty="0">
                <a:solidFill>
                  <a:srgbClr val="1F1F1F"/>
                </a:solidFill>
                <a:effectLst/>
                <a:highlight>
                  <a:srgbClr val="FFFFFF"/>
                </a:highlight>
                <a:latin typeface="Google Sans"/>
              </a:rPr>
              <a:t>The algorithm is termed “simulated annealing” because it mirrors physical annealing, a process in which a material is repeatedly heated and cooled to elicit desired structural properties.</a:t>
            </a:r>
          </a:p>
          <a:p>
            <a:r>
              <a:rPr lang="en-US" sz="3200" dirty="0"/>
              <a:t>Simulated annealing was first used extensively to solve VLSI layout problems in the early 1980s.</a:t>
            </a:r>
          </a:p>
          <a:p>
            <a:r>
              <a:rPr lang="en-US" sz="3200" dirty="0"/>
              <a:t>It has been applied widely to factory scheduling and other large-scale optimization tasks.</a:t>
            </a:r>
            <a:endParaRPr lang="en-IN" sz="3200" dirty="0"/>
          </a:p>
        </p:txBody>
      </p:sp>
    </p:spTree>
    <p:extLst>
      <p:ext uri="{BB962C8B-B14F-4D97-AF65-F5344CB8AC3E}">
        <p14:creationId xmlns:p14="http://schemas.microsoft.com/office/powerpoint/2010/main" val="4039281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A64700-ACDF-C36A-03F9-EDF0A710E496}"/>
              </a:ext>
            </a:extLst>
          </p:cNvPr>
          <p:cNvPicPr>
            <a:picLocks noGrp="1" noChangeAspect="1"/>
          </p:cNvPicPr>
          <p:nvPr>
            <p:ph idx="1"/>
          </p:nvPr>
        </p:nvPicPr>
        <p:blipFill>
          <a:blip r:embed="rId2"/>
          <a:stretch>
            <a:fillRect/>
          </a:stretch>
        </p:blipFill>
        <p:spPr>
          <a:xfrm>
            <a:off x="1487129" y="684174"/>
            <a:ext cx="9228694" cy="4993955"/>
          </a:xfrm>
          <a:prstGeom prst="rect">
            <a:avLst/>
          </a:prstGeom>
        </p:spPr>
      </p:pic>
    </p:spTree>
    <p:extLst>
      <p:ext uri="{BB962C8B-B14F-4D97-AF65-F5344CB8AC3E}">
        <p14:creationId xmlns:p14="http://schemas.microsoft.com/office/powerpoint/2010/main" val="79086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9C20-A70A-6335-37CD-D72364A71C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AEDEAD-7786-A690-5B3E-5477160E1AE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21B20F8-DFE0-BB57-6EBC-E904FD6C08B6}"/>
              </a:ext>
            </a:extLst>
          </p:cNvPr>
          <p:cNvPicPr>
            <a:picLocks noChangeAspect="1"/>
          </p:cNvPicPr>
          <p:nvPr/>
        </p:nvPicPr>
        <p:blipFill>
          <a:blip r:embed="rId2"/>
          <a:stretch>
            <a:fillRect/>
          </a:stretch>
        </p:blipFill>
        <p:spPr>
          <a:xfrm>
            <a:off x="0" y="365125"/>
            <a:ext cx="11938547" cy="6127750"/>
          </a:xfrm>
          <a:prstGeom prst="rect">
            <a:avLst/>
          </a:prstGeom>
        </p:spPr>
      </p:pic>
    </p:spTree>
    <p:extLst>
      <p:ext uri="{BB962C8B-B14F-4D97-AF65-F5344CB8AC3E}">
        <p14:creationId xmlns:p14="http://schemas.microsoft.com/office/powerpoint/2010/main" val="229991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C162A-A046-9920-D2B5-BE71F7FAE823}"/>
              </a:ext>
            </a:extLst>
          </p:cNvPr>
          <p:cNvSpPr>
            <a:spLocks noGrp="1"/>
          </p:cNvSpPr>
          <p:nvPr>
            <p:ph type="title"/>
          </p:nvPr>
        </p:nvSpPr>
        <p:spPr>
          <a:xfrm>
            <a:off x="838200" y="203201"/>
            <a:ext cx="10515600" cy="835377"/>
          </a:xfrm>
        </p:spPr>
        <p:txBody>
          <a:bodyPr/>
          <a:lstStyle/>
          <a:p>
            <a:pPr algn="ctr"/>
            <a:r>
              <a:rPr lang="en-IN" sz="4400" b="1" dirty="0"/>
              <a:t>Local beam search</a:t>
            </a:r>
            <a:endParaRPr lang="en-IN" b="1" dirty="0"/>
          </a:p>
        </p:txBody>
      </p:sp>
      <p:sp>
        <p:nvSpPr>
          <p:cNvPr id="3" name="Content Placeholder 2">
            <a:extLst>
              <a:ext uri="{FF2B5EF4-FFF2-40B4-BE49-F238E27FC236}">
                <a16:creationId xmlns:a16="http://schemas.microsoft.com/office/drawing/2014/main" id="{3301CBB4-893E-156A-ED29-BB05855C66DE}"/>
              </a:ext>
            </a:extLst>
          </p:cNvPr>
          <p:cNvSpPr>
            <a:spLocks noGrp="1"/>
          </p:cNvSpPr>
          <p:nvPr>
            <p:ph idx="1"/>
          </p:nvPr>
        </p:nvSpPr>
        <p:spPr>
          <a:xfrm>
            <a:off x="838200" y="1038578"/>
            <a:ext cx="10515600" cy="5138385"/>
          </a:xfrm>
        </p:spPr>
        <p:txBody>
          <a:bodyPr>
            <a:normAutofit lnSpcReduction="10000"/>
          </a:bodyPr>
          <a:lstStyle/>
          <a:p>
            <a:r>
              <a:rPr lang="en-US" sz="3200" dirty="0"/>
              <a:t>Keeping just one node in memory might seem to be an extreme reaction to the problem of memory limitations. The local beam search algorithm keeps track of k states rather than just one. </a:t>
            </a:r>
          </a:p>
          <a:p>
            <a:r>
              <a:rPr lang="en-US" sz="3200" dirty="0"/>
              <a:t>It begins with k randomly generated states. At each step, all the successors of all k states are generated. If any one is a goal, the algorithm halts. Otherwise, it selects the k best successors from the complete list and repeats.</a:t>
            </a:r>
          </a:p>
          <a:p>
            <a:r>
              <a:rPr lang="en-US" sz="3200" dirty="0"/>
              <a:t>A variant called </a:t>
            </a:r>
            <a:r>
              <a:rPr lang="en-US" sz="3200" b="1" dirty="0"/>
              <a:t>stochastic beam search,</a:t>
            </a:r>
            <a:r>
              <a:rPr lang="en-US" sz="3200" dirty="0"/>
              <a:t> instead of choosing the best k from the </a:t>
            </a:r>
            <a:r>
              <a:rPr lang="en-US" sz="3200" dirty="0" err="1"/>
              <a:t>the</a:t>
            </a:r>
            <a:r>
              <a:rPr lang="en-US" sz="3200" dirty="0"/>
              <a:t> pool of candidate successors, stochastic beam search chooses k successors at random.</a:t>
            </a:r>
            <a:endParaRPr lang="en-IN" sz="3200" dirty="0"/>
          </a:p>
        </p:txBody>
      </p:sp>
    </p:spTree>
    <p:extLst>
      <p:ext uri="{BB962C8B-B14F-4D97-AF65-F5344CB8AC3E}">
        <p14:creationId xmlns:p14="http://schemas.microsoft.com/office/powerpoint/2010/main" val="1811455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33E0-6702-30AE-EFE0-38C6F1D64495}"/>
              </a:ext>
            </a:extLst>
          </p:cNvPr>
          <p:cNvSpPr>
            <a:spLocks noGrp="1"/>
          </p:cNvSpPr>
          <p:nvPr>
            <p:ph type="title"/>
          </p:nvPr>
        </p:nvSpPr>
        <p:spPr>
          <a:xfrm>
            <a:off x="838200" y="203201"/>
            <a:ext cx="10515600" cy="891821"/>
          </a:xfrm>
        </p:spPr>
        <p:txBody>
          <a:bodyPr/>
          <a:lstStyle/>
          <a:p>
            <a:pPr algn="ctr"/>
            <a:r>
              <a:rPr lang="en-IN" sz="4400" b="1" dirty="0"/>
              <a:t>Genetic algorithms</a:t>
            </a:r>
            <a:endParaRPr lang="en-IN" b="1" dirty="0"/>
          </a:p>
        </p:txBody>
      </p:sp>
      <p:sp>
        <p:nvSpPr>
          <p:cNvPr id="3" name="Content Placeholder 2">
            <a:extLst>
              <a:ext uri="{FF2B5EF4-FFF2-40B4-BE49-F238E27FC236}">
                <a16:creationId xmlns:a16="http://schemas.microsoft.com/office/drawing/2014/main" id="{60364932-4BBF-A6B8-EA33-881E30662A38}"/>
              </a:ext>
            </a:extLst>
          </p:cNvPr>
          <p:cNvSpPr>
            <a:spLocks noGrp="1"/>
          </p:cNvSpPr>
          <p:nvPr>
            <p:ph idx="1"/>
          </p:nvPr>
        </p:nvSpPr>
        <p:spPr>
          <a:xfrm>
            <a:off x="838200" y="993422"/>
            <a:ext cx="10515600" cy="5183541"/>
          </a:xfrm>
        </p:spPr>
        <p:txBody>
          <a:bodyPr/>
          <a:lstStyle/>
          <a:p>
            <a:r>
              <a:rPr lang="en-US" dirty="0"/>
              <a:t>A genetic algorithm, in which successor states are generated by combining two parent states rather than by modifying a single state.</a:t>
            </a:r>
          </a:p>
          <a:p>
            <a:pPr marL="0" indent="0">
              <a:buNone/>
            </a:pPr>
            <a:endParaRPr lang="en-IN" dirty="0"/>
          </a:p>
        </p:txBody>
      </p:sp>
      <p:pic>
        <p:nvPicPr>
          <p:cNvPr id="5" name="Picture 4">
            <a:extLst>
              <a:ext uri="{FF2B5EF4-FFF2-40B4-BE49-F238E27FC236}">
                <a16:creationId xmlns:a16="http://schemas.microsoft.com/office/drawing/2014/main" id="{A8D08A67-C949-8203-D6EA-BAEEB046F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444" y="2381956"/>
            <a:ext cx="10281356" cy="4120443"/>
          </a:xfrm>
          <a:prstGeom prst="rect">
            <a:avLst/>
          </a:prstGeom>
        </p:spPr>
      </p:pic>
    </p:spTree>
    <p:extLst>
      <p:ext uri="{BB962C8B-B14F-4D97-AF65-F5344CB8AC3E}">
        <p14:creationId xmlns:p14="http://schemas.microsoft.com/office/powerpoint/2010/main" val="279948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C1BE5C-8285-669B-08BB-9220AA4F560A}"/>
              </a:ext>
            </a:extLst>
          </p:cNvPr>
          <p:cNvSpPr>
            <a:spLocks noGrp="1"/>
          </p:cNvSpPr>
          <p:nvPr>
            <p:ph idx="1"/>
          </p:nvPr>
        </p:nvSpPr>
        <p:spPr>
          <a:xfrm>
            <a:off x="838200" y="316089"/>
            <a:ext cx="10515600" cy="5860874"/>
          </a:xfrm>
        </p:spPr>
        <p:txBody>
          <a:bodyPr>
            <a:normAutofit/>
          </a:bodyPr>
          <a:lstStyle/>
          <a:p>
            <a:r>
              <a:rPr lang="en-US" sz="3200" dirty="0"/>
              <a:t>GAs begin with a set of k randomly generated states, called the </a:t>
            </a:r>
            <a:r>
              <a:rPr lang="en-US" sz="3200" b="1" dirty="0"/>
              <a:t>population</a:t>
            </a:r>
            <a:r>
              <a:rPr lang="en-US" sz="3200" dirty="0"/>
              <a:t>. Each state, or </a:t>
            </a:r>
            <a:r>
              <a:rPr lang="en-US" sz="3200" b="1" dirty="0"/>
              <a:t>individual</a:t>
            </a:r>
            <a:r>
              <a:rPr lang="en-US" sz="3200" dirty="0"/>
              <a:t>, is represented as a string over a finite alphabet—most commonly, a string of 0s and 1s.</a:t>
            </a:r>
          </a:p>
          <a:p>
            <a:r>
              <a:rPr lang="en-US" sz="3200" dirty="0"/>
              <a:t>The production of the next generation of states is rated by the objective function, or the </a:t>
            </a:r>
            <a:r>
              <a:rPr lang="en-US" sz="3200" b="1" dirty="0"/>
              <a:t>fitness function</a:t>
            </a:r>
            <a:r>
              <a:rPr lang="en-US" sz="3200" dirty="0"/>
              <a:t>.</a:t>
            </a:r>
          </a:p>
          <a:p>
            <a:r>
              <a:rPr lang="en-US" sz="3200" dirty="0"/>
              <a:t>For each pair to be mated, a </a:t>
            </a:r>
            <a:r>
              <a:rPr lang="en-US" sz="3200" b="1" dirty="0"/>
              <a:t>crossover</a:t>
            </a:r>
            <a:r>
              <a:rPr lang="en-US" sz="3200" dirty="0"/>
              <a:t> point is chosen randomly from the positions in the string.</a:t>
            </a:r>
          </a:p>
          <a:p>
            <a:r>
              <a:rPr lang="en-US" sz="3200" dirty="0"/>
              <a:t>Finally, each location is subject to random </a:t>
            </a:r>
            <a:r>
              <a:rPr lang="en-US" sz="3200" b="1" dirty="0"/>
              <a:t>mutation</a:t>
            </a:r>
            <a:r>
              <a:rPr lang="en-US" sz="3200" dirty="0"/>
              <a:t> with a small independent probability.</a:t>
            </a:r>
            <a:endParaRPr lang="en-IN" sz="3200" dirty="0"/>
          </a:p>
        </p:txBody>
      </p:sp>
    </p:spTree>
    <p:extLst>
      <p:ext uri="{BB962C8B-B14F-4D97-AF65-F5344CB8AC3E}">
        <p14:creationId xmlns:p14="http://schemas.microsoft.com/office/powerpoint/2010/main" val="1008880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8086D4-CB2E-A60C-D5F2-267431E431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7912" y="925689"/>
            <a:ext cx="9471377" cy="4944533"/>
          </a:xfrm>
        </p:spPr>
      </p:pic>
    </p:spTree>
    <p:extLst>
      <p:ext uri="{BB962C8B-B14F-4D97-AF65-F5344CB8AC3E}">
        <p14:creationId xmlns:p14="http://schemas.microsoft.com/office/powerpoint/2010/main" val="3200964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252A-4F2B-2857-4130-79BB623C78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B70FDA-2B01-469B-0002-DDD74139B4D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DC20358-ED19-F61A-78F3-F69BF5B8FECA}"/>
              </a:ext>
            </a:extLst>
          </p:cNvPr>
          <p:cNvPicPr>
            <a:picLocks noChangeAspect="1"/>
          </p:cNvPicPr>
          <p:nvPr/>
        </p:nvPicPr>
        <p:blipFill>
          <a:blip r:embed="rId2"/>
          <a:stretch>
            <a:fillRect/>
          </a:stretch>
        </p:blipFill>
        <p:spPr>
          <a:xfrm>
            <a:off x="838200" y="365125"/>
            <a:ext cx="10223090" cy="6083899"/>
          </a:xfrm>
          <a:prstGeom prst="rect">
            <a:avLst/>
          </a:prstGeom>
        </p:spPr>
      </p:pic>
    </p:spTree>
    <p:extLst>
      <p:ext uri="{BB962C8B-B14F-4D97-AF65-F5344CB8AC3E}">
        <p14:creationId xmlns:p14="http://schemas.microsoft.com/office/powerpoint/2010/main" val="2047227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9F187-EFD9-F55E-1F08-F9769214C2AA}"/>
              </a:ext>
            </a:extLst>
          </p:cNvPr>
          <p:cNvSpPr>
            <a:spLocks noGrp="1"/>
          </p:cNvSpPr>
          <p:nvPr>
            <p:ph type="title"/>
          </p:nvPr>
        </p:nvSpPr>
        <p:spPr>
          <a:xfrm>
            <a:off x="838200" y="112890"/>
            <a:ext cx="10515600" cy="835378"/>
          </a:xfrm>
        </p:spPr>
        <p:txBody>
          <a:bodyPr/>
          <a:lstStyle/>
          <a:p>
            <a:pPr algn="ctr"/>
            <a:r>
              <a:rPr lang="en-US" b="1" dirty="0"/>
              <a:t>Constraint Satisfaction Problems</a:t>
            </a:r>
            <a:endParaRPr lang="en-IN" b="1" dirty="0"/>
          </a:p>
        </p:txBody>
      </p:sp>
      <p:sp>
        <p:nvSpPr>
          <p:cNvPr id="3" name="Content Placeholder 2">
            <a:extLst>
              <a:ext uri="{FF2B5EF4-FFF2-40B4-BE49-F238E27FC236}">
                <a16:creationId xmlns:a16="http://schemas.microsoft.com/office/drawing/2014/main" id="{E029610E-D0FE-60E9-8250-A2EF540FD98B}"/>
              </a:ext>
            </a:extLst>
          </p:cNvPr>
          <p:cNvSpPr>
            <a:spLocks noGrp="1"/>
          </p:cNvSpPr>
          <p:nvPr>
            <p:ph idx="1"/>
          </p:nvPr>
        </p:nvSpPr>
        <p:spPr>
          <a:xfrm>
            <a:off x="838200" y="948268"/>
            <a:ext cx="10515600" cy="5228695"/>
          </a:xfrm>
        </p:spPr>
        <p:txBody>
          <a:bodyPr/>
          <a:lstStyle/>
          <a:p>
            <a:pPr algn="just"/>
            <a:r>
              <a:rPr lang="en-US" dirty="0"/>
              <a:t>A Constraint Satisfaction Problem(or CSP) is defined by a set of variables,X1,X2,….</a:t>
            </a:r>
            <a:r>
              <a:rPr lang="en-US" dirty="0" err="1"/>
              <a:t>Xn</a:t>
            </a:r>
            <a:r>
              <a:rPr lang="en-US" dirty="0"/>
              <a:t>, and a set of constraints C1,C2,…,Cm.</a:t>
            </a:r>
          </a:p>
          <a:p>
            <a:pPr algn="just"/>
            <a:r>
              <a:rPr lang="en-US" dirty="0"/>
              <a:t> Each variable Xi has a nonempty domain </a:t>
            </a:r>
            <a:r>
              <a:rPr lang="en-US" dirty="0" err="1"/>
              <a:t>D,of</a:t>
            </a:r>
            <a:r>
              <a:rPr lang="en-US" dirty="0"/>
              <a:t> possible values. Each constraint Ci involves some subset of variables and specifies the allowable combinations of values for that subset.</a:t>
            </a:r>
          </a:p>
          <a:p>
            <a:pPr algn="just"/>
            <a:r>
              <a:rPr lang="en-US" dirty="0"/>
              <a:t> A State of the problem is defined by an assignment of values to some or all of the variables,{Xi = </a:t>
            </a:r>
            <a:r>
              <a:rPr lang="en-US" dirty="0" err="1"/>
              <a:t>vi,Xj</a:t>
            </a:r>
            <a:r>
              <a:rPr lang="en-US" dirty="0"/>
              <a:t> = </a:t>
            </a:r>
            <a:r>
              <a:rPr lang="en-US" dirty="0" err="1"/>
              <a:t>vj</a:t>
            </a:r>
            <a:r>
              <a:rPr lang="en-US" dirty="0"/>
              <a:t>,…}. </a:t>
            </a:r>
          </a:p>
          <a:p>
            <a:pPr algn="just"/>
            <a:r>
              <a:rPr lang="en-US" dirty="0"/>
              <a:t>An assignment that does not violate any constraints is called a consistent or legal assignment. A complete assignment is one in which every variable is mentioned, and a solution to a CSP is a complete assignment that satisfies all the constraints.</a:t>
            </a:r>
          </a:p>
        </p:txBody>
      </p:sp>
    </p:spTree>
    <p:extLst>
      <p:ext uri="{BB962C8B-B14F-4D97-AF65-F5344CB8AC3E}">
        <p14:creationId xmlns:p14="http://schemas.microsoft.com/office/powerpoint/2010/main" val="1610913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20BF70-0E00-E06E-1D40-46063511FB1B}"/>
              </a:ext>
            </a:extLst>
          </p:cNvPr>
          <p:cNvPicPr>
            <a:picLocks noChangeAspect="1"/>
          </p:cNvPicPr>
          <p:nvPr/>
        </p:nvPicPr>
        <p:blipFill>
          <a:blip r:embed="rId2"/>
          <a:stretch>
            <a:fillRect/>
          </a:stretch>
        </p:blipFill>
        <p:spPr>
          <a:xfrm>
            <a:off x="4881715" y="2777450"/>
            <a:ext cx="7036055" cy="3746792"/>
          </a:xfrm>
          <a:prstGeom prst="rect">
            <a:avLst/>
          </a:prstGeom>
        </p:spPr>
      </p:pic>
      <p:sp>
        <p:nvSpPr>
          <p:cNvPr id="2" name="Title 1">
            <a:extLst>
              <a:ext uri="{FF2B5EF4-FFF2-40B4-BE49-F238E27FC236}">
                <a16:creationId xmlns:a16="http://schemas.microsoft.com/office/drawing/2014/main" id="{35C6CFFF-9EE8-F0AB-4F55-1B9A5A81DC8F}"/>
              </a:ext>
            </a:extLst>
          </p:cNvPr>
          <p:cNvSpPr>
            <a:spLocks noGrp="1"/>
          </p:cNvSpPr>
          <p:nvPr>
            <p:ph type="title"/>
          </p:nvPr>
        </p:nvSpPr>
        <p:spPr>
          <a:xfrm>
            <a:off x="838200" y="18255"/>
            <a:ext cx="10515600" cy="1325563"/>
          </a:xfrm>
        </p:spPr>
        <p:txBody>
          <a:bodyPr/>
          <a:lstStyle/>
          <a:p>
            <a:r>
              <a:rPr lang="en-US" b="1" dirty="0"/>
              <a:t>Constraint Satisfaction Problems</a:t>
            </a:r>
            <a:endParaRPr lang="en-IN" dirty="0"/>
          </a:p>
        </p:txBody>
      </p:sp>
      <p:sp>
        <p:nvSpPr>
          <p:cNvPr id="3" name="Content Placeholder 2">
            <a:extLst>
              <a:ext uri="{FF2B5EF4-FFF2-40B4-BE49-F238E27FC236}">
                <a16:creationId xmlns:a16="http://schemas.microsoft.com/office/drawing/2014/main" id="{9D036206-E0C0-9347-997B-7F1D8ACC4A71}"/>
              </a:ext>
            </a:extLst>
          </p:cNvPr>
          <p:cNvSpPr>
            <a:spLocks noGrp="1"/>
          </p:cNvSpPr>
          <p:nvPr>
            <p:ph idx="1"/>
          </p:nvPr>
        </p:nvSpPr>
        <p:spPr>
          <a:xfrm>
            <a:off x="675967" y="1147199"/>
            <a:ext cx="10515600" cy="4351338"/>
          </a:xfrm>
        </p:spPr>
        <p:txBody>
          <a:bodyPr/>
          <a:lstStyle/>
          <a:p>
            <a:pPr algn="just"/>
            <a:r>
              <a:rPr lang="en-US" dirty="0"/>
              <a:t>The map of Australia showing each of its states and territories. We are given the task of coloring each region either red, green, or blue in such a way that the neighboring regions have the same color. To formulate this as CSP, we define the variable to be the regions</a:t>
            </a:r>
          </a:p>
          <a:p>
            <a:pPr algn="just"/>
            <a:r>
              <a:rPr lang="en-US" dirty="0"/>
              <a:t>Solve the following map coloring problem using Constraint Satisfaction problem with Domain = {red, blue, green}</a:t>
            </a:r>
          </a:p>
          <a:p>
            <a:pPr algn="just"/>
            <a:endParaRPr lang="en-IN" dirty="0"/>
          </a:p>
        </p:txBody>
      </p:sp>
    </p:spTree>
    <p:extLst>
      <p:ext uri="{BB962C8B-B14F-4D97-AF65-F5344CB8AC3E}">
        <p14:creationId xmlns:p14="http://schemas.microsoft.com/office/powerpoint/2010/main" val="1653645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F75501-E1A1-DCD7-FDB6-DDDCB6C924E9}"/>
              </a:ext>
            </a:extLst>
          </p:cNvPr>
          <p:cNvPicPr>
            <a:picLocks noChangeAspect="1"/>
          </p:cNvPicPr>
          <p:nvPr/>
        </p:nvPicPr>
        <p:blipFill>
          <a:blip r:embed="rId2"/>
          <a:stretch>
            <a:fillRect/>
          </a:stretch>
        </p:blipFill>
        <p:spPr>
          <a:xfrm>
            <a:off x="1814051" y="365125"/>
            <a:ext cx="7730613" cy="5797960"/>
          </a:xfrm>
          <a:prstGeom prst="rect">
            <a:avLst/>
          </a:prstGeom>
        </p:spPr>
      </p:pic>
    </p:spTree>
    <p:extLst>
      <p:ext uri="{BB962C8B-B14F-4D97-AF65-F5344CB8AC3E}">
        <p14:creationId xmlns:p14="http://schemas.microsoft.com/office/powerpoint/2010/main" val="2952019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D3140-9ECD-6A28-AF0A-269CCB690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29D4C-4CCE-A25B-D378-D5720DD7F2E6}"/>
              </a:ext>
            </a:extLst>
          </p:cNvPr>
          <p:cNvSpPr>
            <a:spLocks noGrp="1"/>
          </p:cNvSpPr>
          <p:nvPr>
            <p:ph type="title"/>
          </p:nvPr>
        </p:nvSpPr>
        <p:spPr>
          <a:xfrm>
            <a:off x="838200" y="112890"/>
            <a:ext cx="10515600" cy="835378"/>
          </a:xfrm>
        </p:spPr>
        <p:txBody>
          <a:bodyPr/>
          <a:lstStyle/>
          <a:p>
            <a:pPr algn="ctr"/>
            <a:r>
              <a:rPr lang="en-US" b="1" dirty="0"/>
              <a:t>Constraint Satisfaction Problems</a:t>
            </a:r>
            <a:endParaRPr lang="en-IN" b="1" dirty="0"/>
          </a:p>
        </p:txBody>
      </p:sp>
      <p:sp>
        <p:nvSpPr>
          <p:cNvPr id="3" name="Content Placeholder 2">
            <a:extLst>
              <a:ext uri="{FF2B5EF4-FFF2-40B4-BE49-F238E27FC236}">
                <a16:creationId xmlns:a16="http://schemas.microsoft.com/office/drawing/2014/main" id="{D624187E-C30E-D603-E0CD-1936B75C4BC8}"/>
              </a:ext>
            </a:extLst>
          </p:cNvPr>
          <p:cNvSpPr>
            <a:spLocks noGrp="1"/>
          </p:cNvSpPr>
          <p:nvPr>
            <p:ph idx="1"/>
          </p:nvPr>
        </p:nvSpPr>
        <p:spPr>
          <a:xfrm>
            <a:off x="838200" y="948268"/>
            <a:ext cx="10515600" cy="5228695"/>
          </a:xfrm>
        </p:spPr>
        <p:txBody>
          <a:bodyPr>
            <a:normAutofit lnSpcReduction="10000"/>
          </a:bodyPr>
          <a:lstStyle/>
          <a:p>
            <a:endParaRPr lang="en-US" dirty="0"/>
          </a:p>
          <a:p>
            <a:r>
              <a:rPr lang="en-US" dirty="0"/>
              <a:t>CSP can be viewed as a standard search problem as follows: </a:t>
            </a:r>
          </a:p>
          <a:p>
            <a:pPr marL="0" indent="0">
              <a:buNone/>
            </a:pPr>
            <a:r>
              <a:rPr lang="en-US" dirty="0"/>
              <a:t>➢ Initial state: the empty assignment {},in which all variables are unassigned.</a:t>
            </a:r>
          </a:p>
          <a:p>
            <a:pPr marL="0" indent="0">
              <a:buNone/>
            </a:pPr>
            <a:r>
              <a:rPr lang="en-US" dirty="0"/>
              <a:t> ➢ Successor function: a value can be assigned to any unassigned variable, provided that it does not conflict with previously assigned variables.</a:t>
            </a:r>
          </a:p>
          <a:p>
            <a:pPr marL="0" indent="0">
              <a:buNone/>
            </a:pPr>
            <a:r>
              <a:rPr lang="en-US" dirty="0"/>
              <a:t> ➢ Goal test: the current assignment is complete. </a:t>
            </a:r>
          </a:p>
          <a:p>
            <a:pPr marL="0" indent="0">
              <a:buNone/>
            </a:pPr>
            <a:r>
              <a:rPr lang="en-US" dirty="0"/>
              <a:t>➢ Path cost: a constant cost(E.g.,1) for every step. </a:t>
            </a:r>
          </a:p>
          <a:p>
            <a:pPr marL="0" indent="0">
              <a:buNone/>
            </a:pPr>
            <a:r>
              <a:rPr lang="en-US" dirty="0"/>
              <a:t>Every solution must be a complete assignment and therefore appears at depth n if there are n variables. Depth first search algorithms are popular for CSPs</a:t>
            </a:r>
          </a:p>
          <a:p>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48075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F962A-7ED3-2B74-34B2-88B5C97596A4}"/>
              </a:ext>
            </a:extLst>
          </p:cNvPr>
          <p:cNvSpPr>
            <a:spLocks noGrp="1"/>
          </p:cNvSpPr>
          <p:nvPr>
            <p:ph type="title"/>
          </p:nvPr>
        </p:nvSpPr>
        <p:spPr>
          <a:xfrm>
            <a:off x="838200" y="0"/>
            <a:ext cx="10515600" cy="1325563"/>
          </a:xfrm>
        </p:spPr>
        <p:txBody>
          <a:bodyPr/>
          <a:lstStyle/>
          <a:p>
            <a:r>
              <a:rPr lang="en-US" b="1" dirty="0"/>
              <a:t>Constraint Satisfaction Problems</a:t>
            </a:r>
            <a:endParaRPr lang="en-IN" dirty="0"/>
          </a:p>
        </p:txBody>
      </p:sp>
      <p:sp>
        <p:nvSpPr>
          <p:cNvPr id="3" name="Content Placeholder 2">
            <a:extLst>
              <a:ext uri="{FF2B5EF4-FFF2-40B4-BE49-F238E27FC236}">
                <a16:creationId xmlns:a16="http://schemas.microsoft.com/office/drawing/2014/main" id="{8E4048AC-9F0B-4633-A0B5-B7747FB59980}"/>
              </a:ext>
            </a:extLst>
          </p:cNvPr>
          <p:cNvSpPr>
            <a:spLocks noGrp="1"/>
          </p:cNvSpPr>
          <p:nvPr>
            <p:ph idx="1"/>
          </p:nvPr>
        </p:nvSpPr>
        <p:spPr>
          <a:xfrm>
            <a:off x="427703" y="1325563"/>
            <a:ext cx="10926097" cy="4851400"/>
          </a:xfrm>
        </p:spPr>
        <p:txBody>
          <a:bodyPr>
            <a:normAutofit fontScale="92500" lnSpcReduction="10000"/>
          </a:bodyPr>
          <a:lstStyle/>
          <a:p>
            <a:pPr marL="0" indent="0">
              <a:buNone/>
            </a:pPr>
            <a:r>
              <a:rPr lang="en-IN" b="1" dirty="0"/>
              <a:t>Varieties of CSPs</a:t>
            </a:r>
          </a:p>
          <a:p>
            <a:pPr algn="just"/>
            <a:r>
              <a:rPr lang="en-IN" b="1" dirty="0"/>
              <a:t>Discrete variables Finite domains -</a:t>
            </a:r>
            <a:r>
              <a:rPr lang="en-US" dirty="0"/>
              <a:t>The simplest kind of CSP involves variables that are discrete and have finite domains. Map coloring problems are of this kind. The 8-queens problem can also be viewed as </a:t>
            </a:r>
            <a:r>
              <a:rPr lang="en-US" dirty="0" err="1"/>
              <a:t>finitedomain</a:t>
            </a:r>
            <a:r>
              <a:rPr lang="en-US" dirty="0"/>
              <a:t> CSP, where the variables Q1,Q2,…..Q8 are the positions each queen in columns 1,….8 and each variable has the domain {1,2,3,4,5,6,7,8}. </a:t>
            </a:r>
          </a:p>
          <a:p>
            <a:pPr algn="just"/>
            <a:r>
              <a:rPr lang="en-US" b="1" dirty="0"/>
              <a:t>Discrete variables can also have infinite domains </a:t>
            </a:r>
            <a:r>
              <a:rPr lang="en-US" dirty="0"/>
              <a:t>– for example, the set of integers or the set of strings. With infinite domains, it is no longer possible to describe constraints by enumerating all allowed combination of values.</a:t>
            </a:r>
          </a:p>
          <a:p>
            <a:pPr algn="just"/>
            <a:r>
              <a:rPr lang="en-US" dirty="0"/>
              <a:t>CSPs with </a:t>
            </a:r>
            <a:r>
              <a:rPr lang="en-US" b="1" dirty="0"/>
              <a:t>continuous domains </a:t>
            </a:r>
            <a:r>
              <a:rPr lang="en-US" dirty="0"/>
              <a:t>CSPs with continuous domains are very common in real world</a:t>
            </a:r>
            <a:endParaRPr lang="en-IN" dirty="0"/>
          </a:p>
        </p:txBody>
      </p:sp>
    </p:spTree>
    <p:extLst>
      <p:ext uri="{BB962C8B-B14F-4D97-AF65-F5344CB8AC3E}">
        <p14:creationId xmlns:p14="http://schemas.microsoft.com/office/powerpoint/2010/main" val="768634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B8DB-B8A7-972C-D1E0-50FB748384C9}"/>
              </a:ext>
            </a:extLst>
          </p:cNvPr>
          <p:cNvSpPr>
            <a:spLocks noGrp="1"/>
          </p:cNvSpPr>
          <p:nvPr>
            <p:ph type="title"/>
          </p:nvPr>
        </p:nvSpPr>
        <p:spPr/>
        <p:txBody>
          <a:bodyPr/>
          <a:lstStyle/>
          <a:p>
            <a:r>
              <a:rPr lang="en-US" dirty="0"/>
              <a:t>Varieties of constraints</a:t>
            </a:r>
            <a:endParaRPr lang="en-IN" dirty="0"/>
          </a:p>
        </p:txBody>
      </p:sp>
      <p:sp>
        <p:nvSpPr>
          <p:cNvPr id="3" name="Content Placeholder 2">
            <a:extLst>
              <a:ext uri="{FF2B5EF4-FFF2-40B4-BE49-F238E27FC236}">
                <a16:creationId xmlns:a16="http://schemas.microsoft.com/office/drawing/2014/main" id="{D2239E06-32A9-2501-7301-3A737E08AA29}"/>
              </a:ext>
            </a:extLst>
          </p:cNvPr>
          <p:cNvSpPr>
            <a:spLocks noGrp="1"/>
          </p:cNvSpPr>
          <p:nvPr>
            <p:ph idx="1"/>
          </p:nvPr>
        </p:nvSpPr>
        <p:spPr/>
        <p:txBody>
          <a:bodyPr/>
          <a:lstStyle/>
          <a:p>
            <a:pPr marL="571500" indent="-571500">
              <a:buAutoNum type="romanLcParenBoth"/>
            </a:pPr>
            <a:r>
              <a:rPr lang="en-US" dirty="0"/>
              <a:t>unary constraints involve a single variable. Example : SA # green</a:t>
            </a:r>
          </a:p>
          <a:p>
            <a:pPr marL="571500" indent="-571500">
              <a:buAutoNum type="romanLcParenBoth"/>
            </a:pPr>
            <a:r>
              <a:rPr lang="en-US" dirty="0"/>
              <a:t> Binary constraints involve </a:t>
            </a:r>
            <a:r>
              <a:rPr lang="en-US" dirty="0" err="1"/>
              <a:t>paris</a:t>
            </a:r>
            <a:r>
              <a:rPr lang="en-US" dirty="0"/>
              <a:t> of variables. Example : SA # WA </a:t>
            </a:r>
          </a:p>
          <a:p>
            <a:pPr marL="571500" indent="-571500">
              <a:buAutoNum type="romanLcParenBoth"/>
            </a:pPr>
            <a:r>
              <a:rPr lang="en-US" dirty="0"/>
              <a:t> Higher order constraints involve 3 or more variables. Example :cryptarithmetic puzzles.</a:t>
            </a:r>
          </a:p>
          <a:p>
            <a:pPr marL="0" indent="0">
              <a:buNone/>
            </a:pPr>
            <a:r>
              <a:rPr lang="en-US" kern="100" dirty="0">
                <a:latin typeface="Times New Roman" panose="02020603050405020304" pitchFamily="18" charset="0"/>
                <a:ea typeface="Aptos" panose="020B0004020202020204" pitchFamily="34" charset="0"/>
                <a:cs typeface="Times New Roman" panose="02020603050405020304" pitchFamily="18" charset="0"/>
              </a:rPr>
              <a:t>Solve the following crypt arithmetic puzzle using Constraint Satisfaction problem with Domain = {0,1,2,3,4,5,6,7,8,9}</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IN" dirty="0"/>
          </a:p>
        </p:txBody>
      </p:sp>
      <p:pic>
        <p:nvPicPr>
          <p:cNvPr id="15" name="Picture 14" descr="A close-up of a sign&#10;&#10;Description automatically generated">
            <a:extLst>
              <a:ext uri="{FF2B5EF4-FFF2-40B4-BE49-F238E27FC236}">
                <a16:creationId xmlns:a16="http://schemas.microsoft.com/office/drawing/2014/main" id="{326D0B6A-1943-B165-9DE0-C3C80BDB05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7978" y="4584327"/>
            <a:ext cx="2415822" cy="1592636"/>
          </a:xfrm>
          <a:prstGeom prst="rect">
            <a:avLst/>
          </a:prstGeom>
        </p:spPr>
      </p:pic>
    </p:spTree>
    <p:extLst>
      <p:ext uri="{BB962C8B-B14F-4D97-AF65-F5344CB8AC3E}">
        <p14:creationId xmlns:p14="http://schemas.microsoft.com/office/powerpoint/2010/main" val="801158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167B0-ADD7-CF86-A939-89A7A79FA7F2}"/>
              </a:ext>
            </a:extLst>
          </p:cNvPr>
          <p:cNvSpPr>
            <a:spLocks noGrp="1"/>
          </p:cNvSpPr>
          <p:nvPr>
            <p:ph type="title"/>
          </p:nvPr>
        </p:nvSpPr>
        <p:spPr>
          <a:xfrm>
            <a:off x="838200" y="-250032"/>
            <a:ext cx="10515600" cy="1325563"/>
          </a:xfrm>
        </p:spPr>
        <p:txBody>
          <a:bodyPr/>
          <a:lstStyle/>
          <a:p>
            <a:r>
              <a:rPr lang="en-US" dirty="0"/>
              <a:t>CSP </a:t>
            </a:r>
            <a:r>
              <a:rPr lang="en-US" dirty="0" err="1"/>
              <a:t>Eg.</a:t>
            </a:r>
            <a:r>
              <a:rPr lang="en-US" dirty="0"/>
              <a:t> cryptarithmetic puzzles.</a:t>
            </a:r>
            <a:br>
              <a:rPr lang="en-US" dirty="0"/>
            </a:br>
            <a:endParaRPr lang="en-IN" dirty="0"/>
          </a:p>
        </p:txBody>
      </p:sp>
      <p:sp>
        <p:nvSpPr>
          <p:cNvPr id="3" name="Content Placeholder 2">
            <a:extLst>
              <a:ext uri="{FF2B5EF4-FFF2-40B4-BE49-F238E27FC236}">
                <a16:creationId xmlns:a16="http://schemas.microsoft.com/office/drawing/2014/main" id="{450BFA38-4F7C-B52B-876C-5F092FA617E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22879B6-DA21-5017-D1F1-399246E0085E}"/>
              </a:ext>
            </a:extLst>
          </p:cNvPr>
          <p:cNvPicPr>
            <a:picLocks noChangeAspect="1"/>
          </p:cNvPicPr>
          <p:nvPr/>
        </p:nvPicPr>
        <p:blipFill>
          <a:blip r:embed="rId2"/>
          <a:stretch>
            <a:fillRect/>
          </a:stretch>
        </p:blipFill>
        <p:spPr>
          <a:xfrm>
            <a:off x="530942" y="794079"/>
            <a:ext cx="11749350" cy="5577223"/>
          </a:xfrm>
          <a:prstGeom prst="rect">
            <a:avLst/>
          </a:prstGeom>
        </p:spPr>
      </p:pic>
    </p:spTree>
    <p:extLst>
      <p:ext uri="{BB962C8B-B14F-4D97-AF65-F5344CB8AC3E}">
        <p14:creationId xmlns:p14="http://schemas.microsoft.com/office/powerpoint/2010/main" val="2009547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BEFC-2639-E9C2-218D-481CDA9D4CF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73EAF2-02B5-210E-9B94-A2CFE90DE60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6CE608B-B826-59AA-EF65-8D9DC8B20382}"/>
              </a:ext>
            </a:extLst>
          </p:cNvPr>
          <p:cNvPicPr>
            <a:picLocks noChangeAspect="1"/>
          </p:cNvPicPr>
          <p:nvPr/>
        </p:nvPicPr>
        <p:blipFill>
          <a:blip r:embed="rId2"/>
          <a:stretch>
            <a:fillRect/>
          </a:stretch>
        </p:blipFill>
        <p:spPr>
          <a:xfrm>
            <a:off x="603148" y="759709"/>
            <a:ext cx="10544175" cy="5338582"/>
          </a:xfrm>
          <a:prstGeom prst="rect">
            <a:avLst/>
          </a:prstGeom>
        </p:spPr>
      </p:pic>
    </p:spTree>
    <p:extLst>
      <p:ext uri="{BB962C8B-B14F-4D97-AF65-F5344CB8AC3E}">
        <p14:creationId xmlns:p14="http://schemas.microsoft.com/office/powerpoint/2010/main" val="2566841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DD36F-67CB-EA20-AFDE-27E9F5B5B6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8D8798-7C3C-63D9-951A-92F91D15EC7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350BE46-564F-C303-5508-145AE77BB6B7}"/>
              </a:ext>
            </a:extLst>
          </p:cNvPr>
          <p:cNvPicPr>
            <a:picLocks noChangeAspect="1"/>
          </p:cNvPicPr>
          <p:nvPr/>
        </p:nvPicPr>
        <p:blipFill>
          <a:blip r:embed="rId2"/>
          <a:stretch>
            <a:fillRect/>
          </a:stretch>
        </p:blipFill>
        <p:spPr>
          <a:xfrm>
            <a:off x="838200" y="365125"/>
            <a:ext cx="11046542" cy="6161272"/>
          </a:xfrm>
          <a:prstGeom prst="rect">
            <a:avLst/>
          </a:prstGeom>
        </p:spPr>
      </p:pic>
    </p:spTree>
    <p:extLst>
      <p:ext uri="{BB962C8B-B14F-4D97-AF65-F5344CB8AC3E}">
        <p14:creationId xmlns:p14="http://schemas.microsoft.com/office/powerpoint/2010/main" val="1001846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A565E-29A9-AE8F-487D-5DFC0197CD2E}"/>
              </a:ext>
            </a:extLst>
          </p:cNvPr>
          <p:cNvSpPr>
            <a:spLocks noGrp="1"/>
          </p:cNvSpPr>
          <p:nvPr>
            <p:ph type="title"/>
          </p:nvPr>
        </p:nvSpPr>
        <p:spPr>
          <a:xfrm>
            <a:off x="838200" y="158045"/>
            <a:ext cx="10515600" cy="654755"/>
          </a:xfrm>
        </p:spPr>
        <p:txBody>
          <a:bodyPr>
            <a:normAutofit fontScale="90000"/>
          </a:bodyPr>
          <a:lstStyle/>
          <a:p>
            <a:pPr algn="ctr"/>
            <a:r>
              <a:rPr lang="en-US" b="1" dirty="0"/>
              <a:t>Adversarial Search</a:t>
            </a:r>
            <a:endParaRPr lang="en-IN" b="1" dirty="0"/>
          </a:p>
        </p:txBody>
      </p:sp>
      <p:sp>
        <p:nvSpPr>
          <p:cNvPr id="3" name="Content Placeholder 2">
            <a:extLst>
              <a:ext uri="{FF2B5EF4-FFF2-40B4-BE49-F238E27FC236}">
                <a16:creationId xmlns:a16="http://schemas.microsoft.com/office/drawing/2014/main" id="{86644387-BF2E-57A7-ECEE-BDC2905CBEAD}"/>
              </a:ext>
            </a:extLst>
          </p:cNvPr>
          <p:cNvSpPr>
            <a:spLocks noGrp="1"/>
          </p:cNvSpPr>
          <p:nvPr>
            <p:ph idx="1"/>
          </p:nvPr>
        </p:nvSpPr>
        <p:spPr>
          <a:xfrm>
            <a:off x="838200" y="812800"/>
            <a:ext cx="10515600" cy="5364163"/>
          </a:xfrm>
        </p:spPr>
        <p:txBody>
          <a:bodyPr>
            <a:normAutofit/>
          </a:bodyPr>
          <a:lstStyle/>
          <a:p>
            <a:pPr algn="just"/>
            <a:r>
              <a:rPr lang="en-US" sz="3200" dirty="0"/>
              <a:t>Adversarial search is a search, where we examine the problem which arises when we try to plan ahead of the world and other agents are planning against us.</a:t>
            </a:r>
          </a:p>
          <a:p>
            <a:pPr algn="just">
              <a:buFont typeface="Arial" panose="020B0604020202020204" pitchFamily="34" charset="0"/>
              <a:buChar char="•"/>
            </a:pPr>
            <a:r>
              <a:rPr lang="en-US" sz="3200" b="0" i="0" dirty="0">
                <a:solidFill>
                  <a:srgbClr val="000000"/>
                </a:solidFill>
                <a:effectLst/>
                <a:highlight>
                  <a:srgbClr val="FFFFFF"/>
                </a:highlight>
                <a:latin typeface="inter-regular"/>
              </a:rPr>
              <a:t>In previous topics, we have studied the search strategies which are only associated with a single agent that aims to find the solution which often expressed in the form of a sequence of actions.</a:t>
            </a:r>
          </a:p>
          <a:p>
            <a:pPr algn="just">
              <a:buFont typeface="Arial" panose="020B0604020202020204" pitchFamily="34" charset="0"/>
              <a:buChar char="•"/>
            </a:pPr>
            <a:r>
              <a:rPr lang="en-US" sz="3200" b="0" i="0" dirty="0">
                <a:solidFill>
                  <a:srgbClr val="000000"/>
                </a:solidFill>
                <a:effectLst/>
                <a:highlight>
                  <a:srgbClr val="FFFFFF"/>
                </a:highlight>
                <a:latin typeface="inter-regular"/>
              </a:rPr>
              <a:t>But, there might be some situations where more than one agent is searching for the solution in the same search space, and this situation usually occurs in game playing.</a:t>
            </a:r>
          </a:p>
        </p:txBody>
      </p:sp>
    </p:spTree>
    <p:extLst>
      <p:ext uri="{BB962C8B-B14F-4D97-AF65-F5344CB8AC3E}">
        <p14:creationId xmlns:p14="http://schemas.microsoft.com/office/powerpoint/2010/main" val="366691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F513DD-15C5-D5A8-9F75-01FDF46F1BDF}"/>
              </a:ext>
            </a:extLst>
          </p:cNvPr>
          <p:cNvSpPr>
            <a:spLocks noGrp="1"/>
          </p:cNvSpPr>
          <p:nvPr>
            <p:ph idx="1"/>
          </p:nvPr>
        </p:nvSpPr>
        <p:spPr>
          <a:xfrm>
            <a:off x="838200" y="677333"/>
            <a:ext cx="10515600" cy="5499630"/>
          </a:xfrm>
        </p:spPr>
        <p:txBody>
          <a:bodyPr/>
          <a:lstStyle/>
          <a:p>
            <a:pPr algn="just">
              <a:buFont typeface="Arial" panose="020B0604020202020204" pitchFamily="34" charset="0"/>
              <a:buChar char="•"/>
            </a:pPr>
            <a:r>
              <a:rPr lang="en-US" sz="3200" b="0" i="0" dirty="0">
                <a:solidFill>
                  <a:srgbClr val="000000"/>
                </a:solidFill>
                <a:effectLst/>
                <a:highlight>
                  <a:srgbClr val="FFFFFF"/>
                </a:highlight>
                <a:latin typeface="inter-regular"/>
              </a:rPr>
              <a:t>The environment with more than one agent is termed as </a:t>
            </a:r>
            <a:r>
              <a:rPr lang="en-US" sz="3200" b="1" i="0" dirty="0">
                <a:solidFill>
                  <a:srgbClr val="000000"/>
                </a:solidFill>
                <a:effectLst/>
                <a:highlight>
                  <a:srgbClr val="FFFFFF"/>
                </a:highlight>
                <a:latin typeface="inter-bold"/>
              </a:rPr>
              <a:t>multi-agent environment</a:t>
            </a:r>
            <a:r>
              <a:rPr lang="en-US" sz="3200" b="0" i="0" dirty="0">
                <a:solidFill>
                  <a:srgbClr val="000000"/>
                </a:solidFill>
                <a:effectLst/>
                <a:highlight>
                  <a:srgbClr val="FFFFFF"/>
                </a:highlight>
                <a:latin typeface="inter-regular"/>
              </a:rPr>
              <a:t>, in which each agent is an opponent of other agent and playing against each other. Each agent needs to consider the action of other agent and effect of that action on their performance.</a:t>
            </a:r>
          </a:p>
          <a:p>
            <a:pPr algn="just">
              <a:buFont typeface="Arial" panose="020B0604020202020204" pitchFamily="34" charset="0"/>
              <a:buChar char="•"/>
            </a:pPr>
            <a:r>
              <a:rPr lang="en-US" sz="3200" b="0" i="0" dirty="0">
                <a:solidFill>
                  <a:srgbClr val="000000"/>
                </a:solidFill>
                <a:effectLst/>
                <a:highlight>
                  <a:srgbClr val="FFFFFF"/>
                </a:highlight>
                <a:latin typeface="inter-regular"/>
              </a:rPr>
              <a:t>So, </a:t>
            </a:r>
            <a:r>
              <a:rPr lang="en-US" sz="3200" i="0" dirty="0">
                <a:solidFill>
                  <a:srgbClr val="000000"/>
                </a:solidFill>
                <a:effectLst/>
                <a:highlight>
                  <a:srgbClr val="FFFFFF"/>
                </a:highlight>
                <a:latin typeface="inter-bold"/>
              </a:rPr>
              <a:t>Searches in which two or more players with conflicting goals are trying to explore the same search space for the solution, are called </a:t>
            </a:r>
            <a:r>
              <a:rPr lang="en-US" sz="3200" b="1" i="0" dirty="0">
                <a:solidFill>
                  <a:srgbClr val="000000"/>
                </a:solidFill>
                <a:effectLst/>
                <a:highlight>
                  <a:srgbClr val="FFFFFF"/>
                </a:highlight>
                <a:latin typeface="inter-bold"/>
              </a:rPr>
              <a:t>adversarial searches</a:t>
            </a:r>
            <a:r>
              <a:rPr lang="en-US" sz="3200" i="0" dirty="0">
                <a:solidFill>
                  <a:srgbClr val="000000"/>
                </a:solidFill>
                <a:effectLst/>
                <a:highlight>
                  <a:srgbClr val="FFFFFF"/>
                </a:highlight>
                <a:latin typeface="inter-bold"/>
              </a:rPr>
              <a:t>, often known as </a:t>
            </a:r>
            <a:r>
              <a:rPr lang="en-US" sz="3200" b="1" i="0" dirty="0">
                <a:solidFill>
                  <a:srgbClr val="000000"/>
                </a:solidFill>
                <a:effectLst/>
                <a:highlight>
                  <a:srgbClr val="FFFFFF"/>
                </a:highlight>
                <a:latin typeface="inter-bold"/>
              </a:rPr>
              <a:t>Games</a:t>
            </a:r>
            <a:r>
              <a:rPr lang="en-US" sz="3200" b="1" i="0" dirty="0">
                <a:solidFill>
                  <a:srgbClr val="000000"/>
                </a:solidFill>
                <a:effectLst/>
                <a:highlight>
                  <a:srgbClr val="FFFFFF"/>
                </a:highlight>
                <a:latin typeface="inter-regular"/>
              </a:rPr>
              <a:t>.</a:t>
            </a:r>
          </a:p>
          <a:p>
            <a:pPr algn="just">
              <a:buFont typeface="Arial" panose="020B0604020202020204" pitchFamily="34" charset="0"/>
              <a:buChar char="•"/>
            </a:pPr>
            <a:r>
              <a:rPr lang="en-US" sz="3200" b="1" dirty="0">
                <a:solidFill>
                  <a:srgbClr val="000000"/>
                </a:solidFill>
                <a:highlight>
                  <a:srgbClr val="FFFFFF"/>
                </a:highlight>
                <a:latin typeface="inter-regular"/>
              </a:rPr>
              <a:t>The Minimax Algorithm</a:t>
            </a:r>
          </a:p>
          <a:p>
            <a:pPr algn="just">
              <a:buFont typeface="Arial" panose="020B0604020202020204" pitchFamily="34" charset="0"/>
              <a:buChar char="•"/>
            </a:pPr>
            <a:r>
              <a:rPr lang="en-US" sz="3200" b="1" i="0" dirty="0">
                <a:solidFill>
                  <a:srgbClr val="000000"/>
                </a:solidFill>
                <a:effectLst/>
                <a:highlight>
                  <a:srgbClr val="FFFFFF"/>
                </a:highlight>
                <a:latin typeface="inter-regular"/>
              </a:rPr>
              <a:t>Alpha-Beta Pruning</a:t>
            </a:r>
          </a:p>
          <a:p>
            <a:endParaRPr lang="en-IN" dirty="0"/>
          </a:p>
        </p:txBody>
      </p:sp>
    </p:spTree>
    <p:extLst>
      <p:ext uri="{BB962C8B-B14F-4D97-AF65-F5344CB8AC3E}">
        <p14:creationId xmlns:p14="http://schemas.microsoft.com/office/powerpoint/2010/main" val="35269744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C1E0CF-85E1-4D84-AE26-3404F466C0EF}"/>
              </a:ext>
            </a:extLst>
          </p:cNvPr>
          <p:cNvSpPr>
            <a:spLocks noGrp="1"/>
          </p:cNvSpPr>
          <p:nvPr>
            <p:ph idx="1"/>
          </p:nvPr>
        </p:nvSpPr>
        <p:spPr>
          <a:xfrm>
            <a:off x="838200" y="485422"/>
            <a:ext cx="10515600" cy="5983111"/>
          </a:xfrm>
        </p:spPr>
        <p:txBody>
          <a:bodyPr>
            <a:normAutofit lnSpcReduction="10000"/>
          </a:bodyPr>
          <a:lstStyle/>
          <a:p>
            <a:r>
              <a:rPr lang="en-US" i="0" dirty="0">
                <a:solidFill>
                  <a:srgbClr val="333333"/>
                </a:solidFill>
                <a:effectLst/>
                <a:highlight>
                  <a:srgbClr val="FFFFFF"/>
                </a:highlight>
                <a:latin typeface="inter-bold"/>
              </a:rPr>
              <a:t>A game can be defined as a type of search in AI which can be formalized of the following elements:</a:t>
            </a:r>
          </a:p>
          <a:p>
            <a:pPr algn="just">
              <a:buFont typeface="Arial" panose="020B0604020202020204" pitchFamily="34" charset="0"/>
              <a:buChar char="•"/>
            </a:pPr>
            <a:r>
              <a:rPr lang="en-US" b="1" i="0" dirty="0">
                <a:solidFill>
                  <a:srgbClr val="000000"/>
                </a:solidFill>
                <a:effectLst/>
                <a:highlight>
                  <a:srgbClr val="FFFFFF"/>
                </a:highlight>
                <a:latin typeface="inter-bold"/>
              </a:rPr>
              <a:t>Initial state:</a:t>
            </a:r>
            <a:r>
              <a:rPr lang="en-US" b="0" i="0" dirty="0">
                <a:solidFill>
                  <a:srgbClr val="000000"/>
                </a:solidFill>
                <a:effectLst/>
                <a:highlight>
                  <a:srgbClr val="FFFFFF"/>
                </a:highlight>
                <a:latin typeface="inter-regular"/>
              </a:rPr>
              <a:t> It specifies how the game is set up at the start.</a:t>
            </a:r>
          </a:p>
          <a:p>
            <a:pPr algn="just">
              <a:buFont typeface="Arial" panose="020B0604020202020204" pitchFamily="34" charset="0"/>
              <a:buChar char="•"/>
            </a:pPr>
            <a:r>
              <a:rPr lang="en-US" b="1" i="0" dirty="0">
                <a:solidFill>
                  <a:srgbClr val="000000"/>
                </a:solidFill>
                <a:effectLst/>
                <a:highlight>
                  <a:srgbClr val="FFFFFF"/>
                </a:highlight>
                <a:latin typeface="inter-bold"/>
              </a:rPr>
              <a:t>Player(s):</a:t>
            </a:r>
            <a:r>
              <a:rPr lang="en-US" b="0" i="0" dirty="0">
                <a:solidFill>
                  <a:srgbClr val="000000"/>
                </a:solidFill>
                <a:effectLst/>
                <a:highlight>
                  <a:srgbClr val="FFFFFF"/>
                </a:highlight>
                <a:latin typeface="inter-regular"/>
              </a:rPr>
              <a:t> It specifies which player has moved in the state space.</a:t>
            </a:r>
          </a:p>
          <a:p>
            <a:pPr algn="just">
              <a:buFont typeface="Arial" panose="020B0604020202020204" pitchFamily="34" charset="0"/>
              <a:buChar char="•"/>
            </a:pPr>
            <a:r>
              <a:rPr lang="en-US" b="1" i="0" dirty="0">
                <a:solidFill>
                  <a:srgbClr val="000000"/>
                </a:solidFill>
                <a:effectLst/>
                <a:highlight>
                  <a:srgbClr val="FFFFFF"/>
                </a:highlight>
                <a:latin typeface="inter-bold"/>
              </a:rPr>
              <a:t>Action(s):</a:t>
            </a:r>
            <a:r>
              <a:rPr lang="en-US" b="0" i="0" dirty="0">
                <a:solidFill>
                  <a:srgbClr val="000000"/>
                </a:solidFill>
                <a:effectLst/>
                <a:highlight>
                  <a:srgbClr val="FFFFFF"/>
                </a:highlight>
                <a:latin typeface="inter-regular"/>
              </a:rPr>
              <a:t> It returns the set of legal moves in state space.</a:t>
            </a:r>
          </a:p>
          <a:p>
            <a:pPr algn="just">
              <a:buFont typeface="Arial" panose="020B0604020202020204" pitchFamily="34" charset="0"/>
              <a:buChar char="•"/>
            </a:pPr>
            <a:r>
              <a:rPr lang="en-US" b="1" i="0" dirty="0">
                <a:solidFill>
                  <a:srgbClr val="000000"/>
                </a:solidFill>
                <a:effectLst/>
                <a:highlight>
                  <a:srgbClr val="FFFFFF"/>
                </a:highlight>
                <a:latin typeface="inter-bold"/>
              </a:rPr>
              <a:t>Result(s, a):</a:t>
            </a:r>
            <a:r>
              <a:rPr lang="en-US" b="0" i="0" dirty="0">
                <a:solidFill>
                  <a:srgbClr val="000000"/>
                </a:solidFill>
                <a:effectLst/>
                <a:highlight>
                  <a:srgbClr val="FFFFFF"/>
                </a:highlight>
                <a:latin typeface="inter-regular"/>
              </a:rPr>
              <a:t> It is the transition model, which specifies the result of moves in the state space.</a:t>
            </a:r>
          </a:p>
          <a:p>
            <a:pPr algn="just">
              <a:buFont typeface="Arial" panose="020B0604020202020204" pitchFamily="34" charset="0"/>
              <a:buChar char="•"/>
            </a:pPr>
            <a:r>
              <a:rPr lang="en-US" b="1" i="0" dirty="0">
                <a:solidFill>
                  <a:srgbClr val="000000"/>
                </a:solidFill>
                <a:effectLst/>
                <a:highlight>
                  <a:srgbClr val="FFFFFF"/>
                </a:highlight>
                <a:latin typeface="inter-bold"/>
              </a:rPr>
              <a:t>Terminal-Test(s):</a:t>
            </a:r>
            <a:r>
              <a:rPr lang="en-US" b="0" i="0" dirty="0">
                <a:solidFill>
                  <a:srgbClr val="000000"/>
                </a:solidFill>
                <a:effectLst/>
                <a:highlight>
                  <a:srgbClr val="FFFFFF"/>
                </a:highlight>
                <a:latin typeface="inter-regular"/>
              </a:rPr>
              <a:t> Terminal test is true if the game is over, else it is false at any case. The state where the game ends is called terminal states.</a:t>
            </a:r>
          </a:p>
          <a:p>
            <a:pPr algn="just">
              <a:buFont typeface="Arial" panose="020B0604020202020204" pitchFamily="34" charset="0"/>
              <a:buChar char="•"/>
            </a:pPr>
            <a:r>
              <a:rPr lang="en-US" b="1" i="0" dirty="0">
                <a:solidFill>
                  <a:srgbClr val="000000"/>
                </a:solidFill>
                <a:effectLst/>
                <a:highlight>
                  <a:srgbClr val="FFFFFF"/>
                </a:highlight>
                <a:latin typeface="inter-bold"/>
              </a:rPr>
              <a:t>Utility(s, p):</a:t>
            </a:r>
            <a:r>
              <a:rPr lang="en-US" b="0" i="0" dirty="0">
                <a:solidFill>
                  <a:srgbClr val="000000"/>
                </a:solidFill>
                <a:effectLst/>
                <a:highlight>
                  <a:srgbClr val="FFFFFF"/>
                </a:highlight>
                <a:latin typeface="inter-regular"/>
              </a:rPr>
              <a:t> A utility function gives the final numeric value for a game that ends in terminal states s for player p. It is also called payoff function. For Chess, the outcomes are a win, loss, or draw and its payoff values are +1, 0, ½. And for tic-tac-toe, utility values are +1, -1, and 0.</a:t>
            </a:r>
          </a:p>
          <a:p>
            <a:endParaRPr lang="en-IN" dirty="0"/>
          </a:p>
        </p:txBody>
      </p:sp>
    </p:spTree>
    <p:extLst>
      <p:ext uri="{BB962C8B-B14F-4D97-AF65-F5344CB8AC3E}">
        <p14:creationId xmlns:p14="http://schemas.microsoft.com/office/powerpoint/2010/main" val="3572592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C7739B0-ACD7-91A9-7D7A-4F07BBB6A2ED}"/>
              </a:ext>
            </a:extLst>
          </p:cNvPr>
          <p:cNvSpPr>
            <a:spLocks noGrp="1" noChangeArrowheads="1"/>
          </p:cNvSpPr>
          <p:nvPr>
            <p:ph type="title"/>
          </p:nvPr>
        </p:nvSpPr>
        <p:spPr/>
        <p:txBody>
          <a:bodyPr/>
          <a:lstStyle/>
          <a:p>
            <a:pPr eaLnBrk="1" hangingPunct="1"/>
            <a:r>
              <a:rPr lang="en-US" altLang="en-US"/>
              <a:t>Games vs. search problems</a:t>
            </a:r>
          </a:p>
        </p:txBody>
      </p:sp>
      <p:sp>
        <p:nvSpPr>
          <p:cNvPr id="16387" name="Rectangle 3">
            <a:extLst>
              <a:ext uri="{FF2B5EF4-FFF2-40B4-BE49-F238E27FC236}">
                <a16:creationId xmlns:a16="http://schemas.microsoft.com/office/drawing/2014/main" id="{68434B92-B936-211B-4EC6-C0FC1529C202}"/>
              </a:ext>
            </a:extLst>
          </p:cNvPr>
          <p:cNvSpPr>
            <a:spLocks noGrp="1" noChangeArrowheads="1"/>
          </p:cNvSpPr>
          <p:nvPr>
            <p:ph type="body" idx="1"/>
          </p:nvPr>
        </p:nvSpPr>
        <p:spPr/>
        <p:txBody>
          <a:bodyPr/>
          <a:lstStyle/>
          <a:p>
            <a:pPr eaLnBrk="1" hangingPunct="1"/>
            <a:r>
              <a:rPr lang="en-US" altLang="en-US" dirty="0"/>
              <a:t>"Unpredictable" opponent </a:t>
            </a:r>
            <a:r>
              <a:rPr lang="en-US" altLang="en-US" dirty="0">
                <a:sym typeface="Wingdings" panose="05000000000000000000" pitchFamily="2" charset="2"/>
              </a:rPr>
              <a:t></a:t>
            </a:r>
            <a:r>
              <a:rPr lang="en-US" altLang="en-US" dirty="0"/>
              <a:t> specifying a move for every possible opponent reply
Time limits </a:t>
            </a:r>
            <a:r>
              <a:rPr lang="en-US" altLang="en-US" dirty="0">
                <a:cs typeface="Arial" panose="020B0604020202020204" pitchFamily="34" charset="0"/>
                <a:sym typeface="Wingdings" panose="05000000000000000000" pitchFamily="2" charset="2"/>
              </a:rPr>
              <a:t></a:t>
            </a:r>
            <a:r>
              <a:rPr lang="en-US" altLang="en-US" dirty="0"/>
              <a:t> unlikely to find goal, must approximate</a:t>
            </a:r>
          </a:p>
        </p:txBody>
      </p:sp>
      <p:sp>
        <p:nvSpPr>
          <p:cNvPr id="16388" name="Slide Number Placeholder 5">
            <a:extLst>
              <a:ext uri="{FF2B5EF4-FFF2-40B4-BE49-F238E27FC236}">
                <a16:creationId xmlns:a16="http://schemas.microsoft.com/office/drawing/2014/main" id="{449F7CA4-2A2D-BB4D-FB33-F7AC321120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412A308-2F86-46AB-91C2-DEA81C2B8215}" type="slidenum">
              <a:rPr lang="en-US" altLang="en-US" sz="1400"/>
              <a:pPr eaLnBrk="1" hangingPunct="1"/>
              <a:t>37</a:t>
            </a:fld>
            <a:endParaRPr lang="en-US" altLang="en-US"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8172448F-763B-5731-EE66-E515DD57F1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E945083-114E-49D0-997C-B3BA62D4D3E3}" type="slidenum">
              <a:rPr lang="en-US" altLang="en-US" sz="1400">
                <a:latin typeface="Times New Roman" panose="02020603050405020304" pitchFamily="18" charset="0"/>
              </a:rPr>
              <a:pPr eaLnBrk="1" hangingPunct="1"/>
              <a:t>38</a:t>
            </a:fld>
            <a:endParaRPr lang="en-US" altLang="en-US" sz="1400">
              <a:latin typeface="Times New Roman" panose="02020603050405020304" pitchFamily="18" charset="0"/>
            </a:endParaRPr>
          </a:p>
        </p:txBody>
      </p:sp>
      <p:sp>
        <p:nvSpPr>
          <p:cNvPr id="17411" name="Rectangle 2">
            <a:extLst>
              <a:ext uri="{FF2B5EF4-FFF2-40B4-BE49-F238E27FC236}">
                <a16:creationId xmlns:a16="http://schemas.microsoft.com/office/drawing/2014/main" id="{D3AD58B2-7B1C-8D1B-4D43-502E4D89551E}"/>
              </a:ext>
            </a:extLst>
          </p:cNvPr>
          <p:cNvSpPr>
            <a:spLocks noGrp="1" noChangeArrowheads="1"/>
          </p:cNvSpPr>
          <p:nvPr>
            <p:ph type="title"/>
          </p:nvPr>
        </p:nvSpPr>
        <p:spPr/>
        <p:txBody>
          <a:bodyPr/>
          <a:lstStyle/>
          <a:p>
            <a:pPr eaLnBrk="1" hangingPunct="1"/>
            <a:r>
              <a:rPr lang="en-US" altLang="en-US"/>
              <a:t>Game search</a:t>
            </a:r>
            <a:br>
              <a:rPr lang="en-US" altLang="en-US"/>
            </a:br>
            <a:endParaRPr lang="en-US" altLang="en-US"/>
          </a:p>
        </p:txBody>
      </p:sp>
      <p:sp>
        <p:nvSpPr>
          <p:cNvPr id="17412" name="Rectangle 3">
            <a:extLst>
              <a:ext uri="{FF2B5EF4-FFF2-40B4-BE49-F238E27FC236}">
                <a16:creationId xmlns:a16="http://schemas.microsoft.com/office/drawing/2014/main" id="{83D7FCBD-D1C6-154B-1825-A8B6F6047823}"/>
              </a:ext>
            </a:extLst>
          </p:cNvPr>
          <p:cNvSpPr>
            <a:spLocks noGrp="1" noChangeArrowheads="1"/>
          </p:cNvSpPr>
          <p:nvPr>
            <p:ph type="body" idx="1"/>
          </p:nvPr>
        </p:nvSpPr>
        <p:spPr/>
        <p:txBody>
          <a:bodyPr>
            <a:normAutofit lnSpcReduction="10000"/>
          </a:bodyPr>
          <a:lstStyle/>
          <a:p>
            <a:pPr eaLnBrk="1" hangingPunct="1"/>
            <a:r>
              <a:rPr lang="en-US" altLang="en-US"/>
              <a:t>Game-playing programs developed by AI researchers since the beginning of the modern AI era</a:t>
            </a:r>
          </a:p>
          <a:p>
            <a:pPr lvl="1" eaLnBrk="1" hangingPunct="1"/>
            <a:r>
              <a:rPr lang="en-US" altLang="en-US">
                <a:ea typeface="ＭＳ Ｐゴシック" panose="020B0600070205080204" pitchFamily="34" charset="-128"/>
              </a:rPr>
              <a:t>Programs playing chess, checkers, etc (1950s)</a:t>
            </a:r>
          </a:p>
          <a:p>
            <a:pPr eaLnBrk="1" hangingPunct="1"/>
            <a:r>
              <a:rPr lang="en-US" altLang="en-US"/>
              <a:t>Specifics:</a:t>
            </a:r>
          </a:p>
          <a:p>
            <a:pPr lvl="1" eaLnBrk="1" hangingPunct="1"/>
            <a:r>
              <a:rPr lang="en-US" altLang="en-US">
                <a:ea typeface="ＭＳ Ｐゴシック" panose="020B0600070205080204" pitchFamily="34" charset="-128"/>
              </a:rPr>
              <a:t>Sequences of player’s decisions we control</a:t>
            </a:r>
          </a:p>
          <a:p>
            <a:pPr lvl="1" eaLnBrk="1" hangingPunct="1"/>
            <a:r>
              <a:rPr lang="en-US" altLang="en-US">
                <a:ea typeface="ＭＳ Ｐゴシック" panose="020B0600070205080204" pitchFamily="34" charset="-128"/>
              </a:rPr>
              <a:t>Decisions of other player(s) we do not control</a:t>
            </a:r>
          </a:p>
          <a:p>
            <a:pPr eaLnBrk="1" hangingPunct="1"/>
            <a:r>
              <a:rPr lang="en-US" altLang="en-US"/>
              <a:t>Contingency problem:  many possible opponent’s moves must be “covered” by the solution</a:t>
            </a:r>
          </a:p>
          <a:p>
            <a:pPr eaLnBrk="1" hangingPunct="1"/>
            <a:r>
              <a:rPr lang="en-US" altLang="en-US"/>
              <a:t>Opponent’s behavior introduces uncertainty</a:t>
            </a:r>
          </a:p>
          <a:p>
            <a:pPr eaLnBrk="1" hangingPunct="1"/>
            <a:r>
              <a:rPr lang="en-US" altLang="en-US"/>
              <a:t>Rational opponent – maximizes its own utility (payoff) function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434D41E-880E-DC9E-F157-3487AE488C54}"/>
              </a:ext>
            </a:extLst>
          </p:cNvPr>
          <p:cNvSpPr>
            <a:spLocks noGrp="1"/>
          </p:cNvSpPr>
          <p:nvPr>
            <p:ph type="title"/>
          </p:nvPr>
        </p:nvSpPr>
        <p:spPr/>
        <p:txBody>
          <a:bodyPr/>
          <a:lstStyle/>
          <a:p>
            <a:pPr eaLnBrk="1" hangingPunct="1"/>
            <a:r>
              <a:rPr lang="en-US" altLang="en-US"/>
              <a:t>Game Search Problem</a:t>
            </a:r>
          </a:p>
        </p:txBody>
      </p:sp>
      <p:sp>
        <p:nvSpPr>
          <p:cNvPr id="18435" name="Content Placeholder 2">
            <a:extLst>
              <a:ext uri="{FF2B5EF4-FFF2-40B4-BE49-F238E27FC236}">
                <a16:creationId xmlns:a16="http://schemas.microsoft.com/office/drawing/2014/main" id="{F7C77A3F-6ADD-CA14-B871-3C6573BDFF3D}"/>
              </a:ext>
            </a:extLst>
          </p:cNvPr>
          <p:cNvSpPr>
            <a:spLocks noGrp="1"/>
          </p:cNvSpPr>
          <p:nvPr>
            <p:ph idx="1"/>
          </p:nvPr>
        </p:nvSpPr>
        <p:spPr/>
        <p:txBody>
          <a:bodyPr/>
          <a:lstStyle/>
          <a:p>
            <a:pPr eaLnBrk="1" hangingPunct="1"/>
            <a:r>
              <a:rPr lang="en-US" altLang="en-US"/>
              <a:t>Problem formulation</a:t>
            </a:r>
          </a:p>
          <a:p>
            <a:pPr lvl="1" eaLnBrk="1" hangingPunct="1"/>
            <a:r>
              <a:rPr lang="en-US" altLang="en-US">
                <a:ea typeface="ＭＳ Ｐゴシック" panose="020B0600070205080204" pitchFamily="34" charset="-128"/>
              </a:rPr>
              <a:t>Initial state: initial board position + whose move it is</a:t>
            </a:r>
          </a:p>
          <a:p>
            <a:pPr lvl="1" eaLnBrk="1" hangingPunct="1"/>
            <a:r>
              <a:rPr lang="en-US" altLang="en-US">
                <a:ea typeface="ＭＳ Ｐゴシック" panose="020B0600070205080204" pitchFamily="34" charset="-128"/>
              </a:rPr>
              <a:t>Operators: legal moves a player can make</a:t>
            </a:r>
          </a:p>
          <a:p>
            <a:pPr lvl="1" eaLnBrk="1" hangingPunct="1"/>
            <a:r>
              <a:rPr lang="en-US" altLang="en-US">
                <a:ea typeface="ＭＳ Ｐゴシック" panose="020B0600070205080204" pitchFamily="34" charset="-128"/>
              </a:rPr>
              <a:t>Goal (terminal test):  game over?</a:t>
            </a:r>
          </a:p>
          <a:p>
            <a:pPr lvl="1" eaLnBrk="1" hangingPunct="1"/>
            <a:r>
              <a:rPr lang="en-US" altLang="en-US">
                <a:ea typeface="ＭＳ Ｐゴシック" panose="020B0600070205080204" pitchFamily="34" charset="-128"/>
              </a:rPr>
              <a:t>Utility (payoff) function: measures the outcome of the game and its desirability </a:t>
            </a:r>
          </a:p>
          <a:p>
            <a:pPr eaLnBrk="1" hangingPunct="1"/>
            <a:r>
              <a:rPr lang="en-US" altLang="en-US"/>
              <a:t>Search objective:</a:t>
            </a:r>
          </a:p>
          <a:p>
            <a:pPr lvl="1" eaLnBrk="1" hangingPunct="1"/>
            <a:r>
              <a:rPr lang="en-US" altLang="en-US">
                <a:ea typeface="ＭＳ Ｐゴシック" panose="020B0600070205080204" pitchFamily="34" charset="-128"/>
              </a:rPr>
              <a:t>Find the sequence of player’s decisions (moves) maximizing its utility (payoff)</a:t>
            </a:r>
          </a:p>
          <a:p>
            <a:pPr lvl="1" eaLnBrk="1" hangingPunct="1"/>
            <a:r>
              <a:rPr lang="en-US" altLang="en-US">
                <a:ea typeface="ＭＳ Ｐゴシック" panose="020B0600070205080204" pitchFamily="34" charset="-128"/>
              </a:rPr>
              <a:t>Consider the opponent’s moves and their utility</a:t>
            </a:r>
          </a:p>
        </p:txBody>
      </p:sp>
      <p:sp>
        <p:nvSpPr>
          <p:cNvPr id="18436" name="Slide Number Placeholder 3">
            <a:extLst>
              <a:ext uri="{FF2B5EF4-FFF2-40B4-BE49-F238E27FC236}">
                <a16:creationId xmlns:a16="http://schemas.microsoft.com/office/drawing/2014/main" id="{8D2B11E8-07C1-BC13-632A-4E5699472B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98DD37C-E2A8-4CAF-B0E6-EEB5E0C4FF25}" type="slidenum">
              <a:rPr lang="en-US" altLang="en-US" sz="1400"/>
              <a:pPr eaLnBrk="1" hangingPunct="1"/>
              <a:t>39</a:t>
            </a:fld>
            <a:endParaRPr lang="en-US"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C2FD6AB-8BE6-4E6A-DEC8-5781E63C0D54}"/>
              </a:ext>
            </a:extLst>
          </p:cNvPr>
          <p:cNvSpPr>
            <a:spLocks noGrp="1" noChangeArrowheads="1"/>
          </p:cNvSpPr>
          <p:nvPr>
            <p:ph type="title"/>
          </p:nvPr>
        </p:nvSpPr>
        <p:spPr/>
        <p:txBody>
          <a:bodyPr/>
          <a:lstStyle/>
          <a:p>
            <a:pPr eaLnBrk="1" hangingPunct="1"/>
            <a:r>
              <a:rPr lang="en-US" altLang="en-US"/>
              <a:t>Game tree (2-player, deterministic, turns)</a:t>
            </a:r>
          </a:p>
        </p:txBody>
      </p:sp>
      <p:pic>
        <p:nvPicPr>
          <p:cNvPr id="19459" name="Picture 4" descr="tictactoe">
            <a:extLst>
              <a:ext uri="{FF2B5EF4-FFF2-40B4-BE49-F238E27FC236}">
                <a16:creationId xmlns:a16="http://schemas.microsoft.com/office/drawing/2014/main" id="{BB755824-669E-B864-CBBC-7E6CB5C092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1" y="1752600"/>
            <a:ext cx="6048375"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Slide Number Placeholder 5">
            <a:extLst>
              <a:ext uri="{FF2B5EF4-FFF2-40B4-BE49-F238E27FC236}">
                <a16:creationId xmlns:a16="http://schemas.microsoft.com/office/drawing/2014/main" id="{47EB0856-6E04-128F-2986-4A1680BF74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A85D0D9-36C0-42F4-838B-E1244BD20B03}" type="slidenum">
              <a:rPr lang="en-US" altLang="en-US" sz="1400"/>
              <a:pPr eaLnBrk="1" hangingPunct="1"/>
              <a:t>40</a:t>
            </a:fld>
            <a:endParaRPr lang="en-US" altLang="en-US" sz="1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E584399-597F-E511-4C75-911B4A1688EC}"/>
              </a:ext>
            </a:extLst>
          </p:cNvPr>
          <p:cNvSpPr>
            <a:spLocks noGrp="1"/>
          </p:cNvSpPr>
          <p:nvPr>
            <p:ph type="title"/>
          </p:nvPr>
        </p:nvSpPr>
        <p:spPr/>
        <p:txBody>
          <a:bodyPr/>
          <a:lstStyle/>
          <a:p>
            <a:pPr eaLnBrk="1" hangingPunct="1"/>
            <a:r>
              <a:rPr lang="en-US" altLang="en-US"/>
              <a:t>Minimax Algorithm</a:t>
            </a:r>
          </a:p>
        </p:txBody>
      </p:sp>
      <p:sp>
        <p:nvSpPr>
          <p:cNvPr id="20483" name="Content Placeholder 2">
            <a:extLst>
              <a:ext uri="{FF2B5EF4-FFF2-40B4-BE49-F238E27FC236}">
                <a16:creationId xmlns:a16="http://schemas.microsoft.com/office/drawing/2014/main" id="{C6B35FA1-E605-CF9B-B5E5-5FC68E2FA139}"/>
              </a:ext>
            </a:extLst>
          </p:cNvPr>
          <p:cNvSpPr>
            <a:spLocks noGrp="1"/>
          </p:cNvSpPr>
          <p:nvPr>
            <p:ph idx="1"/>
          </p:nvPr>
        </p:nvSpPr>
        <p:spPr/>
        <p:txBody>
          <a:bodyPr/>
          <a:lstStyle/>
          <a:p>
            <a:pPr eaLnBrk="1" hangingPunct="1"/>
            <a:r>
              <a:rPr lang="en-US" altLang="en-US"/>
              <a:t>How to deal with the contingency problem?</a:t>
            </a:r>
          </a:p>
          <a:p>
            <a:pPr lvl="1" eaLnBrk="1" hangingPunct="1"/>
            <a:r>
              <a:rPr lang="en-US" altLang="en-US">
                <a:ea typeface="ＭＳ Ｐゴシック" panose="020B0600070205080204" pitchFamily="34" charset="-128"/>
              </a:rPr>
              <a:t>Assuming the opponent is always rational and always optimizes its behavior (opposite to us), we consider the best opponent’s response</a:t>
            </a:r>
          </a:p>
          <a:p>
            <a:pPr lvl="1" eaLnBrk="1" hangingPunct="1"/>
            <a:r>
              <a:rPr lang="en-US" altLang="en-US">
                <a:ea typeface="ＭＳ Ｐゴシック" panose="020B0600070205080204" pitchFamily="34" charset="-128"/>
              </a:rPr>
              <a:t>Then the minimax algorithm determines the best move</a:t>
            </a:r>
          </a:p>
        </p:txBody>
      </p:sp>
      <p:sp>
        <p:nvSpPr>
          <p:cNvPr id="20484" name="Slide Number Placeholder 3">
            <a:extLst>
              <a:ext uri="{FF2B5EF4-FFF2-40B4-BE49-F238E27FC236}">
                <a16:creationId xmlns:a16="http://schemas.microsoft.com/office/drawing/2014/main" id="{8F3CC526-2741-DDF9-6A85-6D2F17BDDF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9F19A62-AF71-440E-9EF4-A0E400000B76}" type="slidenum">
              <a:rPr lang="en-US" altLang="en-US" sz="1400"/>
              <a:pPr eaLnBrk="1" hangingPunct="1"/>
              <a:t>41</a:t>
            </a:fld>
            <a:endParaRPr lang="en-US" altLang="en-US" sz="1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79DC940-9AEA-D106-EF53-FB8473662FF0}"/>
              </a:ext>
            </a:extLst>
          </p:cNvPr>
          <p:cNvSpPr>
            <a:spLocks noGrp="1" noChangeArrowheads="1"/>
          </p:cNvSpPr>
          <p:nvPr>
            <p:ph type="title"/>
          </p:nvPr>
        </p:nvSpPr>
        <p:spPr/>
        <p:txBody>
          <a:bodyPr/>
          <a:lstStyle/>
          <a:p>
            <a:pPr eaLnBrk="1" hangingPunct="1"/>
            <a:r>
              <a:rPr lang="en-US" altLang="en-US"/>
              <a:t>Minimax</a:t>
            </a:r>
          </a:p>
        </p:txBody>
      </p:sp>
      <p:sp>
        <p:nvSpPr>
          <p:cNvPr id="21507" name="Rectangle 3">
            <a:extLst>
              <a:ext uri="{FF2B5EF4-FFF2-40B4-BE49-F238E27FC236}">
                <a16:creationId xmlns:a16="http://schemas.microsoft.com/office/drawing/2014/main" id="{2E106907-5FD3-88C9-8514-08EE5295C40A}"/>
              </a:ext>
            </a:extLst>
          </p:cNvPr>
          <p:cNvSpPr>
            <a:spLocks noGrp="1" noChangeArrowheads="1"/>
          </p:cNvSpPr>
          <p:nvPr>
            <p:ph type="body" idx="1"/>
          </p:nvPr>
        </p:nvSpPr>
        <p:spPr/>
        <p:txBody>
          <a:bodyPr/>
          <a:lstStyle/>
          <a:p>
            <a:pPr eaLnBrk="1" hangingPunct="1"/>
            <a:r>
              <a:rPr lang="en-US" altLang="en-US" sz="1800"/>
              <a:t>Perfect play for deterministic games
</a:t>
            </a:r>
          </a:p>
          <a:p>
            <a:pPr eaLnBrk="1" hangingPunct="1"/>
            <a:r>
              <a:rPr lang="en-US" altLang="en-US" sz="1800"/>
              <a:t>Idea: choose move to position with highest </a:t>
            </a:r>
            <a:r>
              <a:rPr lang="en-US" altLang="en-US" sz="1800">
                <a:solidFill>
                  <a:srgbClr val="FF0000"/>
                </a:solidFill>
              </a:rPr>
              <a:t>minimax value</a:t>
            </a:r>
            <a:r>
              <a:rPr lang="en-US" altLang="en-US" sz="1800"/>
              <a:t> </a:t>
            </a:r>
            <a:br>
              <a:rPr lang="en-US" altLang="en-US" sz="1800"/>
            </a:br>
            <a:r>
              <a:rPr lang="en-US" altLang="en-US" sz="1800"/>
              <a:t>	= best achievable payoff against best play
</a:t>
            </a:r>
          </a:p>
          <a:p>
            <a:pPr eaLnBrk="1" hangingPunct="1"/>
            <a:r>
              <a:rPr lang="en-US" altLang="en-US" sz="1800"/>
              <a:t>E.g., 2-ply game: </a:t>
            </a:r>
            <a:r>
              <a:rPr lang="en-US" altLang="en-US" sz="1800">
                <a:solidFill>
                  <a:srgbClr val="FF0000"/>
                </a:solidFill>
              </a:rPr>
              <a:t>[will go through another eg in lecture]
</a:t>
            </a:r>
          </a:p>
          <a:p>
            <a:pPr eaLnBrk="1" hangingPunct="1"/>
            <a:endParaRPr lang="en-US" altLang="en-US"/>
          </a:p>
        </p:txBody>
      </p:sp>
      <p:pic>
        <p:nvPicPr>
          <p:cNvPr id="21508" name="Picture 4" descr="minimax">
            <a:extLst>
              <a:ext uri="{FF2B5EF4-FFF2-40B4-BE49-F238E27FC236}">
                <a16:creationId xmlns:a16="http://schemas.microsoft.com/office/drawing/2014/main" id="{DA68A8C5-EDDF-0584-3ED4-47DB1D3F7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657601"/>
            <a:ext cx="6705600"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Slide Number Placeholder 6">
            <a:extLst>
              <a:ext uri="{FF2B5EF4-FFF2-40B4-BE49-F238E27FC236}">
                <a16:creationId xmlns:a16="http://schemas.microsoft.com/office/drawing/2014/main" id="{F9DD6C4E-BEB0-D78A-8B43-7E7DB863C4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03CDF3E-7724-4C3C-8836-1D91C709835B}" type="slidenum">
              <a:rPr lang="en-US" altLang="en-US" sz="1400"/>
              <a:pPr eaLnBrk="1" hangingPunct="1"/>
              <a:t>42</a:t>
            </a:fld>
            <a:endParaRPr lang="en-US"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26FA2A6-E19A-70ED-3778-2E28F7B9260C}"/>
              </a:ext>
            </a:extLst>
          </p:cNvPr>
          <p:cNvSpPr>
            <a:spLocks noGrp="1"/>
          </p:cNvSpPr>
          <p:nvPr>
            <p:ph type="title"/>
          </p:nvPr>
        </p:nvSpPr>
        <p:spPr/>
        <p:txBody>
          <a:bodyPr/>
          <a:lstStyle/>
          <a:p>
            <a:pPr eaLnBrk="1" hangingPunct="1"/>
            <a:r>
              <a:rPr lang="en-US" altLang="en-US"/>
              <a:t>Minimax.  Example </a:t>
            </a:r>
          </a:p>
        </p:txBody>
      </p:sp>
      <p:pic>
        <p:nvPicPr>
          <p:cNvPr id="22531" name="Content Placeholder 4" descr="Picture 4.png">
            <a:extLst>
              <a:ext uri="{FF2B5EF4-FFF2-40B4-BE49-F238E27FC236}">
                <a16:creationId xmlns:a16="http://schemas.microsoft.com/office/drawing/2014/main" id="{43F11C0A-4EBC-80F7-9789-377516D8342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698" b="-2698"/>
          <a:stretch>
            <a:fillRect/>
          </a:stretch>
        </p:blipFill>
        <p:spPr/>
      </p:pic>
      <p:sp>
        <p:nvSpPr>
          <p:cNvPr id="22532" name="Slide Number Placeholder 3">
            <a:extLst>
              <a:ext uri="{FF2B5EF4-FFF2-40B4-BE49-F238E27FC236}">
                <a16:creationId xmlns:a16="http://schemas.microsoft.com/office/drawing/2014/main" id="{F1B43735-C038-0FC6-2C0E-139110CB17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046F1C8-9B97-4F59-A424-8195D2F24964}" type="slidenum">
              <a:rPr lang="en-US" altLang="en-US" sz="1400"/>
              <a:pPr eaLnBrk="1" hangingPunct="1"/>
              <a:t>43</a:t>
            </a:fld>
            <a:endParaRPr lang="en-US" altLang="en-US"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1CB3A680-D187-464F-9115-C50D92DADF56}"/>
              </a:ext>
            </a:extLst>
          </p:cNvPr>
          <p:cNvSpPr>
            <a:spLocks noGrp="1"/>
          </p:cNvSpPr>
          <p:nvPr>
            <p:ph type="title"/>
          </p:nvPr>
        </p:nvSpPr>
        <p:spPr/>
        <p:txBody>
          <a:bodyPr/>
          <a:lstStyle/>
          <a:p>
            <a:pPr eaLnBrk="1" hangingPunct="1"/>
            <a:endParaRPr lang="en-US" altLang="en-US"/>
          </a:p>
        </p:txBody>
      </p:sp>
      <p:pic>
        <p:nvPicPr>
          <p:cNvPr id="23555" name="Content Placeholder 3" descr="Picture 1.png">
            <a:extLst>
              <a:ext uri="{FF2B5EF4-FFF2-40B4-BE49-F238E27FC236}">
                <a16:creationId xmlns:a16="http://schemas.microsoft.com/office/drawing/2014/main" id="{CC3BD99A-1A21-8380-73EA-D3020A5D660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844" b="-2844"/>
          <a:stretch>
            <a:fillRect/>
          </a:stretch>
        </p:blipFill>
        <p:spPr/>
      </p:pic>
      <p:sp>
        <p:nvSpPr>
          <p:cNvPr id="23556" name="Slide Number Placeholder 4">
            <a:extLst>
              <a:ext uri="{FF2B5EF4-FFF2-40B4-BE49-F238E27FC236}">
                <a16:creationId xmlns:a16="http://schemas.microsoft.com/office/drawing/2014/main" id="{E0B0D8E1-2D31-087E-3A78-6FB60F4F1D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D025A43-BED3-4403-84DD-F1A5DFE1AD84}" type="slidenum">
              <a:rPr lang="en-US" altLang="en-US" sz="1400"/>
              <a:pPr eaLnBrk="1" hangingPunct="1"/>
              <a:t>44</a:t>
            </a:fld>
            <a:endParaRPr lang="en-US" altLang="en-US" sz="1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1EF79E3F-6D31-2DF8-50AD-DB37F85F42A5}"/>
              </a:ext>
            </a:extLst>
          </p:cNvPr>
          <p:cNvSpPr>
            <a:spLocks noGrp="1"/>
          </p:cNvSpPr>
          <p:nvPr>
            <p:ph type="title"/>
          </p:nvPr>
        </p:nvSpPr>
        <p:spPr/>
        <p:txBody>
          <a:bodyPr/>
          <a:lstStyle/>
          <a:p>
            <a:pPr eaLnBrk="1" hangingPunct="1"/>
            <a:r>
              <a:rPr lang="en-US" altLang="en-US"/>
              <a:t>Complexity of the minimax algorithm</a:t>
            </a:r>
          </a:p>
        </p:txBody>
      </p:sp>
      <p:pic>
        <p:nvPicPr>
          <p:cNvPr id="24579" name="Content Placeholder 3" descr="Picture 2.png">
            <a:extLst>
              <a:ext uri="{FF2B5EF4-FFF2-40B4-BE49-F238E27FC236}">
                <a16:creationId xmlns:a16="http://schemas.microsoft.com/office/drawing/2014/main" id="{E300B6A1-4776-2455-D04E-77A5D704659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463" r="-7463"/>
          <a:stretch>
            <a:fillRect/>
          </a:stretch>
        </p:blipFill>
        <p:spPr/>
      </p:pic>
      <p:sp>
        <p:nvSpPr>
          <p:cNvPr id="24580" name="Slide Number Placeholder 4">
            <a:extLst>
              <a:ext uri="{FF2B5EF4-FFF2-40B4-BE49-F238E27FC236}">
                <a16:creationId xmlns:a16="http://schemas.microsoft.com/office/drawing/2014/main" id="{959AF847-A086-250B-0C1C-8030902878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1FCCE73-3A65-4383-BC91-968DB6FC3F1A}" type="slidenum">
              <a:rPr lang="en-US" altLang="en-US" sz="1400"/>
              <a:pPr eaLnBrk="1" hangingPunct="1"/>
              <a:t>45</a:t>
            </a:fld>
            <a:endParaRPr lang="en-US" altLang="en-US" sz="1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455C1B6A-0951-28F9-2190-229A5EE78C43}"/>
              </a:ext>
            </a:extLst>
          </p:cNvPr>
          <p:cNvSpPr>
            <a:spLocks noGrp="1"/>
          </p:cNvSpPr>
          <p:nvPr>
            <p:ph type="title"/>
          </p:nvPr>
        </p:nvSpPr>
        <p:spPr/>
        <p:txBody>
          <a:bodyPr/>
          <a:lstStyle/>
          <a:p>
            <a:pPr eaLnBrk="1" hangingPunct="1"/>
            <a:r>
              <a:rPr lang="en-US" altLang="en-US"/>
              <a:t>Solution to the complexity problem</a:t>
            </a:r>
          </a:p>
        </p:txBody>
      </p:sp>
      <p:pic>
        <p:nvPicPr>
          <p:cNvPr id="25603" name="Content Placeholder 4" descr="Picture 3.png">
            <a:extLst>
              <a:ext uri="{FF2B5EF4-FFF2-40B4-BE49-F238E27FC236}">
                <a16:creationId xmlns:a16="http://schemas.microsoft.com/office/drawing/2014/main" id="{742DB00E-9844-C72A-380C-DF1E6C10987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27" b="-327"/>
          <a:stretch>
            <a:fillRect/>
          </a:stretch>
        </p:blipFill>
        <p:spPr/>
      </p:pic>
      <p:sp>
        <p:nvSpPr>
          <p:cNvPr id="25604" name="Slide Number Placeholder 3">
            <a:extLst>
              <a:ext uri="{FF2B5EF4-FFF2-40B4-BE49-F238E27FC236}">
                <a16:creationId xmlns:a16="http://schemas.microsoft.com/office/drawing/2014/main" id="{80E3BE93-E8B3-1433-080A-5D4F134AFB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1BE8634-84BE-45CC-8257-7D7410C58F09}" type="slidenum">
              <a:rPr lang="en-US" altLang="en-US" sz="1400"/>
              <a:pPr eaLnBrk="1" hangingPunct="1"/>
              <a:t>46</a:t>
            </a:fld>
            <a:endParaRPr lang="en-US" altLang="en-US"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A91A7677-C658-2899-4BAF-F690971D9995}"/>
              </a:ext>
            </a:extLst>
          </p:cNvPr>
          <p:cNvSpPr>
            <a:spLocks noGrp="1"/>
          </p:cNvSpPr>
          <p:nvPr>
            <p:ph type="title"/>
          </p:nvPr>
        </p:nvSpPr>
        <p:spPr/>
        <p:txBody>
          <a:bodyPr/>
          <a:lstStyle/>
          <a:p>
            <a:pPr eaLnBrk="1" hangingPunct="1"/>
            <a:r>
              <a:rPr lang="en-US" altLang="en-US"/>
              <a:t>Alpha Beta Pruning</a:t>
            </a:r>
          </a:p>
        </p:txBody>
      </p:sp>
      <p:sp>
        <p:nvSpPr>
          <p:cNvPr id="26627" name="Content Placeholder 2">
            <a:extLst>
              <a:ext uri="{FF2B5EF4-FFF2-40B4-BE49-F238E27FC236}">
                <a16:creationId xmlns:a16="http://schemas.microsoft.com/office/drawing/2014/main" id="{1003600F-56B3-5918-AD2F-54EE7E689033}"/>
              </a:ext>
            </a:extLst>
          </p:cNvPr>
          <p:cNvSpPr>
            <a:spLocks noGrp="1"/>
          </p:cNvSpPr>
          <p:nvPr>
            <p:ph idx="1"/>
          </p:nvPr>
        </p:nvSpPr>
        <p:spPr/>
        <p:txBody>
          <a:bodyPr/>
          <a:lstStyle/>
          <a:p>
            <a:pPr eaLnBrk="1" hangingPunct="1"/>
            <a:r>
              <a:rPr lang="en-US" altLang="en-US"/>
              <a:t>Some branches will never be played by rational players since they include sub-optimal decisions for either player</a:t>
            </a:r>
          </a:p>
          <a:p>
            <a:pPr eaLnBrk="1" hangingPunct="1"/>
            <a:r>
              <a:rPr lang="en-US" altLang="en-US"/>
              <a:t>First, we will see the idea of Alpha Beta Pruning</a:t>
            </a:r>
          </a:p>
          <a:p>
            <a:pPr eaLnBrk="1" hangingPunct="1"/>
            <a:r>
              <a:rPr lang="en-US" altLang="en-US"/>
              <a:t>Then, we’ll introduce the algorithm for minimax with alpha beta pruning, and go through the example again, showing the book-keeping it does as it goes along</a:t>
            </a:r>
          </a:p>
        </p:txBody>
      </p:sp>
      <p:sp>
        <p:nvSpPr>
          <p:cNvPr id="26628" name="Slide Number Placeholder 3">
            <a:extLst>
              <a:ext uri="{FF2B5EF4-FFF2-40B4-BE49-F238E27FC236}">
                <a16:creationId xmlns:a16="http://schemas.microsoft.com/office/drawing/2014/main" id="{6D33070A-1C78-2BC4-6CDB-FBBFA5E4F8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9ED3C8F-C05B-4EA7-BED8-9ECD014F2FD8}" type="slidenum">
              <a:rPr lang="en-US" altLang="en-US" sz="1400"/>
              <a:pPr eaLnBrk="1" hangingPunct="1"/>
              <a:t>47</a:t>
            </a:fld>
            <a:endParaRPr lang="en-US" alt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4A51F7DA-62CC-C668-675C-CB047DFDD04E}"/>
              </a:ext>
            </a:extLst>
          </p:cNvPr>
          <p:cNvSpPr>
            <a:spLocks noGrp="1"/>
          </p:cNvSpPr>
          <p:nvPr>
            <p:ph type="title"/>
          </p:nvPr>
        </p:nvSpPr>
        <p:spPr/>
        <p:txBody>
          <a:bodyPr/>
          <a:lstStyle/>
          <a:p>
            <a:pPr eaLnBrk="1" hangingPunct="1"/>
            <a:r>
              <a:rPr lang="en-US" altLang="en-US"/>
              <a:t>Alpha beta pruning.  Example </a:t>
            </a:r>
          </a:p>
        </p:txBody>
      </p:sp>
      <p:pic>
        <p:nvPicPr>
          <p:cNvPr id="27651" name="Content Placeholder 4" descr="Picture 4.png">
            <a:extLst>
              <a:ext uri="{FF2B5EF4-FFF2-40B4-BE49-F238E27FC236}">
                <a16:creationId xmlns:a16="http://schemas.microsoft.com/office/drawing/2014/main" id="{1E06E64C-111C-E8F4-268B-C755C18339E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698" b="-2698"/>
          <a:stretch>
            <a:fillRect/>
          </a:stretch>
        </p:blipFill>
        <p:spPr/>
      </p:pic>
      <p:sp>
        <p:nvSpPr>
          <p:cNvPr id="27652" name="Slide Number Placeholder 3">
            <a:extLst>
              <a:ext uri="{FF2B5EF4-FFF2-40B4-BE49-F238E27FC236}">
                <a16:creationId xmlns:a16="http://schemas.microsoft.com/office/drawing/2014/main" id="{A20929F7-FB80-5980-516F-07D5E5782F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9A4AB58-EC2A-4727-A049-906233200341}" type="slidenum">
              <a:rPr lang="en-US" altLang="en-US" sz="1400"/>
              <a:pPr eaLnBrk="1" hangingPunct="1"/>
              <a:t>48</a:t>
            </a:fld>
            <a:endParaRPr lang="en-US" altLang="en-US" sz="1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5BE68393-E259-DE5E-533C-A52C71FAE8F5}"/>
              </a:ext>
            </a:extLst>
          </p:cNvPr>
          <p:cNvSpPr>
            <a:spLocks noGrp="1"/>
          </p:cNvSpPr>
          <p:nvPr>
            <p:ph type="title"/>
          </p:nvPr>
        </p:nvSpPr>
        <p:spPr/>
        <p:txBody>
          <a:bodyPr/>
          <a:lstStyle/>
          <a:p>
            <a:pPr eaLnBrk="1" hangingPunct="1"/>
            <a:r>
              <a:rPr lang="en-US" altLang="en-US"/>
              <a:t>Minimax with alpha-beta pruning: The algorithm</a:t>
            </a:r>
          </a:p>
        </p:txBody>
      </p:sp>
      <p:sp>
        <p:nvSpPr>
          <p:cNvPr id="28675" name="Content Placeholder 2">
            <a:extLst>
              <a:ext uri="{FF2B5EF4-FFF2-40B4-BE49-F238E27FC236}">
                <a16:creationId xmlns:a16="http://schemas.microsoft.com/office/drawing/2014/main" id="{1811D4FE-26EF-192E-F6B7-0351F6F92376}"/>
              </a:ext>
            </a:extLst>
          </p:cNvPr>
          <p:cNvSpPr>
            <a:spLocks noGrp="1"/>
          </p:cNvSpPr>
          <p:nvPr>
            <p:ph idx="1"/>
          </p:nvPr>
        </p:nvSpPr>
        <p:spPr/>
        <p:txBody>
          <a:bodyPr/>
          <a:lstStyle/>
          <a:p>
            <a:pPr eaLnBrk="1" hangingPunct="1"/>
            <a:r>
              <a:rPr lang="en-US" altLang="en-US"/>
              <a:t>Maxv: function called for max nodes</a:t>
            </a:r>
          </a:p>
          <a:p>
            <a:pPr lvl="1" eaLnBrk="1" hangingPunct="1"/>
            <a:r>
              <a:rPr lang="en-US" altLang="en-US">
                <a:ea typeface="ＭＳ Ｐゴシック" panose="020B0600070205080204" pitchFamily="34" charset="-128"/>
              </a:rPr>
              <a:t>Might update alpha, the best max can do far</a:t>
            </a:r>
          </a:p>
          <a:p>
            <a:pPr eaLnBrk="1" hangingPunct="1"/>
            <a:r>
              <a:rPr lang="en-US" altLang="en-US"/>
              <a:t>Minv: function called for min nodes</a:t>
            </a:r>
          </a:p>
          <a:p>
            <a:pPr lvl="1" eaLnBrk="1" hangingPunct="1"/>
            <a:r>
              <a:rPr lang="en-US" altLang="en-US">
                <a:ea typeface="ＭＳ Ｐゴシック" panose="020B0600070205080204" pitchFamily="34" charset="-128"/>
              </a:rPr>
              <a:t>Might update beta, the best min can do so far</a:t>
            </a:r>
          </a:p>
          <a:p>
            <a:pPr lvl="1" eaLnBrk="1" hangingPunct="1"/>
            <a:endParaRPr lang="en-US" altLang="en-US">
              <a:ea typeface="ＭＳ Ｐゴシック" panose="020B0600070205080204" pitchFamily="34" charset="-128"/>
            </a:endParaRPr>
          </a:p>
          <a:p>
            <a:pPr eaLnBrk="1" hangingPunct="1"/>
            <a:r>
              <a:rPr lang="en-US" altLang="en-US"/>
              <a:t>Each tests for the appropriate pruning case</a:t>
            </a:r>
          </a:p>
          <a:p>
            <a:pPr eaLnBrk="1" hangingPunct="1"/>
            <a:r>
              <a:rPr lang="en-US" altLang="en-US"/>
              <a:t>We’ll go through the algorithm on the course website</a:t>
            </a:r>
          </a:p>
          <a:p>
            <a:pPr eaLnBrk="1" hangingPunct="1"/>
            <a:endParaRPr lang="en-US" altLang="en-US"/>
          </a:p>
        </p:txBody>
      </p:sp>
      <p:sp>
        <p:nvSpPr>
          <p:cNvPr id="28676" name="Slide Number Placeholder 3">
            <a:extLst>
              <a:ext uri="{FF2B5EF4-FFF2-40B4-BE49-F238E27FC236}">
                <a16:creationId xmlns:a16="http://schemas.microsoft.com/office/drawing/2014/main" id="{BB58A0D4-5600-A019-FF02-243300AEA2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B6D6FC1-2346-4074-A837-ACE0ABB8D283}" type="slidenum">
              <a:rPr lang="en-US" altLang="en-US" sz="1400"/>
              <a:pPr eaLnBrk="1" hangingPunct="1"/>
              <a:t>49</a:t>
            </a:fld>
            <a:endParaRPr lang="en-US" altLang="en-US" sz="1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5DB12E1D-90DD-7854-D58B-443EC0935CE8}"/>
              </a:ext>
            </a:extLst>
          </p:cNvPr>
          <p:cNvSpPr>
            <a:spLocks noGrp="1"/>
          </p:cNvSpPr>
          <p:nvPr>
            <p:ph type="title"/>
          </p:nvPr>
        </p:nvSpPr>
        <p:spPr/>
        <p:txBody>
          <a:bodyPr/>
          <a:lstStyle/>
          <a:p>
            <a:pPr eaLnBrk="1" hangingPunct="1"/>
            <a:r>
              <a:rPr lang="en-US" altLang="en-US"/>
              <a:t>Algorithm example: alphas/betas shown</a:t>
            </a:r>
          </a:p>
        </p:txBody>
      </p:sp>
      <p:pic>
        <p:nvPicPr>
          <p:cNvPr id="29699" name="Content Placeholder 4" descr="Picture 4.png">
            <a:extLst>
              <a:ext uri="{FF2B5EF4-FFF2-40B4-BE49-F238E27FC236}">
                <a16:creationId xmlns:a16="http://schemas.microsoft.com/office/drawing/2014/main" id="{9FA96658-5573-1933-3139-7965E90486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698" b="-2698"/>
          <a:stretch>
            <a:fillRect/>
          </a:stretch>
        </p:blipFill>
        <p:spPr/>
      </p:pic>
      <p:sp>
        <p:nvSpPr>
          <p:cNvPr id="29700" name="Slide Number Placeholder 3">
            <a:extLst>
              <a:ext uri="{FF2B5EF4-FFF2-40B4-BE49-F238E27FC236}">
                <a16:creationId xmlns:a16="http://schemas.microsoft.com/office/drawing/2014/main" id="{CAAC1B67-6400-832F-99B9-760D9F0112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C57E4E5-4503-49E3-9C5F-C444AF5D6389}" type="slidenum">
              <a:rPr lang="en-US" altLang="en-US" sz="1400"/>
              <a:pPr eaLnBrk="1" hangingPunct="1"/>
              <a:t>50</a:t>
            </a:fld>
            <a:endParaRPr lang="en-US" altLang="en-US"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D2C13D0-2372-076E-CC82-AE3365E3B136}"/>
              </a:ext>
            </a:extLst>
          </p:cNvPr>
          <p:cNvSpPr>
            <a:spLocks noGrp="1" noChangeArrowheads="1"/>
          </p:cNvSpPr>
          <p:nvPr>
            <p:ph type="title"/>
          </p:nvPr>
        </p:nvSpPr>
        <p:spPr/>
        <p:txBody>
          <a:bodyPr/>
          <a:lstStyle/>
          <a:p>
            <a:pPr eaLnBrk="1" hangingPunct="1"/>
            <a:r>
              <a:rPr lang="en-US" altLang="en-US"/>
              <a:t>Properties of α-β</a:t>
            </a:r>
          </a:p>
        </p:txBody>
      </p:sp>
      <p:sp>
        <p:nvSpPr>
          <p:cNvPr id="30723" name="Rectangle 3">
            <a:extLst>
              <a:ext uri="{FF2B5EF4-FFF2-40B4-BE49-F238E27FC236}">
                <a16:creationId xmlns:a16="http://schemas.microsoft.com/office/drawing/2014/main" id="{0F8A3BED-28A2-A96A-D383-53B110D5DF0B}"/>
              </a:ext>
            </a:extLst>
          </p:cNvPr>
          <p:cNvSpPr>
            <a:spLocks noGrp="1" noChangeArrowheads="1"/>
          </p:cNvSpPr>
          <p:nvPr>
            <p:ph type="body" idx="1"/>
          </p:nvPr>
        </p:nvSpPr>
        <p:spPr/>
        <p:txBody>
          <a:bodyPr>
            <a:normAutofit fontScale="92500" lnSpcReduction="20000"/>
          </a:bodyPr>
          <a:lstStyle/>
          <a:p>
            <a:pPr eaLnBrk="1" hangingPunct="1">
              <a:lnSpc>
                <a:spcPct val="90000"/>
              </a:lnSpc>
            </a:pPr>
            <a:r>
              <a:rPr lang="en-US" altLang="en-US"/>
              <a:t>Pruning </a:t>
            </a:r>
            <a:r>
              <a:rPr lang="en-US" altLang="en-US">
                <a:solidFill>
                  <a:srgbClr val="FF0000"/>
                </a:solidFill>
              </a:rPr>
              <a:t>does not</a:t>
            </a:r>
            <a:r>
              <a:rPr lang="en-US" altLang="en-US"/>
              <a:t> affect final result
</a:t>
            </a:r>
          </a:p>
          <a:p>
            <a:pPr lvl="4" eaLnBrk="1" hangingPunct="1">
              <a:lnSpc>
                <a:spcPct val="90000"/>
              </a:lnSpc>
            </a:pPr>
            <a:endParaRPr lang="en-US" altLang="en-US" sz="1600">
              <a:ea typeface="ＭＳ Ｐゴシック" panose="020B0600070205080204" pitchFamily="34" charset="-128"/>
            </a:endParaRPr>
          </a:p>
          <a:p>
            <a:pPr eaLnBrk="1" hangingPunct="1">
              <a:lnSpc>
                <a:spcPct val="90000"/>
              </a:lnSpc>
            </a:pPr>
            <a:r>
              <a:rPr lang="en-US" altLang="en-US"/>
              <a:t>Good move ordering improves effectiveness of pruning
</a:t>
            </a:r>
          </a:p>
          <a:p>
            <a:pPr lvl="4" eaLnBrk="1" hangingPunct="1">
              <a:lnSpc>
                <a:spcPct val="90000"/>
              </a:lnSpc>
            </a:pPr>
            <a:endParaRPr lang="en-US" altLang="en-US" sz="1600">
              <a:ea typeface="ＭＳ Ｐゴシック" panose="020B0600070205080204" pitchFamily="34" charset="-128"/>
            </a:endParaRPr>
          </a:p>
          <a:p>
            <a:pPr eaLnBrk="1" hangingPunct="1">
              <a:lnSpc>
                <a:spcPct val="90000"/>
              </a:lnSpc>
            </a:pPr>
            <a:r>
              <a:rPr lang="en-US" altLang="en-US"/>
              <a:t>With "perfect ordering," time complexity = O(b</a:t>
            </a:r>
            <a:r>
              <a:rPr lang="en-US" altLang="en-US" baseline="30000"/>
              <a:t>m/2</a:t>
            </a:r>
            <a:r>
              <a:rPr lang="en-US" altLang="en-US"/>
              <a:t>)</a:t>
            </a:r>
          </a:p>
          <a:p>
            <a:pPr lvl="1" eaLnBrk="1" hangingPunct="1">
              <a:lnSpc>
                <a:spcPct val="90000"/>
              </a:lnSpc>
              <a:buFontTx/>
              <a:buNone/>
            </a:pPr>
            <a:r>
              <a:rPr lang="en-US" altLang="en-US">
                <a:ea typeface="ＭＳ Ｐゴシック" panose="020B0600070205080204" pitchFamily="34" charset="-128"/>
                <a:cs typeface="Arial" panose="020B0604020202020204" pitchFamily="34" charset="0"/>
                <a:sym typeface="Wingdings" panose="05000000000000000000" pitchFamily="2" charset="2"/>
              </a:rPr>
              <a:t></a:t>
            </a:r>
            <a:r>
              <a:rPr lang="en-US" altLang="en-US">
                <a:ea typeface="ＭＳ Ｐゴシック" panose="020B0600070205080204" pitchFamily="34" charset="-128"/>
              </a:rPr>
              <a:t> </a:t>
            </a:r>
            <a:r>
              <a:rPr lang="en-US" altLang="en-US">
                <a:solidFill>
                  <a:srgbClr val="FF0000"/>
                </a:solidFill>
                <a:ea typeface="ＭＳ Ｐゴシック" panose="020B0600070205080204" pitchFamily="34" charset="-128"/>
              </a:rPr>
              <a:t>doubles</a:t>
            </a:r>
            <a:r>
              <a:rPr lang="en-US" altLang="en-US">
                <a:ea typeface="ＭＳ Ｐゴシック" panose="020B0600070205080204" pitchFamily="34" charset="-128"/>
              </a:rPr>
              <a:t> depth of search</a:t>
            </a:r>
          </a:p>
          <a:p>
            <a:pPr lvl="4" eaLnBrk="1" hangingPunct="1">
              <a:lnSpc>
                <a:spcPct val="90000"/>
              </a:lnSpc>
            </a:pPr>
            <a:endParaRPr lang="en-US" altLang="en-US" sz="1600">
              <a:ea typeface="ＭＳ Ｐゴシック" panose="020B0600070205080204" pitchFamily="34" charset="-128"/>
            </a:endParaRPr>
          </a:p>
          <a:p>
            <a:pPr eaLnBrk="1" hangingPunct="1">
              <a:lnSpc>
                <a:spcPct val="90000"/>
              </a:lnSpc>
            </a:pPr>
            <a:r>
              <a:rPr lang="en-US" altLang="en-US"/>
              <a:t>A simple example of the value of reasoning about which computations are relevant (a form of </a:t>
            </a:r>
            <a:r>
              <a:rPr lang="en-US" altLang="en-US">
                <a:solidFill>
                  <a:srgbClr val="FF0000"/>
                </a:solidFill>
              </a:rPr>
              <a:t>metareasoning</a:t>
            </a:r>
            <a:r>
              <a:rPr lang="en-US" altLang="en-US"/>
              <a:t>)
</a:t>
            </a:r>
          </a:p>
        </p:txBody>
      </p:sp>
      <p:sp>
        <p:nvSpPr>
          <p:cNvPr id="30724" name="Slide Number Placeholder 5">
            <a:extLst>
              <a:ext uri="{FF2B5EF4-FFF2-40B4-BE49-F238E27FC236}">
                <a16:creationId xmlns:a16="http://schemas.microsoft.com/office/drawing/2014/main" id="{84FC0BE1-3757-4791-2C4D-FEAFD40288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D5C7695-D1F5-4B90-8F0E-5402E76578B2}" type="slidenum">
              <a:rPr lang="en-US" altLang="en-US" sz="1400"/>
              <a:pPr eaLnBrk="1" hangingPunct="1"/>
              <a:t>51</a:t>
            </a:fld>
            <a:endParaRPr lang="en-US" altLang="en-US" sz="1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631A004-BBDD-3C79-83E1-AECCA6FA7520}"/>
              </a:ext>
            </a:extLst>
          </p:cNvPr>
          <p:cNvSpPr>
            <a:spLocks noGrp="1"/>
          </p:cNvSpPr>
          <p:nvPr>
            <p:ph type="title"/>
          </p:nvPr>
        </p:nvSpPr>
        <p:spPr/>
        <p:txBody>
          <a:bodyPr/>
          <a:lstStyle/>
          <a:p>
            <a:pPr eaLnBrk="1" hangingPunct="1"/>
            <a:endParaRPr lang="en-US" altLang="en-US"/>
          </a:p>
        </p:txBody>
      </p:sp>
      <p:pic>
        <p:nvPicPr>
          <p:cNvPr id="31747" name="Content Placeholder 4" descr="Picture 1.png">
            <a:extLst>
              <a:ext uri="{FF2B5EF4-FFF2-40B4-BE49-F238E27FC236}">
                <a16:creationId xmlns:a16="http://schemas.microsoft.com/office/drawing/2014/main" id="{B959672E-B6F6-D9AD-194B-89E96B48692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4520" r="-14520"/>
          <a:stretch>
            <a:fillRect/>
          </a:stretch>
        </p:blipFill>
        <p:spPr/>
      </p:pic>
      <p:sp>
        <p:nvSpPr>
          <p:cNvPr id="31748" name="Slide Number Placeholder 3">
            <a:extLst>
              <a:ext uri="{FF2B5EF4-FFF2-40B4-BE49-F238E27FC236}">
                <a16:creationId xmlns:a16="http://schemas.microsoft.com/office/drawing/2014/main" id="{1BE622ED-3FE3-D969-9213-C7C5965CFE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E334B9A-A107-4EA6-9AE6-B597A5589987}" type="slidenum">
              <a:rPr lang="en-US" altLang="en-US" sz="1400"/>
              <a:pPr eaLnBrk="1" hangingPunct="1"/>
              <a:t>52</a:t>
            </a:fld>
            <a:endParaRPr lang="en-US" altLang="en-US"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FB5D6489-CD58-384F-2CEC-A995AFE4522B}"/>
              </a:ext>
            </a:extLst>
          </p:cNvPr>
          <p:cNvSpPr>
            <a:spLocks noGrp="1"/>
          </p:cNvSpPr>
          <p:nvPr>
            <p:ph type="title"/>
          </p:nvPr>
        </p:nvSpPr>
        <p:spPr/>
        <p:txBody>
          <a:bodyPr/>
          <a:lstStyle/>
          <a:p>
            <a:pPr eaLnBrk="1" hangingPunct="1"/>
            <a:r>
              <a:rPr lang="en-US" altLang="en-US"/>
              <a:t>Design of evaluation functions</a:t>
            </a:r>
          </a:p>
        </p:txBody>
      </p:sp>
      <p:pic>
        <p:nvPicPr>
          <p:cNvPr id="32771" name="Content Placeholder 4" descr="Picture 2.png">
            <a:extLst>
              <a:ext uri="{FF2B5EF4-FFF2-40B4-BE49-F238E27FC236}">
                <a16:creationId xmlns:a16="http://schemas.microsoft.com/office/drawing/2014/main" id="{8709DDB4-1054-CE62-AE3C-0CF985E98BF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0030" r="-10030"/>
          <a:stretch>
            <a:fillRect/>
          </a:stretch>
        </p:blipFill>
        <p:spPr/>
      </p:pic>
      <p:sp>
        <p:nvSpPr>
          <p:cNvPr id="32772" name="Slide Number Placeholder 3">
            <a:extLst>
              <a:ext uri="{FF2B5EF4-FFF2-40B4-BE49-F238E27FC236}">
                <a16:creationId xmlns:a16="http://schemas.microsoft.com/office/drawing/2014/main" id="{515901F5-7D01-437D-A2F9-264F986C6E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4E25690-EE9B-457E-8138-B07FA49E03E7}" type="slidenum">
              <a:rPr lang="en-US" altLang="en-US" sz="1400"/>
              <a:pPr eaLnBrk="1" hangingPunct="1"/>
              <a:t>53</a:t>
            </a:fld>
            <a:endParaRPr lang="en-US" altLang="en-US"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7615D42-A226-CCD5-93AE-12822F62B9CB}"/>
              </a:ext>
            </a:extLst>
          </p:cNvPr>
          <p:cNvSpPr>
            <a:spLocks noGrp="1"/>
          </p:cNvSpPr>
          <p:nvPr>
            <p:ph type="title"/>
          </p:nvPr>
        </p:nvSpPr>
        <p:spPr/>
        <p:txBody>
          <a:bodyPr/>
          <a:lstStyle/>
          <a:p>
            <a:pPr eaLnBrk="1" hangingPunct="1"/>
            <a:r>
              <a:rPr lang="en-US" altLang="en-US"/>
              <a:t>Further extensions to real games</a:t>
            </a:r>
          </a:p>
        </p:txBody>
      </p:sp>
      <p:pic>
        <p:nvPicPr>
          <p:cNvPr id="33795" name="Content Placeholder 4" descr="Picture 5.png">
            <a:extLst>
              <a:ext uri="{FF2B5EF4-FFF2-40B4-BE49-F238E27FC236}">
                <a16:creationId xmlns:a16="http://schemas.microsoft.com/office/drawing/2014/main" id="{73C854AC-3D40-C837-03FA-374E016319D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443" r="-2443"/>
          <a:stretch>
            <a:fillRect/>
          </a:stretch>
        </p:blipFill>
        <p:spPr/>
      </p:pic>
      <p:sp>
        <p:nvSpPr>
          <p:cNvPr id="33796" name="Slide Number Placeholder 3">
            <a:extLst>
              <a:ext uri="{FF2B5EF4-FFF2-40B4-BE49-F238E27FC236}">
                <a16:creationId xmlns:a16="http://schemas.microsoft.com/office/drawing/2014/main" id="{1B811751-69BA-C76F-A17D-288AC06F53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FC4188E-C655-4B07-8307-1F514E02B489}" type="slidenum">
              <a:rPr lang="en-US" altLang="en-US" sz="1400"/>
              <a:pPr eaLnBrk="1" hangingPunct="1"/>
              <a:t>54</a:t>
            </a:fld>
            <a:endParaRPr lang="en-US" altLang="en-US"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657</TotalTime>
  <Words>3021</Words>
  <Application>Microsoft Office PowerPoint</Application>
  <PresentationFormat>Widescreen</PresentationFormat>
  <Paragraphs>201</Paragraphs>
  <Slides>54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ＭＳ Ｐゴシック</vt:lpstr>
      <vt:lpstr>Aptos</vt:lpstr>
      <vt:lpstr>Aptos Display</vt:lpstr>
      <vt:lpstr>Arial</vt:lpstr>
      <vt:lpstr>Google Sans</vt:lpstr>
      <vt:lpstr>inter-bold</vt:lpstr>
      <vt:lpstr>inter-regular</vt:lpstr>
      <vt:lpstr>Times New Roman</vt:lpstr>
      <vt:lpstr>Wingdings</vt:lpstr>
      <vt:lpstr>Office Theme</vt:lpstr>
      <vt:lpstr>Artificial Intelligence</vt:lpstr>
      <vt:lpstr>Heuristic Functions</vt:lpstr>
      <vt:lpstr>PowerPoint Presentation</vt:lpstr>
      <vt:lpstr>PowerPoint Presentation</vt:lpstr>
      <vt:lpstr>Generating admissible heuristics from relaxed problems</vt:lpstr>
      <vt:lpstr>PowerPoint Presentation</vt:lpstr>
      <vt:lpstr>Generating admissible heuristics from subproblems: Pattern databases</vt:lpstr>
      <vt:lpstr>PowerPoint Presentation</vt:lpstr>
      <vt:lpstr>Learning heuristics from experience</vt:lpstr>
      <vt:lpstr>LOCAL SEARCH ALGORITHMS AND OPTIMIZATION PROBLEMS</vt:lpstr>
      <vt:lpstr>LOCAL SEARCH ALGORITHMS</vt:lpstr>
      <vt:lpstr>Hill-climbing search</vt:lpstr>
      <vt:lpstr>PowerPoint Presentation</vt:lpstr>
      <vt:lpstr>PowerPoint Presentation</vt:lpstr>
      <vt:lpstr>Types of Hill Climbing </vt:lpstr>
      <vt:lpstr>PowerPoint Presentation</vt:lpstr>
      <vt:lpstr>Simulated annealing</vt:lpstr>
      <vt:lpstr>PowerPoint Presentation</vt:lpstr>
      <vt:lpstr>PowerPoint Presentation</vt:lpstr>
      <vt:lpstr>Local beam search</vt:lpstr>
      <vt:lpstr>Genetic algorithms</vt:lpstr>
      <vt:lpstr>PowerPoint Presentation</vt:lpstr>
      <vt:lpstr>PowerPoint Presentation</vt:lpstr>
      <vt:lpstr>PowerPoint Presentation</vt:lpstr>
      <vt:lpstr>Constraint Satisfaction Problems</vt:lpstr>
      <vt:lpstr>Constraint Satisfaction Problems</vt:lpstr>
      <vt:lpstr>PowerPoint Presentation</vt:lpstr>
      <vt:lpstr>Constraint Satisfaction Problems</vt:lpstr>
      <vt:lpstr>Constraint Satisfaction Problems</vt:lpstr>
      <vt:lpstr>Varieties of constraints</vt:lpstr>
      <vt:lpstr>CSP Eg. cryptarithmetic puzzles. </vt:lpstr>
      <vt:lpstr>PowerPoint Presentation</vt:lpstr>
      <vt:lpstr>PowerPoint Presentation</vt:lpstr>
      <vt:lpstr>Adversarial Search</vt:lpstr>
      <vt:lpstr>PowerPoint Presentation</vt:lpstr>
      <vt:lpstr>PowerPoint Presentation</vt:lpstr>
      <vt:lpstr>Games vs. search problems</vt:lpstr>
      <vt:lpstr>Game search </vt:lpstr>
      <vt:lpstr>Game Search Problem</vt:lpstr>
      <vt:lpstr>Game tree (2-player, deterministic, turns)</vt:lpstr>
      <vt:lpstr>Minimax Algorithm</vt:lpstr>
      <vt:lpstr>Minimax</vt:lpstr>
      <vt:lpstr>Minimax.  Example </vt:lpstr>
      <vt:lpstr>PowerPoint Presentation</vt:lpstr>
      <vt:lpstr>Complexity of the minimax algorithm</vt:lpstr>
      <vt:lpstr>Solution to the complexity problem</vt:lpstr>
      <vt:lpstr>Alpha Beta Pruning</vt:lpstr>
      <vt:lpstr>Alpha beta pruning.  Example </vt:lpstr>
      <vt:lpstr>Minimax with alpha-beta pruning: The algorithm</vt:lpstr>
      <vt:lpstr>Algorithm example: alphas/betas shown</vt:lpstr>
      <vt:lpstr>Properties of α-β</vt:lpstr>
      <vt:lpstr>PowerPoint Presentation</vt:lpstr>
      <vt:lpstr>Design of evaluation functions</vt:lpstr>
      <vt:lpstr>Further extensions to real games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K.Pavithra</dc:creator>
  <cp:lastModifiedBy>S.Padmavathy</cp:lastModifiedBy>
  <cp:revision>14</cp:revision>
  <dcterms:created xsi:type="dcterms:W3CDTF">2024-04-01T04:18:19Z</dcterms:created>
  <dcterms:modified xsi:type="dcterms:W3CDTF">2026-01-21T06:34:07Z</dcterms:modified>
</cp:coreProperties>
</file>